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d2ac4cb57642ec" /><Relationship Type="http://schemas.openxmlformats.org/officeDocument/2006/relationships/extended-properties" Target="/docProps/app.xml" Id="R26498fb026fd4c0d" /><Relationship Type="http://schemas.openxmlformats.org/officeDocument/2006/relationships/officeDocument" Target="/ppt/presentation.xml" Id="R2436987e91ae4f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7db81d029c4ed2"/>
  </p:sldMasterIdLst>
  <p:notesMasterIdLst>
    <p:notesMasterId xmlns:r="http://schemas.openxmlformats.org/officeDocument/2006/relationships" r:id="R3ca43cf7523f49da"/>
  </p:notesMasterIdLst>
  <p:sldIdLst>
    <p:sldId xmlns:r="http://schemas.openxmlformats.org/officeDocument/2006/relationships" id="256" r:id="R69154215fdb04f33"/>
    <p:sldId xmlns:r="http://schemas.openxmlformats.org/officeDocument/2006/relationships" id="257" r:id="R68f1504e95664235"/>
    <p:sldId xmlns:r="http://schemas.openxmlformats.org/officeDocument/2006/relationships" id="258" r:id="Rc2507dae683e4dab"/>
    <p:sldId xmlns:r="http://schemas.openxmlformats.org/officeDocument/2006/relationships" id="259" r:id="Rb718a5c9e9d14a61"/>
    <p:sldId xmlns:r="http://schemas.openxmlformats.org/officeDocument/2006/relationships" id="260" r:id="R0fc0a2fb27584c99"/>
    <p:sldId xmlns:r="http://schemas.openxmlformats.org/officeDocument/2006/relationships" id="261" r:id="R3d630b9b9b3a440b"/>
    <p:sldId xmlns:r="http://schemas.openxmlformats.org/officeDocument/2006/relationships" id="262" r:id="R063eee440bfe4463"/>
    <p:sldId xmlns:r="http://schemas.openxmlformats.org/officeDocument/2006/relationships" id="263" r:id="R3923439504244469"/>
    <p:sldId xmlns:r="http://schemas.openxmlformats.org/officeDocument/2006/relationships" id="264" r:id="Re5048a4c482a4924"/>
    <p:sldId xmlns:r="http://schemas.openxmlformats.org/officeDocument/2006/relationships" id="265" r:id="Rea6b12eb1016456a"/>
    <p:sldId xmlns:r="http://schemas.openxmlformats.org/officeDocument/2006/relationships" id="266" r:id="R5ccd8e56795548f7"/>
    <p:sldId xmlns:r="http://schemas.openxmlformats.org/officeDocument/2006/relationships" id="267" r:id="R00860f3acade472c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083e6fa6534ab8" /><Relationship Type="http://schemas.openxmlformats.org/officeDocument/2006/relationships/slideMaster" Target="/ppt/slideMasters/slideMaster1.xml" Id="R847db81d029c4ed2" /><Relationship Type="http://schemas.openxmlformats.org/officeDocument/2006/relationships/notesMaster" Target="/ppt/notesMasters/notesMaster1.xml" Id="R3ca43cf7523f49da" /><Relationship Type="http://schemas.openxmlformats.org/officeDocument/2006/relationships/presProps" Target="/ppt/presProps.xml" Id="R5d2373d206104482" /><Relationship Type="http://schemas.openxmlformats.org/officeDocument/2006/relationships/viewProps" Target="/ppt/viewProps.xml" Id="R27226d1d3ddd4c68" /><Relationship Type="http://schemas.openxmlformats.org/officeDocument/2006/relationships/tableStyles" Target="/ppt/tableStyles.xml" Id="R00678a52f6b240d2" /><Relationship Type="http://schemas.openxmlformats.org/officeDocument/2006/relationships/slide" Target="/ppt/slides/slide1.xml" Id="R69154215fdb04f33" /><Relationship Type="http://schemas.openxmlformats.org/officeDocument/2006/relationships/slide" Target="/ppt/slides/slide2.xml" Id="R68f1504e95664235" /><Relationship Type="http://schemas.openxmlformats.org/officeDocument/2006/relationships/slide" Target="/ppt/slides/slide3.xml" Id="Rc2507dae683e4dab" /><Relationship Type="http://schemas.openxmlformats.org/officeDocument/2006/relationships/slide" Target="/ppt/slides/slide4.xml" Id="Rb718a5c9e9d14a61" /><Relationship Type="http://schemas.openxmlformats.org/officeDocument/2006/relationships/slide" Target="/ppt/slides/slide5.xml" Id="R0fc0a2fb27584c99" /><Relationship Type="http://schemas.openxmlformats.org/officeDocument/2006/relationships/slide" Target="/ppt/slides/slide6.xml" Id="R3d630b9b9b3a440b" /><Relationship Type="http://schemas.openxmlformats.org/officeDocument/2006/relationships/slide" Target="/ppt/slides/slide7.xml" Id="R063eee440bfe4463" /><Relationship Type="http://schemas.openxmlformats.org/officeDocument/2006/relationships/slide" Target="/ppt/slides/slide8.xml" Id="R3923439504244469" /><Relationship Type="http://schemas.openxmlformats.org/officeDocument/2006/relationships/slide" Target="/ppt/slides/slide9.xml" Id="Re5048a4c482a4924" /><Relationship Type="http://schemas.openxmlformats.org/officeDocument/2006/relationships/slide" Target="/ppt/slides/slide10.xml" Id="Rea6b12eb1016456a" /><Relationship Type="http://schemas.openxmlformats.org/officeDocument/2006/relationships/slide" Target="/ppt/slides/slide11.xml" Id="R5ccd8e56795548f7" /><Relationship Type="http://schemas.openxmlformats.org/officeDocument/2006/relationships/slide" Target="/ppt/slides/slide12.xml" Id="R00860f3acade47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053fb2893240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e52544c5604e55" /><Relationship Type="http://schemas.openxmlformats.org/officeDocument/2006/relationships/notesMaster" Target="/ppt/notesMasters/notesMaster1.xml" Id="Rf686fb38d5274d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38f033c9ce4a2f" /><Relationship Type="http://schemas.openxmlformats.org/officeDocument/2006/relationships/notesMaster" Target="/ppt/notesMasters/notesMaster1.xml" Id="Rf483db73ed0e4b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04f9ac2c034e0b" /><Relationship Type="http://schemas.openxmlformats.org/officeDocument/2006/relationships/notesMaster" Target="/ppt/notesMasters/notesMaster1.xml" Id="Ra4d9850cf31a4e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bc95ebed8c4850" /><Relationship Type="http://schemas.openxmlformats.org/officeDocument/2006/relationships/notesMaster" Target="/ppt/notesMasters/notesMaster1.xml" Id="Re60d463a281245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3d6d7d35274d76" /><Relationship Type="http://schemas.openxmlformats.org/officeDocument/2006/relationships/notesMaster" Target="/ppt/notesMasters/notesMaster1.xml" Id="Rc3d96cb403384c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7f4b1beb3d47c9" /><Relationship Type="http://schemas.openxmlformats.org/officeDocument/2006/relationships/notesMaster" Target="/ppt/notesMasters/notesMaster1.xml" Id="R8c2c58190cd14b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99952736f34112" /><Relationship Type="http://schemas.openxmlformats.org/officeDocument/2006/relationships/notesMaster" Target="/ppt/notesMasters/notesMaster1.xml" Id="R2b575b5cb8e944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74cdf5be264728" /><Relationship Type="http://schemas.openxmlformats.org/officeDocument/2006/relationships/notesMaster" Target="/ppt/notesMasters/notesMaster1.xml" Id="R052aaa96615f43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dea456e9ed4e2f" /><Relationship Type="http://schemas.openxmlformats.org/officeDocument/2006/relationships/notesMaster" Target="/ppt/notesMasters/notesMaster1.xml" Id="R2b048ef3b8ab48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c366a3e03b4673" /><Relationship Type="http://schemas.openxmlformats.org/officeDocument/2006/relationships/notesMaster" Target="/ppt/notesMasters/notesMaster1.xml" Id="Rcd09bde5578a4c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b08800c5054360" /><Relationship Type="http://schemas.openxmlformats.org/officeDocument/2006/relationships/notesMaster" Target="/ppt/notesMasters/notesMaster1.xml" Id="R32dc7ecb82f04d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40405f5f8b4932" /><Relationship Type="http://schemas.openxmlformats.org/officeDocument/2006/relationships/notesMaster" Target="/ppt/notesMasters/notesMaster1.xml" Id="R771dfbb300d247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«Тензор» исследует, как предупреждать отказы промышленного оборудования. На КТ-3 показываем один входной шаг: инженер станции разбирает архив, понимает ограничения и готовит следующий шаг. В демонстрации используются вымышленные наборы. Главный вопрос для нас: помогает ли такой результат принять решение о дальнейшем эксперименте.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https://github.com/shevchenko9liza/ai-cu-tenzor/blob/main/business/problem-and-evidence.md</a:t>
            </a:r>
            <a:endParaRPr/>
          </a:p>
          <a:p xmlns:a="http://schemas.openxmlformats.org/drawingml/2006/main">
            <a:r>
              <a:t>https://github.com/shevchenko9liza/ai-cu-tenzor/blob/main/lab05/part1.md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рассматриваем станцию, где архив уже есть и руководство интересуется прогнозированием. Пользователь первой версии — инженер. Предполагаемая проблема возникает перед расходами на эксперимент: непонятно, что можно проверить на имеющихся данных и что нужно запросить. Наш результат должен помочь согласовать следующий шаг. Возможная модель дохода — ограниченная диагностика данных с заранее оговорённым результатом. Это коммерческая гипотеза, цены и готовности платить у нас пока нет. Разбор может уже быстро делать собственная ИТ-служба или подрядчик, поэтому эту альтернативу проверяем в кастдеве.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https://github.com/shevchenko9liza/ai-cu-tenzor/blob/main/business/problem-and-evidence.md</a:t>
            </a:r>
            <a:endParaRPr/>
          </a:p>
          <a:p xmlns:a="http://schemas.openxmlformats.org/drawingml/2006/main">
            <a:r>
              <a:t>https://github.com/shevchenko9liza/ai-cu-tenzor/blob/main/business/custdev-plan.md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 выбора пока ограничено двумя разговорами. В первом собеседник говорил о сборе и доверии к данным в холдинге, но он не целевой инженер. Во втором руководитель станции сообщил, что архив хранится долго, и рассказал о недавнем отказе. Это конспект без записи, состав архива и работа с ним ещё неизвестны. Поэтому мы берём проверку архива как гипотезу первой версии. Утверждать, что это главная проблема всех станций, нельзя. Синтетические интервью использовали для подготовки вопросов; новых свидетельств спроса они не дают.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https://github.com/shevchenko9liza/ai-cu-tenzor/blob/main/business/problem-and-evidence.md</a:t>
            </a:r>
            <a:endParaRPr/>
          </a:p>
          <a:p xmlns:a="http://schemas.openxmlformats.org/drawingml/2006/main">
            <a:r>
              <a:t>https://github.com/shevchenko9liza/ai-cu-tenzor/blob/main/course/sources.md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Выбран один пользователь: инженер станции, которому поручили подготовить архив для решения об эксперименте. Его история заканчивается объяснимым выводом и следующим шагом. Пять задач на слайде образуют целый процесс: выбор, состав данных, уточнение, вывод и план. В этой версии нет настоящей загрузки, подключения к оборудованию и обучения модели. Это позволяет проверить, понятна ли логика работы, до разработки этих частей.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https://github.com/shevchenko9liza/ai-cu-tenzor/blob/main/lab05/part1.md</a:t>
            </a:r>
            <a:endParaRPr/>
          </a:p>
          <a:p xmlns:a="http://schemas.openxmlformats.org/drawingml/2006/main">
            <a:r>
              <a:t>https://github.com/shevchenko9liza/ai-cu-tenzor/blob/main/lab05/requirements.md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Карта показывает деятельность пользователя. Сначала инженер определяет набор и цель. Затем читает причины замечаний. Если данных достаточно для следующего шага, он сразу получает план подготовки эксперимента. Если неизвестен часовой пояс, уточняет только подтверждённые сведения и повторяет проверку. Если сведения получить пока нельзя, сохраняет запрос владельцу. При отсутствии истории событий получает отдельное ограничение для прогноза отказов. Во всех вариантах есть понятный конец: следующий рабочий шаг. В макете реализованы показанные переходы, возврат и сохранение плана. Реальный ответ службы станции и решение руководителя происходят вне интерфейса.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https://github.com/shevchenko9liza/ai-cu-tenzor/blob/main/kt3/usm.md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Заявляем три варианта одного процесса. В C1 метаданные согласованы, и результатом становится план подготовки эксперимента. Это ещё не подтверждение качества прогноза. В C2 инженер может подтвердить пояс и повторить проверку или признать, что сведений нет, и запросить их. В C3 история событий отсутствует, поэтому макет сохраняет отрицательный вывод для оценки прогноза отказов. Кнопки, которая просто снимает это ограничение, нет. При смене набора прежний результат сбрасывается.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  <a:p xmlns:a="http://schemas.openxmlformats.org/drawingml/2006/main">
            <a:r>
              <a:t>https://github.com/shevchenko9liza/ai-cu-tenzor/blob/main/lab05/requirements.md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Переходим в HTML-прототип. Сначала выбираем A, открываем паспорт, запускаем проверку, читаем ограниченный технический вывод и сохраняем план. Затем выбираем B. Пробуем оставить неизвестный пояс: интерфейс не принимает его за подтверждённый. Показываем вариант запроса владельцу. После этого разыгрываем получение подтверждённого UTC+3 и явно повторяем проверку. Наконец выбираем C без журнала событий. Показываем, почему вывод остаётся отрицательным, и какой запрос можно сохранить. Эксперт может пройти те же варианты самостоятельно. Все данные и ответы учебные. Если ссылка из презентации не открылась, в распакованном комплекте открыть lab05/prototype.html.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  <a:p xmlns:a="http://schemas.openxmlformats.org/drawingml/2006/main">
            <a:r>
              <a:t>https://github.com/shevchenko9liza/ai-cu-tenzor/blob/main/lab05/prototype.html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демонстрации хотим дать инженеру задачу без маршрута по кнопкам. Нам важно увидеть, понимает ли он, что ограничивает результат и что делать дальше. Отдельный риск — принять зелёный технический вывод за обещание, что модель обязательно будет работать. Будем фиксировать его объяснение, ошибки, попытки угадать неизвестные сведения и места, где потребовалась подсказка. Результатов такой проверки с целевым пользователем пока нет.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https://github.com/shevchenko9liza/ai-cu-tenzor/blob/main/kt3/usm.md</a:t>
            </a:r>
            <a:endParaRPr/>
          </a:p>
          <a:p xmlns:a="http://schemas.openxmlformats.org/drawingml/2006/main">
            <a:r>
              <a:t>https://github.com/shevchenko9liza/ai-cu-tenzor/blob/main/business/custdev-plan.md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Удобство интерфейса не отвечает на вопрос о покупке. Поэтому отдельно разбираем прошлую работу инженера, один реальный отказ и последнее решение руководителя о похожих расходах. Фиксируем текущую альтернативу, реальные затраты и того, кто принимает решение. Если такой разбор уже быстро выполняют своими силами, самостоятельная платная диагностика может оказаться лишней. Следующим подтверждением будет конкретное согласованное действие, а не только положительная реакция на макет.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https://github.com/shevchenko9liza/ai-cu-tenzor/blob/main/business/custdev-plan.md</a:t>
            </a:r>
            <a:endParaRPr/>
          </a:p>
          <a:p xmlns:a="http://schemas.openxmlformats.org/drawingml/2006/main">
            <a:r>
              <a:t>https://github.com/shevchenko9liza/ai-cu-tenzor/blob/main/business/problem-and-evidence.md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Просим экспертов попробовать выбранный путь и указать, где результат ещё не помогает принять рабочее решение. Второй вопрос — о самостоятельной ценности диагностики данных. Хотим понять, при каких условиях она может быть услугой и где её лучше оставить частью текущего процесса. По итогам встречи определим конкретное изменение сценария и следующий вопрос кастдева.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https://github.com/shevchenko9liza/ai-cu-tenzor/blob/main/business/problem-and-evidence.md</a:t>
            </a:r>
            <a:endParaRPr/>
          </a:p>
          <a:p xmlns:a="http://schemas.openxmlformats.org/drawingml/2006/main">
            <a:r>
              <a:t>https://github.com/shevchenko9liza/ai-cu-tenzor/blob/main/kt3/usm.md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приложение связывает задачи пользователя с наблюдаемым поведением макета. Полные функциональные и нефункциональные требования приведены в репозитории. Производственные пороги пригодности архива пока не установлены. Условия этого слайда относятся к учебному интерфейсу.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https://github.com/shevchenko9liza/ai-cu-tenzor/blob/main/lab05/requirements.md</a:t>
            </a:r>
            <a:endParaRPr/>
          </a:p>
          <a:p xmlns:a="http://schemas.openxmlformats.org/drawingml/2006/main">
            <a:r>
              <a:t>https://github.com/shevchenko9liza/ai-cu-tenzor/blob/main/lab05/part1.md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Запасной слайд для обсуждения двух веток, если интерактивная демонстрация временно недоступна. Он показывает ответы того же учебного прототипа. В C2 нельзя заменить неизвестное время догадкой. В C3 отсутствие истории событий сохраняется до получения сведений; настоящий импорт журнала находится за рамками макета.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https://github.com/shevchenko9liza/ai-cu-tenzor/blob/main/lab05/prototype.html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be8d414d054b5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c8f192a1254124" /><Relationship Type="http://schemas.openxmlformats.org/officeDocument/2006/relationships/slideLayout" Target="/ppt/slideLayouts/slideLayout1.xml" Id="Rf09b2168876e43f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9b2168876e43f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0e6f48ce5414b" /><Relationship Type="http://schemas.openxmlformats.org/officeDocument/2006/relationships/image" Target="/ppt/media/image.png" Id="R921c699420cd4f99" /><Relationship Type="http://schemas.openxmlformats.org/officeDocument/2006/relationships/image" Target="/ppt/media/image2.png" Id="R690b116d023d4aba" /><Relationship Type="http://schemas.openxmlformats.org/officeDocument/2006/relationships/notesSlide" Target="/ppt/notesSlides/notesSlide1.xml" Id="Rb37074dae7544c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12cc584444380" /><Relationship Type="http://schemas.openxmlformats.org/officeDocument/2006/relationships/image" Target="/ppt/media/image3.png" Id="R21183e82a4214816" /><Relationship Type="http://schemas.openxmlformats.org/officeDocument/2006/relationships/notesSlide" Target="/ppt/notesSlides/notesSlide2.xml" Id="Rc32ef84372254e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45716804342b9" /><Relationship Type="http://schemas.openxmlformats.org/officeDocument/2006/relationships/image" Target="/ppt/media/image4.png" Id="R3040f9e43c414197" /><Relationship Type="http://schemas.openxmlformats.org/officeDocument/2006/relationships/notesSlide" Target="/ppt/notesSlides/notesSlide3.xml" Id="R1d00977fca0942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0b370ce5942c6" /><Relationship Type="http://schemas.openxmlformats.org/officeDocument/2006/relationships/image" Target="/ppt/media/image5.png" Id="Rff5bf30b952c4309" /><Relationship Type="http://schemas.openxmlformats.org/officeDocument/2006/relationships/notesSlide" Target="/ppt/notesSlides/notesSlide4.xml" Id="R3760b09403c844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1fdc599414139" /><Relationship Type="http://schemas.openxmlformats.org/officeDocument/2006/relationships/image" Target="/ppt/media/image6.png" Id="R913cf10035a3479e" /><Relationship Type="http://schemas.openxmlformats.org/officeDocument/2006/relationships/notesSlide" Target="/ppt/notesSlides/notesSlide5.xml" Id="R6f2d570cb5394d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195212d3d4b50" /><Relationship Type="http://schemas.openxmlformats.org/officeDocument/2006/relationships/image" Target="/ppt/media/image7.png" Id="R77b3b272443c4d01" /><Relationship Type="http://schemas.openxmlformats.org/officeDocument/2006/relationships/notesSlide" Target="/ppt/notesSlides/notesSlide6.xml" Id="R0a7e7c1f2cac43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47fc6fc4a4305" /><Relationship Type="http://schemas.openxmlformats.org/officeDocument/2006/relationships/image" Target="/ppt/media/image8.png" Id="R7668098f6db74b04" /><Relationship Type="http://schemas.openxmlformats.org/officeDocument/2006/relationships/image" Target="/ppt/media/image9.png" Id="R6b54fe9b42af4161" /><Relationship Type="http://schemas.openxmlformats.org/officeDocument/2006/relationships/hyperlink" Target="../../lab05/prototype.html" TargetMode="External" Id="R9efb4277dba84fb7" /><Relationship Type="http://schemas.openxmlformats.org/officeDocument/2006/relationships/notesSlide" Target="/ppt/notesSlides/notesSlide7.xml" Id="Rbc626d27894640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705c9e87d40a0" /><Relationship Type="http://schemas.openxmlformats.org/officeDocument/2006/relationships/image" Target="/ppt/media/image10.png" Id="R47c5c4ebdac549e4" /><Relationship Type="http://schemas.openxmlformats.org/officeDocument/2006/relationships/notesSlide" Target="/ppt/notesSlides/notesSlide8.xml" Id="R1bf6dd95ef9f4f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22258a72346a7" /><Relationship Type="http://schemas.openxmlformats.org/officeDocument/2006/relationships/image" Target="/ppt/media/image11.png" Id="R2f02f3d3a5734593" /><Relationship Type="http://schemas.openxmlformats.org/officeDocument/2006/relationships/notesSlide" Target="/ppt/notesSlides/notesSlide9.xml" Id="R0917e586480a45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04dcd65084e8e" /><Relationship Type="http://schemas.openxmlformats.org/officeDocument/2006/relationships/image" Target="/ppt/media/image12.png" Id="Rf8d1e0ed0bff49b2" /><Relationship Type="http://schemas.openxmlformats.org/officeDocument/2006/relationships/hyperlink" Target="../../lab05/prototype.html" TargetMode="External" Id="Rb5dafa4792a241f3" /><Relationship Type="http://schemas.openxmlformats.org/officeDocument/2006/relationships/hyperlink" Target="https://github.com/shevchenko9liza/ai-cu-tenzor/tree/main/lab05" TargetMode="External" Id="Re73ef1f157d0415d" /><Relationship Type="http://schemas.openxmlformats.org/officeDocument/2006/relationships/hyperlink" Target="https://github.com/shevchenko9liza/ai-cu-tenzor/blob/main/kt3/usm.md" TargetMode="External" Id="R95c51d0d30c64764" /><Relationship Type="http://schemas.openxmlformats.org/officeDocument/2006/relationships/hyperlink" Target="https://github.com/shevchenko9liza/ai-cu-tenzor/blob/main/business/custdev-plan.md" TargetMode="External" Id="Rfdb4cf1792314898" /><Relationship Type="http://schemas.openxmlformats.org/officeDocument/2006/relationships/notesSlide" Target="/ppt/notesSlides/notesSlide10.xml" Id="Rdca8109a5f6346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96c7b4ef54ba7" /><Relationship Type="http://schemas.openxmlformats.org/officeDocument/2006/relationships/image" Target="/ppt/media/image6.png" Id="R73af32afd7a84bc8" /><Relationship Type="http://schemas.openxmlformats.org/officeDocument/2006/relationships/notesSlide" Target="/ppt/notesSlides/notesSlide11.xml" Id="R18fc261a0e8846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d05cb70d4430f" /><Relationship Type="http://schemas.openxmlformats.org/officeDocument/2006/relationships/image" Target="/ppt/media/image8.png" Id="R6290218897844571" /><Relationship Type="http://schemas.openxmlformats.org/officeDocument/2006/relationships/image" Target="/ppt/media/image13.png" Id="R4ee72ae663c94a3a" /><Relationship Type="http://schemas.openxmlformats.org/officeDocument/2006/relationships/image" Target="/ppt/media/image14.png" Id="R0dcaaf2861ba4ae0" /><Relationship Type="http://schemas.openxmlformats.org/officeDocument/2006/relationships/notesSlide" Target="/ppt/notesSlides/notesSlide12.xml" Id="R54d06c89490a4a2e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21c699420cd4f9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81F213-0613-4182-821F-7C01869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КТ-3  ПОЛЬЗОВАТЕЛЬСКИЙ СЦЕНАРИЙ</a:t>
            </a:r>
            <a:endParaRPr sz="1200"/>
          </a:p>
        </p:txBody>
      </p:sp>
      <p:sp>
        <p:nvSpPr>
          <p:cNvPr id="3" name="Логотип">
            <a:extLst xmlns:a="http://schemas.openxmlformats.org/drawingml/2006/main">
              <a:ext uri="{FF2B5EF4-FFF2-40B4-BE49-F238E27FC236}">
                <a16:creationId xmlns:a16="http://schemas.microsoft.com/office/drawing/2014/main" id="{9684BE1D-C7BA-4C48-A84B-ECDDCF29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51560"/>
            <a:ext cx="51206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Тен</a:t>
            </a:r>
            <a:r>
              <a:rPr sz="6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зор</a:t>
            </a:r>
            <a:endParaRPr sz="6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BF34772-2794-46D4-A1E7-FAEB3AE7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03120"/>
            <a:ext cx="5349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buNone/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DDE0E7"/>
                </a:solidFill>
                <a:latin typeface="Arial"/>
                <a:ea typeface="Arial"/>
                <a:cs typeface="Arial"/>
              </a:rPr>
              <a:t>Проверка архива перед экспериментом по прогнозу отказов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F981529-6E1D-4A96-8387-6ECC1C68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91840"/>
            <a:ext cx="1143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Для кого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F975B1B-96EC-4FF0-B0A8-AB34FC45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291840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Инженер станции, который готовит данные для эксперимента</a:t>
            </a:r>
            <a:endParaRPr sz="13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5F8EF55-31B3-4883-B181-2BA3BE7E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1143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Результат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926256-46E5-4830-8C45-76054820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913632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Ограничения архива и понятный следующий шаг для руководителя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6090F8D-9EBC-4BE7-98A4-E649E014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35424"/>
            <a:ext cx="1143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Бизнес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FFA3D31-4ECC-4B9F-8D92-9550E303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35424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Проверяем ценность диагностики данных перед отдельным пилотом</a:t>
            </a:r>
            <a:endParaRPr sz="13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1BD2CC6-409C-4937-ACF5-89F96CD8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534924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2700">
            <a:solidFill>
              <a:srgbClr val="B8A1F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E371ADF-75CE-4FED-BF3E-4DC41097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5349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Учебный прототип на вымышленных данных</a:t>
            </a:r>
            <a:endParaRPr sz="1300"/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32BC2-D561-412D-A466-7C1AA81084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b116d023d4aba"/>
          <a:stretch xmlns:a="http://schemas.openxmlformats.org/drawingml/2006/main"/>
        </p:blipFill>
        <p:spPr>
          <a:xfrm xmlns:a="http://schemas.openxmlformats.org/drawingml/2006/main">
            <a:off x="6455577" y="1051560"/>
            <a:ext cx="4919646" cy="4206240"/>
          </a:xfrm>
          <a:prstGeom xmlns:a="http://schemas.openxmlformats.org/drawingml/2006/main" prst="rect">
            <a:avLst/>
          </a:prstGeom>
        </p:spPr>
      </p:pic>
      <p:sp>
        <p:nvSpPr>
          <p:cNvPr id="14" name="Паспорт набора. Реальный архив не подключён">
            <a:extLst xmlns:a="http://schemas.openxmlformats.org/drawingml/2006/main">
              <a:ext uri="{FF2B5EF4-FFF2-40B4-BE49-F238E27FC236}">
                <a16:creationId xmlns:a16="http://schemas.microsoft.com/office/drawing/2014/main" id="{CFE04F94-EABA-436E-809D-DF1E63E3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81625"/>
            <a:ext cx="51206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Паспорт набора. Реальный архив не подключён</a:t>
            </a:r>
          </a:p>
        </p:txBody>
      </p:sp>
      <p:sp>
        <p:nvSpPr>
          <p:cNvPr id="15" name="Команда «Тензор»  /  ИИ-центричное предприним">
            <a:extLst xmlns:a="http://schemas.openxmlformats.org/drawingml/2006/main">
              <a:ext uri="{FF2B5EF4-FFF2-40B4-BE49-F238E27FC236}">
                <a16:creationId xmlns:a16="http://schemas.microsoft.com/office/drawing/2014/main" id="{B7FE8116-5C35-4276-9106-A63D5B79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48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7F8E"/>
                </a:solidFill>
                <a:latin typeface="Arial"/>
                <a:ea typeface="Arial"/>
                <a:cs typeface="Arial"/>
              </a:rPr>
              <a:t>Команда «Тензор»  /  ИИ-центричное предпринимательство  /  25.10.2026</a:t>
            </a:r>
          </a:p>
        </p:txBody>
      </p:sp>
    </p:spTree>
    <p:extLst>
      <p:ext uri="{BB962C8B-B14F-4D97-AF65-F5344CB8AC3E}">
        <p14:creationId xmlns:p14="http://schemas.microsoft.com/office/powerpoint/2010/main" val="2000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1183e82a421481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703045A-6EBB-4672-A1DB-93FAB180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БИЗНЕС-ГИПОТЕЗА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94337EE-8772-4444-8778-52E07BA1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Клиент,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ценность и доход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0D169CA-6456-4D37-8CD4-6A673307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5212080" cy="3429000"/>
          </a:xfrm>
          <a:prstGeom xmlns:a="http://schemas.openxmlformats.org/drawingml/2006/main" prst="roundRect">
            <a:avLst>
              <a:gd name="adj" fmla="val 3733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2700">
            <a:solidFill>
              <a:srgbClr val="30343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EED1AA3-79E1-4771-BF00-343F1203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691640"/>
            <a:ext cx="5212080" cy="3429000"/>
          </a:xfrm>
          <a:prstGeom xmlns:a="http://schemas.openxmlformats.org/drawingml/2006/main" prst="roundRect">
            <a:avLst>
              <a:gd name="adj" fmla="val 3733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2700">
            <a:solidFill>
              <a:srgbClr val="30343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EFFB074-CDD8-4FD6-84C8-CC36F76A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2</a:t>
            </a:r>
            <a:endParaRPr sz="1100"/>
          </a:p>
        </p:txBody>
      </p:sp>
      <p:sp>
        <p:nvSpPr>
          <p:cNvPr id="17" name="Кому и зачем">
            <a:extLst xmlns:a="http://schemas.openxmlformats.org/drawingml/2006/main">
              <a:ext uri="{FF2B5EF4-FFF2-40B4-BE49-F238E27FC236}">
                <a16:creationId xmlns:a16="http://schemas.microsoft.com/office/drawing/2014/main" id="{62F9D284-32FF-4DA7-AD33-D4751DA4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14525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Кому и зачем</a:t>
            </a:r>
          </a:p>
        </p:txBody>
      </p:sp>
      <p:sp>
        <p:nvSpPr>
          <p:cNvPr id="18" name="Клиент: станция с архивом данных и интересом ">
            <a:extLst xmlns:a="http://schemas.openxmlformats.org/drawingml/2006/main">
              <a:ext uri="{FF2B5EF4-FFF2-40B4-BE49-F238E27FC236}">
                <a16:creationId xmlns:a16="http://schemas.microsoft.com/office/drawing/2014/main" id="{3E6ACD6D-BE8C-4CCC-A89C-BC090A06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71725"/>
            <a:ext cx="4619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Клиент: станция с архивом данных и интересом к предупреждению отказов.</a:t>
            </a:r>
          </a:p>
        </p:txBody>
      </p:sp>
      <p:sp>
        <p:nvSpPr>
          <p:cNvPr id="19" name="Инженер готовит набор и объясняет ограничения">
            <a:extLst xmlns:a="http://schemas.openxmlformats.org/drawingml/2006/main">
              <a:ext uri="{FF2B5EF4-FFF2-40B4-BE49-F238E27FC236}">
                <a16:creationId xmlns:a16="http://schemas.microsoft.com/office/drawing/2014/main" id="{5D4ED12F-6A40-479C-9B08-6C5323B3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219450"/>
            <a:ext cx="4619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Инженер готовит набор и объясняет ограничения. Технический руководитель решает, как продолжать проект.</a:t>
            </a:r>
          </a:p>
        </p:txBody>
      </p:sp>
      <p:sp>
        <p:nvSpPr>
          <p:cNvPr id="20" name="Плательщик: предприятие или холдинг. Бюджет и">
            <a:extLst xmlns:a="http://schemas.openxmlformats.org/drawingml/2006/main">
              <a:ext uri="{FF2B5EF4-FFF2-40B4-BE49-F238E27FC236}">
                <a16:creationId xmlns:a16="http://schemas.microsoft.com/office/drawing/2014/main" id="{152895E3-F2F3-4A68-81A5-8FBDCE86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0550"/>
            <a:ext cx="4619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Плательщик: предприятие или холдинг. Бюджет и порядок покупки ещё предстоит выяснить.</a:t>
            </a:r>
          </a:p>
        </p:txBody>
      </p:sp>
      <p:sp>
        <p:nvSpPr>
          <p:cNvPr id="21" name="Что предлагаем проверить">
            <a:extLst xmlns:a="http://schemas.openxmlformats.org/drawingml/2006/main">
              <a:ext uri="{FF2B5EF4-FFF2-40B4-BE49-F238E27FC236}">
                <a16:creationId xmlns:a16="http://schemas.microsoft.com/office/drawing/2014/main" id="{137E85DD-654B-4FF8-A15C-B73923E7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145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Что предлагаем проверить</a:t>
            </a:r>
          </a:p>
        </p:txBody>
      </p:sp>
      <p:sp>
        <p:nvSpPr>
          <p:cNvPr id="22" name="Ограниченная диагностика архива перед решение">
            <a:extLst xmlns:a="http://schemas.openxmlformats.org/drawingml/2006/main">
              <a:ext uri="{FF2B5EF4-FFF2-40B4-BE49-F238E27FC236}">
                <a16:creationId xmlns:a16="http://schemas.microsoft.com/office/drawing/2014/main" id="{FBCFC607-3D87-4144-A5E9-DDDBC276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7172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Ограниченная диагностика архива перед решением о пилоте.</a:t>
            </a:r>
          </a:p>
        </p:txBody>
      </p:sp>
      <p:sp>
        <p:nvSpPr>
          <p:cNvPr id="23" name="Результат: паспорт набора, причины ограничени">
            <a:extLst xmlns:a="http://schemas.openxmlformats.org/drawingml/2006/main">
              <a:ext uri="{FF2B5EF4-FFF2-40B4-BE49-F238E27FC236}">
                <a16:creationId xmlns:a16="http://schemas.microsoft.com/office/drawing/2014/main" id="{DB19BBD0-FB7E-4347-A547-5E344194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Результат: паспорт набора, причины ограничений и план недостающих действий.</a:t>
            </a:r>
          </a:p>
        </p:txBody>
      </p:sp>
      <p:sp>
        <p:nvSpPr>
          <p:cNvPr id="24" name="Гипотеза дохода: оплата диагностики. Пилот и ">
            <a:extLst xmlns:a="http://schemas.openxmlformats.org/drawingml/2006/main">
              <a:ext uri="{FF2B5EF4-FFF2-40B4-BE49-F238E27FC236}">
                <a16:creationId xmlns:a16="http://schemas.microsoft.com/office/drawing/2014/main" id="{9FEFB680-46D1-4DC2-A880-0A30139A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67175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A1FF"/>
                </a:solidFill>
                <a:latin typeface="Arial"/>
                <a:ea typeface="Arial"/>
                <a:cs typeface="Arial"/>
              </a:rPr>
              <a:t>Гипотеза дохода: оплата диагностики. Пилот и будущая подписка обсуждаются отдельно.</a:t>
            </a:r>
          </a:p>
        </p:txBody>
      </p:sp>
      <p:sp>
        <p:nvSpPr>
          <p:cNvPr id="25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4832E92A-C168-4DA7-84CF-A3C070DB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14975"/>
            <a:ext cx="1060704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FFC857"/>
            </a:solidFill>
          </a:ln>
        </p:spPr>
      </p:sp>
      <p:sp>
        <p:nvSpPr>
          <p:cNvPr id="26" name="Проверяем, нужен ли отдельный платный разбор.">
            <a:extLst xmlns:a="http://schemas.openxmlformats.org/drawingml/2006/main">
              <a:ext uri="{FF2B5EF4-FFF2-40B4-BE49-F238E27FC236}">
                <a16:creationId xmlns:a16="http://schemas.microsoft.com/office/drawing/2014/main" id="{53A62CF9-F33B-4508-95D4-7478BA23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638800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Проверяем, нужен ли отдельный платный разбор. Цена, себестоимость и спрос пока неизвестны.</a:t>
            </a:r>
          </a:p>
        </p:txBody>
      </p:sp>
    </p:spTree>
    <p:extLst>
      <p:ext uri="{BB962C8B-B14F-4D97-AF65-F5344CB8AC3E}">
        <p14:creationId xmlns:p14="http://schemas.microsoft.com/office/powerpoint/2010/main" val="2001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040f9e43c41419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B3F85D5-B1B7-479C-8EA2-78D67307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ОСНОВАНИЯ ВЫБОРА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EA74500-32E2-4E47-ADCC-D97BF495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Почему начинаем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с архива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05AF654-C0A0-4152-90FB-CED0AD52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3383280" cy="2971800"/>
          </a:xfrm>
          <a:prstGeom xmlns:a="http://schemas.openxmlformats.org/drawingml/2006/main" prst="roundRect">
            <a:avLst>
              <a:gd name="adj" fmla="val 4308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2700">
            <a:solidFill>
              <a:srgbClr val="30343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3EFFD5A-6737-4773-9D10-1152DA58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83080"/>
            <a:ext cx="3383280" cy="2971800"/>
          </a:xfrm>
          <a:prstGeom xmlns:a="http://schemas.openxmlformats.org/drawingml/2006/main" prst="roundRect">
            <a:avLst>
              <a:gd name="adj" fmla="val 4308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2700">
            <a:solidFill>
              <a:srgbClr val="30343F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2DA467E-E889-420A-8CFE-7AB939BD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83080"/>
            <a:ext cx="3383280" cy="2971800"/>
          </a:xfrm>
          <a:prstGeom xmlns:a="http://schemas.openxmlformats.org/drawingml/2006/main" prst="roundRect">
            <a:avLst>
              <a:gd name="adj" fmla="val 4308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2700">
            <a:solidFill>
              <a:srgbClr val="30343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352280D-F5A9-41D4-8459-0AC3AB75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3</a:t>
            </a:r>
            <a:endParaRPr sz="1100"/>
          </a:p>
        </p:txBody>
      </p:sp>
      <p:sp>
        <p:nvSpPr>
          <p:cNvPr id="22" name="R1">
            <a:extLst xmlns:a="http://schemas.openxmlformats.org/drawingml/2006/main">
              <a:ext uri="{FF2B5EF4-FFF2-40B4-BE49-F238E27FC236}">
                <a16:creationId xmlns:a16="http://schemas.microsoft.com/office/drawing/2014/main" id="{70B9ACBD-63D4-408E-9B50-E7312B66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1168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R1</a:t>
            </a:r>
          </a:p>
        </p:txBody>
      </p:sp>
      <p:sp>
        <p:nvSpPr>
          <p:cNvPr id="23" name="Проблемы с данными">
            <a:extLst xmlns:a="http://schemas.openxmlformats.org/drawingml/2006/main">
              <a:ext uri="{FF2B5EF4-FFF2-40B4-BE49-F238E27FC236}">
                <a16:creationId xmlns:a16="http://schemas.microsoft.com/office/drawing/2014/main" id="{4F22656F-9033-4209-9221-780C5BB3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733675"/>
            <a:ext cx="283464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Проблемы с данными</a:t>
            </a:r>
          </a:p>
        </p:txBody>
      </p:sp>
      <p:sp>
        <p:nvSpPr>
          <p:cNvPr id="24" name="Аналитик холдинга описал трудности сбора и до">
            <a:extLst xmlns:a="http://schemas.openxmlformats.org/drawingml/2006/main">
              <a:ext uri="{FF2B5EF4-FFF2-40B4-BE49-F238E27FC236}">
                <a16:creationId xmlns:a16="http://schemas.microsoft.com/office/drawing/2014/main" id="{9D46FAAF-73E4-4CDC-AFEB-998CCC7F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57575"/>
            <a:ext cx="28346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Аналитик холдинга описал трудности сбора и доверия к показаниям.</a:t>
            </a:r>
          </a:p>
        </p:txBody>
      </p:sp>
      <p:sp>
        <p:nvSpPr>
          <p:cNvPr id="25" name="09.10.2026. Один контекст, взгляд со стороны.">
            <a:extLst xmlns:a="http://schemas.openxmlformats.org/drawingml/2006/main">
              <a:ext uri="{FF2B5EF4-FFF2-40B4-BE49-F238E27FC236}">
                <a16:creationId xmlns:a16="http://schemas.microsoft.com/office/drawing/2014/main" id="{3B2A2D1F-EFD3-4A2A-A684-565ABE95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43400"/>
            <a:ext cx="283464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09.10.2026. Один контекст, взгляд со стороны.</a:t>
            </a:r>
          </a:p>
        </p:txBody>
      </p:sp>
      <p:sp>
        <p:nvSpPr>
          <p:cNvPr id="26" name="R2">
            <a:extLst xmlns:a="http://schemas.openxmlformats.org/drawingml/2006/main">
              <a:ext uri="{FF2B5EF4-FFF2-40B4-BE49-F238E27FC236}">
                <a16:creationId xmlns:a16="http://schemas.microsoft.com/office/drawing/2014/main" id="{6753B38A-22E1-4B73-A002-3F94575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01168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27" name="Архив на станции">
            <a:extLst xmlns:a="http://schemas.openxmlformats.org/drawingml/2006/main">
              <a:ext uri="{FF2B5EF4-FFF2-40B4-BE49-F238E27FC236}">
                <a16:creationId xmlns:a16="http://schemas.microsoft.com/office/drawing/2014/main" id="{BFE8B36B-6566-4385-9EA4-1FECB171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33675"/>
            <a:ext cx="283464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Архив на станции</a:t>
            </a:r>
          </a:p>
        </p:txBody>
      </p:sp>
      <p:sp>
        <p:nvSpPr>
          <p:cNvPr id="28" name="Руководитель сообщил о длительном хранении по">
            <a:extLst xmlns:a="http://schemas.openxmlformats.org/drawingml/2006/main">
              <a:ext uri="{FF2B5EF4-FFF2-40B4-BE49-F238E27FC236}">
                <a16:creationId xmlns:a16="http://schemas.microsoft.com/office/drawing/2014/main" id="{34CBFEB4-018F-488F-BD66-F0CC963C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457575"/>
            <a:ext cx="28346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Руководитель сообщил о длительном хранении показаний и недавнем отказе.</a:t>
            </a:r>
          </a:p>
        </p:txBody>
      </p:sp>
      <p:sp>
        <p:nvSpPr>
          <p:cNvPr id="29" name="10.10.2026. Конспект без записи.">
            <a:extLst xmlns:a="http://schemas.openxmlformats.org/drawingml/2006/main">
              <a:ext uri="{FF2B5EF4-FFF2-40B4-BE49-F238E27FC236}">
                <a16:creationId xmlns:a16="http://schemas.microsoft.com/office/drawing/2014/main" id="{018398C7-C51F-401D-9F28-77DDE833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343400"/>
            <a:ext cx="283464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10.10.2026. Конспект без записи.</a:t>
            </a:r>
          </a:p>
        </p:txBody>
      </p:sp>
      <p:sp>
        <p:nvSpPr>
          <p:cNvPr id="30" name="?">
            <a:extLst xmlns:a="http://schemas.openxmlformats.org/drawingml/2006/main">
              <a:ext uri="{FF2B5EF4-FFF2-40B4-BE49-F238E27FC236}">
                <a16:creationId xmlns:a16="http://schemas.microsoft.com/office/drawing/2014/main" id="{C3D5086F-9E42-4AEE-9755-7F1FAD8B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01168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6F8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31" name="Пробел исследования">
            <a:extLst xmlns:a="http://schemas.openxmlformats.org/drawingml/2006/main">
              <a:ext uri="{FF2B5EF4-FFF2-40B4-BE49-F238E27FC236}">
                <a16:creationId xmlns:a16="http://schemas.microsoft.com/office/drawing/2014/main" id="{0F26ED35-882D-4962-9F61-17B7FF67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733675"/>
            <a:ext cx="283464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Пробел исследования</a:t>
            </a:r>
          </a:p>
        </p:txBody>
      </p:sp>
      <p:sp>
        <p:nvSpPr>
          <p:cNvPr id="32" name="Работу выбранного инженера и пригодность конк">
            <a:extLst xmlns:a="http://schemas.openxmlformats.org/drawingml/2006/main">
              <a:ext uri="{FF2B5EF4-FFF2-40B4-BE49-F238E27FC236}">
                <a16:creationId xmlns:a16="http://schemas.microsoft.com/office/drawing/2014/main" id="{FBE9017C-EC79-4922-807D-59DD890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457575"/>
            <a:ext cx="28346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Работу выбранного инженера и пригодность конкретного архива ещё не проверили.</a:t>
            </a:r>
          </a:p>
        </p:txBody>
      </p:sp>
      <p:sp>
        <p:nvSpPr>
          <p:cNvPr id="33" name="Частота проблемы, затраты и спрос неизвестны.">
            <a:extLst xmlns:a="http://schemas.openxmlformats.org/drawingml/2006/main">
              <a:ext uri="{FF2B5EF4-FFF2-40B4-BE49-F238E27FC236}">
                <a16:creationId xmlns:a16="http://schemas.microsoft.com/office/drawing/2014/main" id="{91A406CD-A4EA-4522-899E-347A0FAB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343400"/>
            <a:ext cx="283464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Частота проблемы, затраты и спрос неизвестны.</a:t>
            </a:r>
          </a:p>
        </p:txBody>
      </p:sp>
      <p:sp>
        <p:nvSpPr>
          <p:cNvPr id="34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1420E6FB-2197-4086-BA0D-1DB47287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24450"/>
            <a:ext cx="10607040" cy="7620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2EE6C9"/>
            </a:solidFill>
          </a:ln>
        </p:spPr>
      </p:sp>
      <p:sp>
        <p:nvSpPr>
          <p:cNvPr id="35" name="Рабочая гипотеза: до эксперимента инженеру тр">
            <a:extLst xmlns:a="http://schemas.openxmlformats.org/drawingml/2006/main">
              <a:ext uri="{FF2B5EF4-FFF2-40B4-BE49-F238E27FC236}">
                <a16:creationId xmlns:a16="http://schemas.microsoft.com/office/drawing/2014/main" id="{64CB8F54-EDD3-44FB-812F-BE3BA0D4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248275"/>
            <a:ext cx="1017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Рабочая гипотеза: до эксперимента инженеру трудно обосновать пригодность архива и следующий шаг.</a:t>
            </a:r>
          </a:p>
        </p:txBody>
      </p:sp>
    </p:spTree>
    <p:extLst>
      <p:ext uri="{BB962C8B-B14F-4D97-AF65-F5344CB8AC3E}">
        <p14:creationId xmlns:p14="http://schemas.microsoft.com/office/powerpoint/2010/main" val="2002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f5bf30b952c430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53642F4-90DC-41B9-AE59-A0630894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ПЕРВАЯ ВЕРСИЯ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5E3B72C-03F3-41F8-A585-4BCB9D88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Задача инженера и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границы</a:t>
            </a:r>
            <a:endParaRPr sz="30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1439C31-3E07-4668-B22B-A1FBD3F8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4</a:t>
            </a:r>
            <a:endParaRPr sz="1100"/>
          </a:p>
        </p:txBody>
      </p:sp>
      <p:sp>
        <p:nvSpPr>
          <p:cNvPr id="36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4FA17023-0A9C-4306-84EA-27FF852C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3143250" cy="4057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37" name="Исходная ситуация">
            <a:extLst xmlns:a="http://schemas.openxmlformats.org/drawingml/2006/main">
              <a:ext uri="{FF2B5EF4-FFF2-40B4-BE49-F238E27FC236}">
                <a16:creationId xmlns:a16="http://schemas.microsoft.com/office/drawing/2014/main" id="{CF3E98E5-0C76-4FAB-B191-1AC01E2D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52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Исходная ситуация</a:t>
            </a:r>
          </a:p>
        </p:txBody>
      </p:sp>
      <p:sp>
        <p:nvSpPr>
          <p:cNvPr id="38" name="Руководитель просит оценить архив перед экспе">
            <a:extLst xmlns:a="http://schemas.openxmlformats.org/drawingml/2006/main">
              <a:ext uri="{FF2B5EF4-FFF2-40B4-BE49-F238E27FC236}">
                <a16:creationId xmlns:a16="http://schemas.microsoft.com/office/drawing/2014/main" id="{8BB770CF-B336-47B0-B113-C4D89614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0775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Руководитель просит оценить архив перед экспериментом по прогнозу отказов.</a:t>
            </a:r>
          </a:p>
        </p:txBody>
      </p:sp>
      <p:sp>
        <p:nvSpPr>
          <p:cNvPr id="39" name="Рабочий результат">
            <a:extLst xmlns:a="http://schemas.openxmlformats.org/drawingml/2006/main">
              <a:ext uri="{FF2B5EF4-FFF2-40B4-BE49-F238E27FC236}">
                <a16:creationId xmlns:a16="http://schemas.microsoft.com/office/drawing/2014/main" id="{6C3D021A-8634-4BE1-8942-83F9AF95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95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Рабочий результат</a:t>
            </a:r>
          </a:p>
        </p:txBody>
      </p:sp>
      <p:sp>
        <p:nvSpPr>
          <p:cNvPr id="40" name="Инженер объясняет ограничения и передаёт план">
            <a:extLst xmlns:a="http://schemas.openxmlformats.org/drawingml/2006/main">
              <a:ext uri="{FF2B5EF4-FFF2-40B4-BE49-F238E27FC236}">
                <a16:creationId xmlns:a16="http://schemas.microsoft.com/office/drawing/2014/main" id="{F15FCB6F-78C1-40E9-80A1-22067171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14850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Инженер объясняет ограничения и передаёт план дальнейших действий.</a:t>
            </a:r>
          </a:p>
        </p:txBody>
      </p:sp>
      <p:graphicFrame>
        <p:nvGraphicFrame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92C93B-7087-466C-A711-307C7AF90D82}"/>
              </a:ext>
            </a:extLst>
          </p:cNvPr>
          <p:cNvGraphicFramePr/>
          <p:nvPr/>
        </p:nvGraphicFramePr>
        <p:xfrm>
          <a:off xmlns:a="http://schemas.openxmlformats.org/drawingml/2006/main" x="4162425" y="1737360"/>
          <a:ext xmlns:a="http://schemas.openxmlformats.org/drawingml/2006/main" cx="721995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14375"/>
                <a:gridCol w="2686050"/>
                <a:gridCol w="3819525"/>
              </a:tblGrid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US</a:t>
                      </a:r>
                    </a:p>
                  </a:txBody>
                  <a:tcPr marL="123825" marR="123825" marT="114300" marB="7620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Нужный результат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US1</a:t>
                      </a:r>
                    </a:p>
                  </a:txBody>
                  <a:tcPr marL="123825" marR="123825" marT="114300" marB="7620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Выбрать архив и цель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Вывод относится к нужному набору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US2</a:t>
                      </a:r>
                    </a:p>
                  </a:txBody>
                  <a:tcPr marL="123825" marR="123825" marT="114300" marB="7620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Разобрать состав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Причины ограничений понятны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US3</a:t>
                      </a:r>
                    </a:p>
                  </a:txBody>
                  <a:tcPr marL="123825" marR="123825" marT="114300" marB="7620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Уточнить метаданные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Повтор учитывает подтверждённые сведения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US4</a:t>
                      </a:r>
                    </a:p>
                  </a:txBody>
                  <a:tcPr marL="123825" marR="123825" marT="114300" marB="7620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Прочитать вывод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Границы применимости ясны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US5</a:t>
                      </a:r>
                    </a:p>
                  </a:txBody>
                  <a:tcPr marL="123825" marR="123825" marT="114300" marB="7620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Подготовить план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Следующий шаг можно сохранить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</a:tbl>
          </a:graphicData>
        </a:graphic>
      </p:graphicFrame>
      <p:sp>
        <p:nvSpPr>
          <p:cNvPr id="42" name="За пределами: реальная загрузка, доступ к ста">
            <a:extLst xmlns:a="http://schemas.openxmlformats.org/drawingml/2006/main">
              <a:ext uri="{FF2B5EF4-FFF2-40B4-BE49-F238E27FC236}">
                <a16:creationId xmlns:a16="http://schemas.microsoft.com/office/drawing/2014/main" id="{84D7214C-0A99-47AC-AB38-C0A6B83D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43550"/>
            <a:ext cx="721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За пределами: реальная загрузка, доступ к станции, обучение модели, прогноз и расчёт экономии.</a:t>
            </a:r>
          </a:p>
        </p:txBody>
      </p:sp>
    </p:spTree>
    <p:extLst>
      <p:ext uri="{BB962C8B-B14F-4D97-AF65-F5344CB8AC3E}">
        <p14:creationId xmlns:p14="http://schemas.microsoft.com/office/powerpoint/2010/main" val="2003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13cf10035a3479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402E7B6-D897-484A-B73C-8FDDCCEB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USER STORY MAP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A5B6CA4-498E-43CD-824A-4C44AEB3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Путь инженера</a:t>
            </a: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 по архиву</a:t>
            </a:r>
            <a:endParaRPr sz="3000"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F0C9E18A-1EB9-4127-87D0-B3722DC4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5</a:t>
            </a:r>
            <a:endParaRPr sz="1100"/>
          </a:p>
        </p:txBody>
      </p:sp>
      <p:graphicFrame>
        <p:nvGraphicFrame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60F9968-7BF4-4B94-AF9C-975637B26461}"/>
              </a:ext>
            </a:extLst>
          </p:cNvPr>
          <p:cNvGraphicFramePr/>
          <p:nvPr/>
        </p:nvGraphicFramePr>
        <p:xfrm>
          <a:off xmlns:a="http://schemas.openxmlformats.org/drawingml/2006/main" x="777240" y="1743075"/>
          <a:ext xmlns:a="http://schemas.openxmlformats.org/drawingml/2006/main" cx="10607040" cy="3971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43990"/>
                <a:gridCol w="2290763"/>
                <a:gridCol w="2290763"/>
                <a:gridCol w="2290763"/>
                <a:gridCol w="2290763"/>
              </a:tblGrid>
              <a:tr h="466725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1. Исходники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2. Ограничения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3. Уточнение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4. Следующий шаг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Действия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Выбрать архив</a:t>
                      </a:r>
                    </a:p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Прочитать цель и состав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Запустить проверку</a:t>
                      </a:r>
                    </a:p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Разобрать замечания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Указать известные сведения</a:t>
                      </a:r>
                    </a:p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Повторить проверку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Прочитать вывод</a:t>
                      </a:r>
                    </a:p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план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Ответ продукта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Паспорт: объект, период, параметры, события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Причина ограничения и её влияние на задачу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Новый вывод или запрос владельцу данных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План эксперимента либо запрос недостающего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Варианты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Без выбора нельзя продолжить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Неизвестный пояс: C2</a:t>
                      </a:r>
                    </a:p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Нет событий: C3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Пояс подтверждён: повтор</a:t>
                      </a:r>
                    </a:p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Неизвестен: запрос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Возврат к результату</a:t>
                      </a:r>
                    </a:p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Смена набора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В прототипе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Три учебных набора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Заранее заданные результаты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Выбор пояса, ошибка, повтор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Три варианта плана и скачивание .txt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</a:tbl>
          </a:graphicData>
        </a:graphic>
      </p:graphicFrame>
      <p:sp>
        <p:nvSpPr>
          <p:cNvPr id="68" name="Согласованный набор проходит без уточнения. Р">
            <a:extLst xmlns:a="http://schemas.openxmlformats.org/drawingml/2006/main">
              <a:ext uri="{FF2B5EF4-FFF2-40B4-BE49-F238E27FC236}">
                <a16:creationId xmlns:a16="http://schemas.microsoft.com/office/drawing/2014/main" id="{332CC338-6B68-4365-B750-B99CDEF4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67400"/>
            <a:ext cx="106070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Согласованный набор проходит без уточнения. Реальная выгрузка, ответ владельца и решение руководителя остаются за макетом.</a:t>
            </a:r>
          </a:p>
        </p:txBody>
      </p:sp>
    </p:spTree>
    <p:extLst>
      <p:ext uri="{BB962C8B-B14F-4D97-AF65-F5344CB8AC3E}">
        <p14:creationId xmlns:p14="http://schemas.microsoft.com/office/powerpoint/2010/main" val="2004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7b3b272443c4d0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19268A9-4FE3-4B65-BDCC-2703B900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ВАРИАНТЫ ПРОХОЖДЕНИЯ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7F3A4C3-9640-4987-965E-B79CDE83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Три состояния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одного процесса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D52F536-DD52-4281-86F1-F6126A2C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6</a:t>
            </a:r>
            <a:endParaRPr sz="1100"/>
          </a:p>
        </p:txBody>
      </p:sp>
      <p:sp>
        <p:nvSpPr>
          <p:cNvPr id="21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9973B8AF-B39A-4790-BA31-9FE7462D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43075"/>
            <a:ext cx="3383280" cy="3524250"/>
          </a:xfrm>
          <a:prstGeom xmlns:a="http://schemas.openxmlformats.org/drawingml/2006/main" prst="roundRect">
            <a:avLst>
              <a:gd name="adj" fmla="val 4223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22" name="C1">
            <a:extLst xmlns:a="http://schemas.openxmlformats.org/drawingml/2006/main">
              <a:ext uri="{FF2B5EF4-FFF2-40B4-BE49-F238E27FC236}">
                <a16:creationId xmlns:a16="http://schemas.microsoft.com/office/drawing/2014/main" id="{76A3AF9A-56EA-457F-B09C-14755A7F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43100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3" name="Сведения согласованы">
            <a:extLst xmlns:a="http://schemas.openxmlformats.org/drawingml/2006/main">
              <a:ext uri="{FF2B5EF4-FFF2-40B4-BE49-F238E27FC236}">
                <a16:creationId xmlns:a16="http://schemas.microsoft.com/office/drawing/2014/main" id="{C87EA8BA-0F00-4AB6-AC04-2149CB6F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52700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Сведения согласованы</a:t>
            </a:r>
          </a:p>
        </p:txBody>
      </p:sp>
      <p:sp>
        <p:nvSpPr>
          <p:cNvPr id="24" name="В учебном наборе указаны время и история собы">
            <a:extLst xmlns:a="http://schemas.openxmlformats.org/drawingml/2006/main">
              <a:ext uri="{FF2B5EF4-FFF2-40B4-BE49-F238E27FC236}">
                <a16:creationId xmlns:a16="http://schemas.microsoft.com/office/drawing/2014/main" id="{6BDD7FD9-C9A6-4DA9-923E-D9EFE180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295650"/>
            <a:ext cx="2914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В учебном наборе указаны время и история событий.</a:t>
            </a:r>
          </a:p>
        </p:txBody>
      </p:sp>
      <p:sp>
        <p:nvSpPr>
          <p:cNvPr id="25" name="Можно готовить эксперимент">
            <a:extLst xmlns:a="http://schemas.openxmlformats.org/drawingml/2006/main">
              <a:ext uri="{FF2B5EF4-FFF2-40B4-BE49-F238E27FC236}">
                <a16:creationId xmlns:a16="http://schemas.microsoft.com/office/drawing/2014/main" id="{8E4979CD-2B48-41E7-BC8C-B5A2542A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7675"/>
            <a:ext cx="2914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Можно готовить эксперимент</a:t>
            </a:r>
          </a:p>
        </p:txBody>
      </p:sp>
      <p:sp>
        <p:nvSpPr>
          <p:cNvPr id="26" name="План включает цель, горизонт и способ оценки.">
            <a:extLst xmlns:a="http://schemas.openxmlformats.org/drawingml/2006/main">
              <a:ext uri="{FF2B5EF4-FFF2-40B4-BE49-F238E27FC236}">
                <a16:creationId xmlns:a16="http://schemas.microsoft.com/office/drawing/2014/main" id="{98F9F825-555B-4A86-BC42-08BBE7B6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48225"/>
            <a:ext cx="291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План включает цель, горизонт и способ оценки.</a:t>
            </a:r>
          </a:p>
        </p:txBody>
      </p:sp>
      <p:sp>
        <p:nvSpPr>
          <p:cNvPr id="27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33F028C4-6FD3-4E6A-A02C-30FFEC48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43075"/>
            <a:ext cx="3383280" cy="3524250"/>
          </a:xfrm>
          <a:prstGeom xmlns:a="http://schemas.openxmlformats.org/drawingml/2006/main" prst="roundRect">
            <a:avLst>
              <a:gd name="adj" fmla="val 4223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28" name="C2">
            <a:extLst xmlns:a="http://schemas.openxmlformats.org/drawingml/2006/main">
              <a:ext uri="{FF2B5EF4-FFF2-40B4-BE49-F238E27FC236}">
                <a16:creationId xmlns:a16="http://schemas.microsoft.com/office/drawing/2014/main" id="{058A2C87-0E8B-4F32-971C-E6B6B617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43100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9" name="Неизвестный часовой пояс">
            <a:extLst xmlns:a="http://schemas.openxmlformats.org/drawingml/2006/main">
              <a:ext uri="{FF2B5EF4-FFF2-40B4-BE49-F238E27FC236}">
                <a16:creationId xmlns:a16="http://schemas.microsoft.com/office/drawing/2014/main" id="{D63A5D43-771D-47CD-9FC4-334D8937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552700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Неизвестный часовой пояс</a:t>
            </a:r>
          </a:p>
        </p:txBody>
      </p:sp>
      <p:sp>
        <p:nvSpPr>
          <p:cNvPr id="30" name="Уточнить подтверждённое значение и повторить ">
            <a:extLst xmlns:a="http://schemas.openxmlformats.org/drawingml/2006/main">
              <a:ext uri="{FF2B5EF4-FFF2-40B4-BE49-F238E27FC236}">
                <a16:creationId xmlns:a16="http://schemas.microsoft.com/office/drawing/2014/main" id="{E2AFC55A-6915-451B-B35D-693603FA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295650"/>
            <a:ext cx="2914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Уточнить подтверждённое значение и повторить проверку.</a:t>
            </a:r>
          </a:p>
        </p:txBody>
      </p:sp>
      <p:sp>
        <p:nvSpPr>
          <p:cNvPr id="31" name="Если не знаем, готовим запрос">
            <a:extLst xmlns:a="http://schemas.openxmlformats.org/drawingml/2006/main">
              <a:ext uri="{FF2B5EF4-FFF2-40B4-BE49-F238E27FC236}">
                <a16:creationId xmlns:a16="http://schemas.microsoft.com/office/drawing/2014/main" id="{8A20CA0D-AF0F-4D48-867E-3A956E9E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257675"/>
            <a:ext cx="2914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Если не знаем, готовим запрос</a:t>
            </a:r>
          </a:p>
        </p:txBody>
      </p:sp>
      <p:sp>
        <p:nvSpPr>
          <p:cNvPr id="32" name="Догадка не считается подтверждением.">
            <a:extLst xmlns:a="http://schemas.openxmlformats.org/drawingml/2006/main">
              <a:ext uri="{FF2B5EF4-FFF2-40B4-BE49-F238E27FC236}">
                <a16:creationId xmlns:a16="http://schemas.microsoft.com/office/drawing/2014/main" id="{EA0D1338-9C52-4067-BF71-FF870457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848225"/>
            <a:ext cx="291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Догадка не считается подтверждением.</a:t>
            </a:r>
          </a:p>
        </p:txBody>
      </p:sp>
      <p:sp>
        <p:nvSpPr>
          <p:cNvPr id="33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571BC2B0-29CE-4CD3-B618-4C6F1DBF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43075"/>
            <a:ext cx="3383280" cy="3524250"/>
          </a:xfrm>
          <a:prstGeom xmlns:a="http://schemas.openxmlformats.org/drawingml/2006/main" prst="roundRect">
            <a:avLst>
              <a:gd name="adj" fmla="val 4223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34" name="C3">
            <a:extLst xmlns:a="http://schemas.openxmlformats.org/drawingml/2006/main">
              <a:ext uri="{FF2B5EF4-FFF2-40B4-BE49-F238E27FC236}">
                <a16:creationId xmlns:a16="http://schemas.microsoft.com/office/drawing/2014/main" id="{6B3EAD66-DEE9-4713-B5CB-A9D24BAF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6F8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35" name="Нет истории событий">
            <a:extLst xmlns:a="http://schemas.openxmlformats.org/drawingml/2006/main">
              <a:ext uri="{FF2B5EF4-FFF2-40B4-BE49-F238E27FC236}">
                <a16:creationId xmlns:a16="http://schemas.microsoft.com/office/drawing/2014/main" id="{723DE528-83A2-44FC-B788-402BC205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Нет истории событий</a:t>
            </a:r>
          </a:p>
        </p:txBody>
      </p:sp>
      <p:sp>
        <p:nvSpPr>
          <p:cNvPr id="36" name="Нельзя оценить, какие предупреждения предшест">
            <a:extLst xmlns:a="http://schemas.openxmlformats.org/drawingml/2006/main">
              <a:ext uri="{FF2B5EF4-FFF2-40B4-BE49-F238E27FC236}">
                <a16:creationId xmlns:a16="http://schemas.microsoft.com/office/drawing/2014/main" id="{BD9B2793-50A9-4386-81CA-1A240651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2914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Нельзя оценить, какие предупреждения предшествовали отказам.</a:t>
            </a:r>
          </a:p>
        </p:txBody>
      </p:sp>
      <p:sp>
        <p:nvSpPr>
          <p:cNvPr id="37" name="Запрашиваем историю">
            <a:extLst xmlns:a="http://schemas.openxmlformats.org/drawingml/2006/main">
              <a:ext uri="{FF2B5EF4-FFF2-40B4-BE49-F238E27FC236}">
                <a16:creationId xmlns:a16="http://schemas.microsoft.com/office/drawing/2014/main" id="{3BF256B3-40C6-4206-9B99-FD4A0233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57675"/>
            <a:ext cx="2914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6F8F"/>
                </a:solidFill>
                <a:latin typeface="Arial"/>
                <a:ea typeface="Arial"/>
                <a:cs typeface="Arial"/>
              </a:rPr>
              <a:t>Запрашиваем историю</a:t>
            </a:r>
          </a:p>
        </p:txBody>
      </p:sp>
      <p:sp>
        <p:nvSpPr>
          <p:cNvPr id="38" name="Другие задачи анализа требуют отдельной цели.">
            <a:extLst xmlns:a="http://schemas.openxmlformats.org/drawingml/2006/main">
              <a:ext uri="{FF2B5EF4-FFF2-40B4-BE49-F238E27FC236}">
                <a16:creationId xmlns:a16="http://schemas.microsoft.com/office/drawing/2014/main" id="{0D1DA43D-5881-4810-A8D8-71E0B081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48225"/>
            <a:ext cx="291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Другие задачи анализа требуют отдельной цели.</a:t>
            </a:r>
          </a:p>
        </p:txBody>
      </p:sp>
      <p:sp>
        <p:nvSpPr>
          <p:cNvPr id="39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2B0F3228-77CD-4438-BEDD-0FFEA57D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62600"/>
            <a:ext cx="1060704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B8A1FF"/>
            </a:solidFill>
          </a:ln>
        </p:spPr>
      </p:sp>
      <p:sp>
        <p:nvSpPr>
          <p:cNvPr id="40" name="Смена архива очищает прежние уточнения и резу">
            <a:extLst xmlns:a="http://schemas.openxmlformats.org/drawingml/2006/main">
              <a:ext uri="{FF2B5EF4-FFF2-40B4-BE49-F238E27FC236}">
                <a16:creationId xmlns:a16="http://schemas.microsoft.com/office/drawing/2014/main" id="{9D65839A-2F32-46FA-B09B-0AF4415A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686425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Смена архива очищает прежние уточнения и результат. Возврат сохраняет выбор текущего набора.</a:t>
            </a:r>
          </a:p>
        </p:txBody>
      </p:sp>
    </p:spTree>
    <p:extLst>
      <p:ext uri="{BB962C8B-B14F-4D97-AF65-F5344CB8AC3E}">
        <p14:creationId xmlns:p14="http://schemas.microsoft.com/office/powerpoint/2010/main" val="2005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668098f6db74b0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83343E0-1631-4F92-B436-8FF5E24B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ДЕМОНСТРАЦИЯ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DFC278DC-9F75-4EA1-BFDE-C7B79260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Разбор архива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в прототипе</a:t>
            </a:r>
            <a:endParaRPr sz="30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33C6EFCE-97F0-4A90-9F88-E4E2845E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7</a:t>
            </a:r>
            <a:endParaRPr sz="1100"/>
          </a:p>
        </p:txBody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A92D82-BEEC-4602-8835-F0D040C19D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4fe9b42af4161"/>
          <a:stretch xmlns:a="http://schemas.openxmlformats.org/drawingml/2006/main"/>
        </p:blipFill>
        <p:spPr>
          <a:xfrm xmlns:a="http://schemas.openxmlformats.org/drawingml/2006/main">
            <a:off x="1296262" y="1685925"/>
            <a:ext cx="5029382" cy="4276725"/>
          </a:xfrm>
          <a:prstGeom xmlns:a="http://schemas.openxmlformats.org/drawingml/2006/main" prst="rect">
            <a:avLst/>
          </a:prstGeom>
        </p:spPr>
      </p:pic>
      <p:sp>
        <p:nvSpPr>
          <p:cNvPr id="45" name="Самостоятельное прохождение">
            <a:extLst xmlns:a="http://schemas.openxmlformats.org/drawingml/2006/main">
              <a:ext uri="{FF2B5EF4-FFF2-40B4-BE49-F238E27FC236}">
                <a16:creationId xmlns:a16="http://schemas.microsoft.com/office/drawing/2014/main" id="{2714C4ED-205D-4E5F-9F68-10F12264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81175"/>
            <a:ext cx="419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Самостоятельное прохождение</a:t>
            </a:r>
          </a:p>
        </p:txBody>
      </p:sp>
      <p:sp>
        <p:nvSpPr>
          <p:cNvPr id="46" name="Набор A&#10;Паспорт, вывод и сохранённый план">
            <a:extLst xmlns:a="http://schemas.openxmlformats.org/drawingml/2006/main">
              <a:ext uri="{FF2B5EF4-FFF2-40B4-BE49-F238E27FC236}">
                <a16:creationId xmlns:a16="http://schemas.microsoft.com/office/drawing/2014/main" id="{74C859E6-88C9-4C8A-ACAC-BB2D541D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67000"/>
            <a:ext cx="4095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Набор A</a:t>
            </a:r>
          </a:p>
          <a:p xmlns:a="http://schemas.openxmlformats.org/drawingml/2006/main">
            <a: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Паспорт, вывод и сохранённый план</a:t>
            </a:r>
          </a:p>
        </p:txBody>
      </p:sp>
      <p:sp>
        <p:nvSpPr>
          <p:cNvPr id="47" name="Набор B&#10;Ошибка, подтверждение времени и повто">
            <a:extLst xmlns:a="http://schemas.openxmlformats.org/drawingml/2006/main">
              <a:ext uri="{FF2B5EF4-FFF2-40B4-BE49-F238E27FC236}">
                <a16:creationId xmlns:a16="http://schemas.microsoft.com/office/drawing/2014/main" id="{616F91D9-4DB2-4CE0-944C-652AAD84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52825"/>
            <a:ext cx="4095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Набор B</a:t>
            </a:r>
          </a:p>
          <a:p xmlns:a="http://schemas.openxmlformats.org/drawingml/2006/main">
            <a: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Ошибка, подтверждение времени и повтор</a:t>
            </a:r>
          </a:p>
        </p:txBody>
      </p:sp>
      <p:sp>
        <p:nvSpPr>
          <p:cNvPr id="48" name="Набор C&#10;Причина ограничения и запрос истории">
            <a:extLst xmlns:a="http://schemas.openxmlformats.org/drawingml/2006/main">
              <a:ext uri="{FF2B5EF4-FFF2-40B4-BE49-F238E27FC236}">
                <a16:creationId xmlns:a16="http://schemas.microsoft.com/office/drawing/2014/main" id="{CE23FAD5-7F8E-46D6-91E0-F214870F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38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Набор C</a:t>
            </a:r>
          </a:p>
          <a:p xmlns:a="http://schemas.openxmlformats.org/drawingml/2006/main">
            <a: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Причина ограничения и запрос истории</a:t>
            </a:r>
          </a:p>
        </p:txBody>
      </p:sp>
      <p:sp>
        <p:nvSpPr>
          <p:cNvPr id="49" name="Открыть HTML-прототип">
            <a:extLst xmlns:a="http://schemas.openxmlformats.org/drawingml/2006/main">
              <a:ext uri="{FF2B5EF4-FFF2-40B4-BE49-F238E27FC236}">
                <a16:creationId xmlns:a16="http://schemas.microsoft.com/office/drawing/2014/main" id="{61005EF5-D526-4C08-B6B5-56816037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524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9efb4277dba84fb7"/>
              </a:rPr>
              <a:t>Открыть HTML-прототип</a:t>
            </a:r>
          </a:p>
        </p:txBody>
      </p:sp>
      <p:sp>
        <p:nvSpPr>
          <p:cNvPr id="50" name="Учебные данные. Ответы подготовлены заранее, ">
            <a:extLst xmlns:a="http://schemas.openxmlformats.org/drawingml/2006/main">
              <a:ext uri="{FF2B5EF4-FFF2-40B4-BE49-F238E27FC236}">
                <a16:creationId xmlns:a16="http://schemas.microsoft.com/office/drawing/2014/main" id="{EAF535D0-940B-41DB-8187-C93DC19A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769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Учебные данные. Ответы подготовлены заранее, сервер и ИИ не подключены.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2006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7c5c4ebdac549e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32ADDE6-8865-4746-8602-346F9E73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ПРОВЕРКА ИНТЕРФЕЙСА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040CC7E-CB0F-4439-82D7-D638E045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Что должен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понять инженер</a:t>
            </a:r>
            <a:endParaRPr sz="3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CCC8A30-8B49-4057-A339-FB834E08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8</a:t>
            </a:r>
            <a:endParaRPr sz="1100"/>
          </a:p>
        </p:txBody>
      </p:sp>
      <p:sp>
        <p:nvSpPr>
          <p:cNvPr id="16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ECA68376-D6EE-4C99-A3D0-31EA6A5E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24025"/>
            <a:ext cx="5076825" cy="3162300"/>
          </a:xfrm>
          <a:prstGeom xmlns:a="http://schemas.openxmlformats.org/drawingml/2006/main" prst="roundRect">
            <a:avLst>
              <a:gd name="adj" fmla="val 4518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17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02B1B442-C49C-4BEE-8F63-ABF32793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24025"/>
            <a:ext cx="5343525" cy="3162300"/>
          </a:xfrm>
          <a:prstGeom xmlns:a="http://schemas.openxmlformats.org/drawingml/2006/main" prst="roundRect">
            <a:avLst>
              <a:gd name="adj" fmla="val 4518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18" name="Задание пользователю">
            <a:extLst xmlns:a="http://schemas.openxmlformats.org/drawingml/2006/main">
              <a:ext uri="{FF2B5EF4-FFF2-40B4-BE49-F238E27FC236}">
                <a16:creationId xmlns:a16="http://schemas.microsoft.com/office/drawing/2014/main" id="{92191D25-AB1B-47E0-88CF-55A4D5FE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716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Задание пользователю</a:t>
            </a:r>
          </a:p>
        </p:txBody>
      </p:sp>
      <p:sp>
        <p:nvSpPr>
          <p:cNvPr id="19" name="«Руководитель просит понять, можно ли продолж">
            <a:extLst xmlns:a="http://schemas.openxmlformats.org/drawingml/2006/main">
              <a:ext uri="{FF2B5EF4-FFF2-40B4-BE49-F238E27FC236}">
                <a16:creationId xmlns:a16="http://schemas.microsoft.com/office/drawing/2014/main" id="{2BF653C6-98AB-4BD0-9C6C-D5A8F670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33650"/>
            <a:ext cx="45720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«Руководитель просит понять, можно ли продолжать подготовку эксперимента. Разберите архив и подготовьте следующий шаг».</a:t>
            </a:r>
          </a:p>
        </p:txBody>
      </p:sp>
      <p:sp>
        <p:nvSpPr>
          <p:cNvPr id="20" name="Маршрут по кнопкам заранее не подсказываем.">
            <a:extLst xmlns:a="http://schemas.openxmlformats.org/drawingml/2006/main">
              <a:ext uri="{FF2B5EF4-FFF2-40B4-BE49-F238E27FC236}">
                <a16:creationId xmlns:a16="http://schemas.microsoft.com/office/drawing/2014/main" id="{6163B9F2-59C9-40D9-889E-63509582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910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Маршрут по кнопкам заранее не подсказываем.</a:t>
            </a:r>
          </a:p>
        </p:txBody>
      </p:sp>
      <p:sp>
        <p:nvSpPr>
          <p:cNvPr id="21" name="Что наблюдаем">
            <a:extLst xmlns:a="http://schemas.openxmlformats.org/drawingml/2006/main">
              <a:ext uri="{FF2B5EF4-FFF2-40B4-BE49-F238E27FC236}">
                <a16:creationId xmlns:a16="http://schemas.microsoft.com/office/drawing/2014/main" id="{0E01A537-3288-43F9-B9F0-359F4057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716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Что наблюдаем</a:t>
            </a:r>
          </a:p>
        </p:txBody>
      </p:sp>
      <p:sp>
        <p:nvSpPr>
          <p:cNvPr id="22" name="Находит ли причину ограничения&#10;&#10;Уточняет ли т">
            <a:extLst xmlns:a="http://schemas.openxmlformats.org/drawingml/2006/main">
              <a:ext uri="{FF2B5EF4-FFF2-40B4-BE49-F238E27FC236}">
                <a16:creationId xmlns:a16="http://schemas.microsoft.com/office/drawing/2014/main" id="{526785F4-38F8-40BA-88B9-6F8ECEDE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4810125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Находит ли причину ограничения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Уточняет ли только известные сведения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Объясняет ли вывод своими словами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Понимает ли, что запросить или согласовать</a:t>
            </a:r>
          </a:p>
        </p:txBody>
      </p:sp>
      <p:sp>
        <p:nvSpPr>
          <p:cNvPr id="23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8ED85A5B-F5B6-4515-866E-B8C96075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10607040" cy="7429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FFC857"/>
            </a:solidFill>
          </a:ln>
        </p:spPr>
      </p:sp>
      <p:sp>
        <p:nvSpPr>
          <p:cNvPr id="24" name="Ключевая проверка: техническая согласованност">
            <a:extLst xmlns:a="http://schemas.openxmlformats.org/drawingml/2006/main">
              <a:ext uri="{FF2B5EF4-FFF2-40B4-BE49-F238E27FC236}">
                <a16:creationId xmlns:a16="http://schemas.microsoft.com/office/drawing/2014/main" id="{8329EF85-C213-4B5F-8026-ABA5BA91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81625"/>
            <a:ext cx="10172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Ключевая проверка: техническая согласованность архива не должна восприниматься как обещание точного прогноза.</a:t>
            </a:r>
          </a:p>
        </p:txBody>
      </p:sp>
      <p:sp>
        <p:nvSpPr>
          <p:cNvPr id="25" name="Результатов проверки с целевыми пользователям">
            <a:extLst xmlns:a="http://schemas.openxmlformats.org/drawingml/2006/main">
              <a:ext uri="{FF2B5EF4-FFF2-40B4-BE49-F238E27FC236}">
                <a16:creationId xmlns:a16="http://schemas.microsoft.com/office/drawing/2014/main" id="{87F6DE09-FDA7-4CD9-B4EE-E46C11F9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86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Результатов проверки с целевыми пользователями пока нет.</a:t>
            </a:r>
          </a:p>
        </p:txBody>
      </p:sp>
    </p:spTree>
    <p:extLst>
      <p:ext uri="{BB962C8B-B14F-4D97-AF65-F5344CB8AC3E}">
        <p14:creationId xmlns:p14="http://schemas.microsoft.com/office/powerpoint/2010/main" val="20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f02f3d3a573459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5FC8979-10B1-41C3-AD87-9E522E90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КАСТДЕВ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3AE69AD-A437-4170-8F82-604701D6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Проверка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ценности для бизнеса</a:t>
            </a:r>
            <a:endParaRPr sz="300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D562D1E-DDD6-4358-856A-C5439A54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9</a:t>
            </a:r>
            <a:endParaRPr sz="1100"/>
          </a:p>
        </p:txBody>
      </p:sp>
      <p:graphicFrame>
        <p:nvGraphicFrame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A16589-879C-4564-8E60-B8F3439CF79C}"/>
              </a:ext>
            </a:extLst>
          </p:cNvPr>
          <p:cNvGraphicFramePr/>
          <p:nvPr/>
        </p:nvGraphicFramePr>
        <p:xfrm>
          <a:off xmlns:a="http://schemas.openxmlformats.org/drawingml/2006/main" x="777240" y="1752600"/>
          <a:ext xmlns:a="http://schemas.openxmlformats.org/drawingml/2006/main" cx="1060704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4171950"/>
                <a:gridCol w="4272915"/>
              </a:tblGrid>
              <a:tr h="4857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Собеседник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Разбираем прошлый случай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Какой факт нужен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</a:tr>
              <a:tr h="10572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Инженер станции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Последняя подготовка архива: шаги, переделки, ожидание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Где возникает затруднение, сколько времени уходит и чем пользуются сейчас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10572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Ремонтник или оператор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Один конкретный отказ: записи и действия до события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Что было доступно заранее и какое действие могло изменить исход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10572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Руководитель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Последняя оплаченная или отклонённая диагностика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Кто принимает решение, из какого бюджета и с чем сравнивает предложение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</a:tbl>
          </a:graphicData>
        </a:graphic>
      </p:graphicFrame>
      <p:sp>
        <p:nvSpPr>
          <p:cNvPr id="56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4F867573-6A53-44F2-958B-268FB0AC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19750"/>
            <a:ext cx="1060704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FFC857"/>
            </a:solidFill>
          </a:ln>
        </p:spPr>
      </p:sp>
      <p:sp>
        <p:nvSpPr>
          <p:cNvPr id="57" name="Если существующий способ устраивает, а по наш">
            <a:extLst xmlns:a="http://schemas.openxmlformats.org/drawingml/2006/main">
              <a:ext uri="{FF2B5EF4-FFF2-40B4-BE49-F238E27FC236}">
                <a16:creationId xmlns:a16="http://schemas.microsoft.com/office/drawing/2014/main" id="{DAB8A1A1-67D7-4617-873C-D992D18A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743575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Если существующий способ устраивает, а по нашему результату ничего не меняется, предложение нужно пересмотреть.</a:t>
            </a:r>
          </a:p>
        </p:txBody>
      </p:sp>
    </p:spTree>
    <p:extLst>
      <p:ext uri="{BB962C8B-B14F-4D97-AF65-F5344CB8AC3E}">
        <p14:creationId xmlns:p14="http://schemas.microsoft.com/office/powerpoint/2010/main" val="2008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8d1e0ed0bff49b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C417493-2B16-464F-8DAD-694F1932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ОБРАТНАЯ СВЯЗЬ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ACBE4CA1-887D-4114-B74E-26E9209F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Вопросы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экспертам</a:t>
            </a:r>
            <a:endParaRPr sz="30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0DCE96BD-CA58-43D3-AB34-7F85351C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10</a:t>
            </a:r>
            <a:endParaRPr sz="1100"/>
          </a:p>
        </p:txBody>
      </p:sp>
      <p:sp>
        <p:nvSpPr>
          <p:cNvPr id="39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C5F59A9A-AC8E-48C1-98CB-D615DC1B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24025"/>
            <a:ext cx="6248400" cy="3457575"/>
          </a:xfrm>
          <a:prstGeom xmlns:a="http://schemas.openxmlformats.org/drawingml/2006/main" prst="roundRect">
            <a:avLst>
              <a:gd name="adj" fmla="val 4132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40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C19C34CD-9977-404A-BB03-4AEFE56D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24025"/>
            <a:ext cx="4124325" cy="3457575"/>
          </a:xfrm>
          <a:prstGeom xmlns:a="http://schemas.openxmlformats.org/drawingml/2006/main" prst="roundRect">
            <a:avLst>
              <a:gd name="adj" fmla="val 4132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41" name="1">
            <a:extLst xmlns:a="http://schemas.openxmlformats.org/drawingml/2006/main">
              <a:ext uri="{FF2B5EF4-FFF2-40B4-BE49-F238E27FC236}">
                <a16:creationId xmlns:a16="http://schemas.microsoft.com/office/drawing/2014/main" id="{D9CAEB86-C906-445C-ADA5-0C47AB4F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7167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2" name="Какого результата не хватает инженеру, чтобы ">
            <a:extLst xmlns:a="http://schemas.openxmlformats.org/drawingml/2006/main">
              <a:ext uri="{FF2B5EF4-FFF2-40B4-BE49-F238E27FC236}">
                <a16:creationId xmlns:a16="http://schemas.microsoft.com/office/drawing/2014/main" id="{E0100540-275A-4A7F-B2D6-9B51E2FA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81200"/>
            <a:ext cx="5238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Какого результата не хватает инженеру, чтобы обоснованно передать решение руководителю?</a:t>
            </a:r>
          </a:p>
        </p:txBody>
      </p:sp>
      <p:sp>
        <p:nvSpPr>
          <p:cNvPr id="43" name="2">
            <a:extLst xmlns:a="http://schemas.openxmlformats.org/drawingml/2006/main">
              <a:ext uri="{FF2B5EF4-FFF2-40B4-BE49-F238E27FC236}">
                <a16:creationId xmlns:a16="http://schemas.microsoft.com/office/drawing/2014/main" id="{92C0984C-81C2-48A1-B0EB-9B1C12F3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4" name="Когда диагностика архива имеет самостоятельну">
            <a:extLst xmlns:a="http://schemas.openxmlformats.org/drawingml/2006/main">
              <a:ext uri="{FF2B5EF4-FFF2-40B4-BE49-F238E27FC236}">
                <a16:creationId xmlns:a16="http://schemas.microsoft.com/office/drawing/2014/main" id="{8EF1C6E4-D864-4048-B6E3-054E9D4D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86150"/>
            <a:ext cx="5238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Когда диагностика архива имеет самостоятельную ценность, а когда достаточно работы текущего подрядчика?</a:t>
            </a:r>
          </a:p>
        </p:txBody>
      </p:sp>
      <p:sp>
        <p:nvSpPr>
          <p:cNvPr id="45" name="Материалы проекта">
            <a:extLst xmlns:a="http://schemas.openxmlformats.org/drawingml/2006/main">
              <a:ext uri="{FF2B5EF4-FFF2-40B4-BE49-F238E27FC236}">
                <a16:creationId xmlns:a16="http://schemas.microsoft.com/office/drawing/2014/main" id="{915A57E6-3523-4FBA-9682-2BAC4F40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716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Материалы проекта</a:t>
            </a:r>
          </a:p>
        </p:txBody>
      </p:sp>
      <p:sp>
        <p:nvSpPr>
          <p:cNvPr id="46" name="Прототип в комплекте">
            <a:extLst xmlns:a="http://schemas.openxmlformats.org/drawingml/2006/main">
              <a:ext uri="{FF2B5EF4-FFF2-40B4-BE49-F238E27FC236}">
                <a16:creationId xmlns:a16="http://schemas.microsoft.com/office/drawing/2014/main" id="{B1CDCB64-FE11-408E-B6B7-17190402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908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b5dafa4792a241f3"/>
              </a:rPr>
              <a:t>Прототип в комплекте</a:t>
            </a:r>
          </a:p>
        </p:txBody>
      </p:sp>
      <p:sp>
        <p:nvSpPr>
          <p:cNvPr id="47" name="Сценарии и требования">
            <a:extLst xmlns:a="http://schemas.openxmlformats.org/drawingml/2006/main">
              <a:ext uri="{FF2B5EF4-FFF2-40B4-BE49-F238E27FC236}">
                <a16:creationId xmlns:a16="http://schemas.microsoft.com/office/drawing/2014/main" id="{ED28D074-AB89-42CF-95DD-F41E7216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242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e73ef1f157d0415d"/>
              </a:rPr>
              <a:t>Сценарии и требования</a:t>
            </a:r>
          </a:p>
        </p:txBody>
      </p:sp>
      <p:sp>
        <p:nvSpPr>
          <p:cNvPr id="48" name="USM">
            <a:extLst xmlns:a="http://schemas.openxmlformats.org/drawingml/2006/main">
              <a:ext uri="{FF2B5EF4-FFF2-40B4-BE49-F238E27FC236}">
                <a16:creationId xmlns:a16="http://schemas.microsoft.com/office/drawing/2014/main" id="{CDB64154-7A2B-4203-A05C-F8E6CAC8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576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95c51d0d30c64764"/>
              </a:rPr>
              <a:t>USM</a:t>
            </a:r>
          </a:p>
        </p:txBody>
      </p:sp>
      <p:sp>
        <p:nvSpPr>
          <p:cNvPr id="49" name="План кастдева">
            <a:extLst xmlns:a="http://schemas.openxmlformats.org/drawingml/2006/main">
              <a:ext uri="{FF2B5EF4-FFF2-40B4-BE49-F238E27FC236}">
                <a16:creationId xmlns:a16="http://schemas.microsoft.com/office/drawing/2014/main" id="{EC51366E-D2AB-4666-99A1-AA9087F2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910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fdb4cf1792314898"/>
              </a:rPr>
              <a:t>План кастдева</a:t>
            </a:r>
          </a:p>
        </p:txBody>
      </p:sp>
      <p:sp>
        <p:nvSpPr>
          <p:cNvPr id="50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8A3F80B9-0BEF-4C2B-801A-49FE51E1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43550"/>
            <a:ext cx="1060704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B8A1FF"/>
            </a:solidFill>
          </a:ln>
        </p:spPr>
      </p:sp>
      <p:sp>
        <p:nvSpPr>
          <p:cNvPr id="51" name="По обратной связи уточним границы сценария и ">
            <a:extLst xmlns:a="http://schemas.openxmlformats.org/drawingml/2006/main">
              <a:ext uri="{FF2B5EF4-FFF2-40B4-BE49-F238E27FC236}">
                <a16:creationId xmlns:a16="http://schemas.microsoft.com/office/drawing/2014/main" id="{05DD7ACA-FBE3-4B64-BAFC-BE3F151B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667375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По обратной связи уточним границы сценария и первоочередную проверку бизнес-гипотезы.</a:t>
            </a:r>
          </a:p>
        </p:txBody>
      </p:sp>
    </p:spTree>
    <p:extLst>
      <p:ext uri="{BB962C8B-B14F-4D97-AF65-F5344CB8AC3E}">
        <p14:creationId xmlns:p14="http://schemas.microsoft.com/office/powerpoint/2010/main" val="2009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3af32afd7a84bc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402E7B6-D897-484A-B73C-8FDDCCEB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ПРИЛОЖЕНИЕ 1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A5B6CA4-498E-43CD-824A-4C44AEB3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Требования</a:t>
            </a: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 к выбранному сценарию</a:t>
            </a:r>
            <a:endParaRPr sz="3000"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F0C9E18A-1EB9-4127-87D0-B3722DC4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11</a:t>
            </a:r>
            <a:endParaRPr sz="1100"/>
          </a:p>
        </p:txBody>
      </p:sp>
      <p:graphicFrame>
        <p:nvGraphicFrame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8A5DE6C-6421-4A30-825F-0AFFD4D05D3C}"/>
              </a:ext>
            </a:extLst>
          </p:cNvPr>
          <p:cNvGraphicFramePr/>
          <p:nvPr/>
        </p:nvGraphicFramePr>
        <p:xfrm>
          <a:off xmlns:a="http://schemas.openxmlformats.org/drawingml/2006/main" x="777240" y="1724025"/>
          <a:ext xmlns:a="http://schemas.openxmlformats.org/drawingml/2006/main" cx="1060704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4705350"/>
                <a:gridCol w="4806315"/>
              </a:tblGrid>
              <a:tr h="4476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Требование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Наблюдаемое поведение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US1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Показать объект, период и цель. Не продолжать без набора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Пустой выбор вызывает сообщение у поля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US2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Показать состав архива и причину каждого ограничения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Неизвестное время и отсутствие событий названы явно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US3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Принимать подтверждённый пояс и требовать повтор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Сохранение уточнения ещё не выдаёт итоговый вывод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US4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Объяснять границы результата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Нет журнала событий: ограничение прогноза отказов сохраняется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US5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Сохранять план по текущему результату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Файл содержит набор, вывод, ограничения и следующий шаг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</a:tbl>
          </a:graphicData>
        </a:graphic>
      </p:graphicFrame>
      <p:sp>
        <p:nvSpPr>
          <p:cNvPr id="68" name="НФТ макета: автономная работа без сети, возвр">
            <a:extLst xmlns:a="http://schemas.openxmlformats.org/drawingml/2006/main">
              <a:ext uri="{FF2B5EF4-FFF2-40B4-BE49-F238E27FC236}">
                <a16:creationId xmlns:a16="http://schemas.microsoft.com/office/drawing/2014/main" id="{B2B37AB3-B825-47A0-A676-E6264B16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34050"/>
            <a:ext cx="1060704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НФТ макета: автономная работа без сети, возврат без потери текущего выбора, сброс при смене набора, доступность действий на ширине 390 px.</a:t>
            </a:r>
          </a:p>
        </p:txBody>
      </p:sp>
    </p:spTree>
    <p:extLst>
      <p:ext uri="{BB962C8B-B14F-4D97-AF65-F5344CB8AC3E}">
        <p14:creationId xmlns:p14="http://schemas.microsoft.com/office/powerpoint/2010/main" val="2010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29021889784457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83343E0-1631-4F92-B436-8FF5E24B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ПРИЛОЖЕНИЕ 2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DFC278DC-9F75-4EA1-BFDE-C7B79260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Результат при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неполных данных</a:t>
            </a:r>
            <a:endParaRPr sz="30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33C6EFCE-97F0-4A90-9F88-E4E2845E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12</a:t>
            </a:r>
            <a:endParaRPr sz="1100"/>
          </a:p>
        </p:txBody>
      </p:sp>
      <p:sp>
        <p:nvSpPr>
          <p:cNvPr id="44" name="C2. Неизвестный часовой пояс">
            <a:extLst xmlns:a="http://schemas.openxmlformats.org/drawingml/2006/main">
              <a:ext uri="{FF2B5EF4-FFF2-40B4-BE49-F238E27FC236}">
                <a16:creationId xmlns:a16="http://schemas.microsoft.com/office/drawing/2014/main" id="{97967A5C-76BF-442B-A60B-B630E6AA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002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C2. Неизвестный часовой пояс</a:t>
            </a:r>
          </a:p>
        </p:txBody>
      </p:sp>
      <p:sp>
        <p:nvSpPr>
          <p:cNvPr id="45" name="C3. Нет истории событий">
            <a:extLst xmlns:a="http://schemas.openxmlformats.org/drawingml/2006/main">
              <a:ext uri="{FF2B5EF4-FFF2-40B4-BE49-F238E27FC236}">
                <a16:creationId xmlns:a16="http://schemas.microsoft.com/office/drawing/2014/main" id="{DB850D59-B873-4800-9041-452E238F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02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F8F"/>
                </a:solidFill>
                <a:latin typeface="Arial"/>
                <a:ea typeface="Arial"/>
                <a:cs typeface="Arial"/>
              </a:rPr>
              <a:t>C3. Нет истории событий</a:t>
            </a:r>
          </a:p>
        </p:txBody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8F6061-94ED-4BBD-837D-A3DF17829E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72ae663c94a3a"/>
          <a:stretch xmlns:a="http://schemas.openxmlformats.org/drawingml/2006/main"/>
        </p:blipFill>
        <p:spPr>
          <a:xfrm xmlns:a="http://schemas.openxmlformats.org/drawingml/2006/main">
            <a:off x="777240" y="2758335"/>
            <a:ext cx="5076825" cy="865081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3D6862-5A67-4F73-82AA-2346DD0FF5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aaf2861ba4ae0"/>
          <a:stretch xmlns:a="http://schemas.openxmlformats.org/drawingml/2006/main"/>
        </p:blipFill>
        <p:spPr>
          <a:xfrm xmlns:a="http://schemas.openxmlformats.org/drawingml/2006/main">
            <a:off x="6305550" y="2688876"/>
            <a:ext cx="5076825" cy="1003999"/>
          </a:xfrm>
          <a:prstGeom xmlns:a="http://schemas.openxmlformats.org/drawingml/2006/main" prst="rect">
            <a:avLst/>
          </a:prstGeom>
        </p:spPr>
      </p:pic>
      <p:sp>
        <p:nvSpPr>
          <p:cNvPr id="48" name="Если пояс неизвестен, инженер готовит запрос ">
            <a:extLst xmlns:a="http://schemas.openxmlformats.org/drawingml/2006/main">
              <a:ext uri="{FF2B5EF4-FFF2-40B4-BE49-F238E27FC236}">
                <a16:creationId xmlns:a16="http://schemas.microsoft.com/office/drawing/2014/main" id="{E60D653E-9A54-412A-9C72-EE0A9398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00550"/>
            <a:ext cx="507682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Если пояс неизвестен, инженер готовит запрос владельцу.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После подтверждения UTC+3 нужно повторить проверку.</a:t>
            </a:r>
          </a:p>
        </p:txBody>
      </p:sp>
      <p:sp>
        <p:nvSpPr>
          <p:cNvPr id="49" name="Инженер сохраняет запрос истории отказов и ре">
            <a:extLst xmlns:a="http://schemas.openxmlformats.org/drawingml/2006/main">
              <a:ext uri="{FF2B5EF4-FFF2-40B4-BE49-F238E27FC236}">
                <a16:creationId xmlns:a16="http://schemas.microsoft.com/office/drawing/2014/main" id="{EC48F895-1819-4F83-A42A-4E5A9A80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00550"/>
            <a:ext cx="507682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Инженер сохраняет запрос истории отказов и ремонтов.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Переход назад не снимает ограничение.</a:t>
            </a:r>
          </a:p>
        </p:txBody>
      </p:sp>
      <p:sp>
        <p:nvSpPr>
          <p:cNvPr id="50" name="Скриншоты учебного прототипа. Основная демонс">
            <a:extLst xmlns:a="http://schemas.openxmlformats.org/drawingml/2006/main">
              <a:ext uri="{FF2B5EF4-FFF2-40B4-BE49-F238E27FC236}">
                <a16:creationId xmlns:a16="http://schemas.microsoft.com/office/drawing/2014/main" id="{557D5BD9-3E6E-4F6A-A5D9-8C67FCFF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96000"/>
            <a:ext cx="106070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Скриншоты учебного прототипа. Основная демонстрация проходит в отдельном HTML-файле.</a:t>
            </a:r>
          </a:p>
        </p:txBody>
      </p:sp>
    </p:spTree>
    <p:extLst>
      <p:ext uri="{BB962C8B-B14F-4D97-AF65-F5344CB8AC3E}">
        <p14:creationId xmlns:p14="http://schemas.microsoft.com/office/powerpoint/2010/main" val="20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2026-10-25T09:30:09.3160000Z</dcterms:created>
  <dcterms:modified xsi:type="dcterms:W3CDTF">2026-10-25T09:30:09.3160000Z</dcterms:modified>
</coreProperties>
</file>