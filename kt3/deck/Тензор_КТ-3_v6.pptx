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616103a0d74de7" /><Relationship Type="http://schemas.openxmlformats.org/officeDocument/2006/relationships/extended-properties" Target="/docProps/app.xml" Id="R15e95402935a4d49" /><Relationship Type="http://schemas.openxmlformats.org/officeDocument/2006/relationships/officeDocument" Target="/ppt/presentation.xml" Id="R2b2b8880ddb3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8e92fdf3ae47ae"/>
  </p:sldMasterIdLst>
  <p:notesMasterIdLst>
    <p:notesMasterId xmlns:r="http://schemas.openxmlformats.org/officeDocument/2006/relationships" r:id="R686e9b750ec64c76"/>
  </p:notesMasterIdLst>
  <p:sldIdLst>
    <p:sldId xmlns:r="http://schemas.openxmlformats.org/officeDocument/2006/relationships" id="256" r:id="Re87e075a51294ba3"/>
    <p:sldId xmlns:r="http://schemas.openxmlformats.org/officeDocument/2006/relationships" id="257" r:id="Rbd3708452451480b"/>
    <p:sldId xmlns:r="http://schemas.openxmlformats.org/officeDocument/2006/relationships" id="258" r:id="Rb45d39f14211494b"/>
    <p:sldId xmlns:r="http://schemas.openxmlformats.org/officeDocument/2006/relationships" id="259" r:id="R50700159a59e48d7"/>
    <p:sldId xmlns:r="http://schemas.openxmlformats.org/officeDocument/2006/relationships" id="260" r:id="Raedf1c862aae4459"/>
    <p:sldId xmlns:r="http://schemas.openxmlformats.org/officeDocument/2006/relationships" id="261" r:id="R0f0dc5c0fae14776"/>
    <p:sldId xmlns:r="http://schemas.openxmlformats.org/officeDocument/2006/relationships" id="262" r:id="R14b7bf5aebfa4d30"/>
    <p:sldId xmlns:r="http://schemas.openxmlformats.org/officeDocument/2006/relationships" id="263" r:id="R198c3ffe71194572"/>
    <p:sldId xmlns:r="http://schemas.openxmlformats.org/officeDocument/2006/relationships" id="264" r:id="R0370b92df74944b4"/>
    <p:sldId xmlns:r="http://schemas.openxmlformats.org/officeDocument/2006/relationships" id="265" r:id="R04dfee0caec24a5e"/>
    <p:sldId xmlns:r="http://schemas.openxmlformats.org/officeDocument/2006/relationships" id="266" r:id="Rfa703424836d4941"/>
    <p:sldId xmlns:r="http://schemas.openxmlformats.org/officeDocument/2006/relationships" id="267" r:id="R8312316bc0964f34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0a997bf20f49d9" /><Relationship Type="http://schemas.openxmlformats.org/officeDocument/2006/relationships/slideMaster" Target="/ppt/slideMasters/slideMaster1.xml" Id="Rb18e92fdf3ae47ae" /><Relationship Type="http://schemas.openxmlformats.org/officeDocument/2006/relationships/notesMaster" Target="/ppt/notesMasters/notesMaster1.xml" Id="R686e9b750ec64c76" /><Relationship Type="http://schemas.openxmlformats.org/officeDocument/2006/relationships/presProps" Target="/ppt/presProps.xml" Id="R8222a822ca6b4805" /><Relationship Type="http://schemas.openxmlformats.org/officeDocument/2006/relationships/viewProps" Target="/ppt/viewProps.xml" Id="R32757c4fd71e4793" /><Relationship Type="http://schemas.openxmlformats.org/officeDocument/2006/relationships/tableStyles" Target="/ppt/tableStyles.xml" Id="R29c3ddd4198a4da2" /><Relationship Type="http://schemas.openxmlformats.org/officeDocument/2006/relationships/slide" Target="/ppt/slides/slide1.xml" Id="Re87e075a51294ba3" /><Relationship Type="http://schemas.openxmlformats.org/officeDocument/2006/relationships/slide" Target="/ppt/slides/slide2.xml" Id="Rbd3708452451480b" /><Relationship Type="http://schemas.openxmlformats.org/officeDocument/2006/relationships/slide" Target="/ppt/slides/slide3.xml" Id="Rb45d39f14211494b" /><Relationship Type="http://schemas.openxmlformats.org/officeDocument/2006/relationships/slide" Target="/ppt/slides/slide4.xml" Id="R50700159a59e48d7" /><Relationship Type="http://schemas.openxmlformats.org/officeDocument/2006/relationships/slide" Target="/ppt/slides/slide5.xml" Id="Raedf1c862aae4459" /><Relationship Type="http://schemas.openxmlformats.org/officeDocument/2006/relationships/slide" Target="/ppt/slides/slide6.xml" Id="R0f0dc5c0fae14776" /><Relationship Type="http://schemas.openxmlformats.org/officeDocument/2006/relationships/slide" Target="/ppt/slides/slide7.xml" Id="R14b7bf5aebfa4d30" /><Relationship Type="http://schemas.openxmlformats.org/officeDocument/2006/relationships/slide" Target="/ppt/slides/slide8.xml" Id="R198c3ffe71194572" /><Relationship Type="http://schemas.openxmlformats.org/officeDocument/2006/relationships/slide" Target="/ppt/slides/slide9.xml" Id="R0370b92df74944b4" /><Relationship Type="http://schemas.openxmlformats.org/officeDocument/2006/relationships/slide" Target="/ppt/slides/slide10.xml" Id="R04dfee0caec24a5e" /><Relationship Type="http://schemas.openxmlformats.org/officeDocument/2006/relationships/slide" Target="/ppt/slides/slide11.xml" Id="Rfa703424836d4941" /><Relationship Type="http://schemas.openxmlformats.org/officeDocument/2006/relationships/slide" Target="/ppt/slides/slide12.xml" Id="R8312316bc0964f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39ccfb61be4b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7271ae7c484ada" /><Relationship Type="http://schemas.openxmlformats.org/officeDocument/2006/relationships/notesMaster" Target="/ppt/notesMasters/notesMaster1.xml" Id="R95c7534f01774c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1d248efe7541f5" /><Relationship Type="http://schemas.openxmlformats.org/officeDocument/2006/relationships/notesMaster" Target="/ppt/notesMasters/notesMaster1.xml" Id="Re8e4cb2b92f64d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75a0fe57b54aa2" /><Relationship Type="http://schemas.openxmlformats.org/officeDocument/2006/relationships/notesMaster" Target="/ppt/notesMasters/notesMaster1.xml" Id="R70151889efd74a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c6f84a49a840c2" /><Relationship Type="http://schemas.openxmlformats.org/officeDocument/2006/relationships/notesMaster" Target="/ppt/notesMasters/notesMaster1.xml" Id="R5730142a7b8c49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22002c971d4255" /><Relationship Type="http://schemas.openxmlformats.org/officeDocument/2006/relationships/notesMaster" Target="/ppt/notesMasters/notesMaster1.xml" Id="R94686eecba4b4f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be0bd5084145e9" /><Relationship Type="http://schemas.openxmlformats.org/officeDocument/2006/relationships/notesMaster" Target="/ppt/notesMasters/notesMaster1.xml" Id="R8b61bb015f8842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e2b98890124521" /><Relationship Type="http://schemas.openxmlformats.org/officeDocument/2006/relationships/notesMaster" Target="/ppt/notesMasters/notesMaster1.xml" Id="Rda4d4fa1f5de4c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83bc62c13447fd" /><Relationship Type="http://schemas.openxmlformats.org/officeDocument/2006/relationships/notesMaster" Target="/ppt/notesMasters/notesMaster1.xml" Id="Rfa1648708ce941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0f6778f3cc4cd6" /><Relationship Type="http://schemas.openxmlformats.org/officeDocument/2006/relationships/notesMaster" Target="/ppt/notesMasters/notesMaster1.xml" Id="Re3abda17c7e843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757b19eb874086" /><Relationship Type="http://schemas.openxmlformats.org/officeDocument/2006/relationships/notesMaster" Target="/ppt/notesMasters/notesMaster1.xml" Id="R2507c2f5c31742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bb45d173ca4758" /><Relationship Type="http://schemas.openxmlformats.org/officeDocument/2006/relationships/notesMaster" Target="/ppt/notesMasters/notesMaster1.xml" Id="Reef6341f2e5943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72dbc31cbb4f9b" /><Relationship Type="http://schemas.openxmlformats.org/officeDocument/2006/relationships/notesMaster" Target="/ppt/notesMasters/notesMaster1.xml" Id="R6b7f98bbe94b4e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«Тензор» исследует, как заранее замечать отклонения и помогать инженеру готовить обслуживание. Для КТ-3 выбран питательный насос ТЭС. Показываем законченный пользовательский путь от предупреждения до задания. Данные и ответ модели учебные. Трёхмерная схема помогает ориентироваться в узлах, но не является физическим цифровым двойником.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https://github.com/shevchenko9liza/ai-cu-tenzor/blob/main/lab05/prototype.html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Гипотеза состоит в том, что между уже имеющимся сигналом и согласованным действием остаётся незакрытая задача. Инженеру нужны контекст, понятные основания и возможность передать задание. Заказчиком может быть технический руководитель станции, но конкретного плательщика и бюджет ещё предстоит установить. Рассматриваем платный ограниченный пилот, после него лицензию и сопровождение. Цену и окупаемость не заявляем. Сравнивать нужно с действующими АСУ ТП, диагностикой и ТОиР, а не с отсутствием инструментов.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Опираемся на два реальных разговора, но не преувеличиваем силу этих оснований. Первый собеседник видит ремонты со стороны. Во втором случае есть интерес руководителя станции, но только конспект, без аудио, и архив не исследован. Питательный насос сейчас конкретизирует макет, а не означает, что он согласован в качестве пилотного оборудования. Технические источники Sulzer и KSB подтверждают правдоподобность рисков этого класса, но не неисправность нашего объекта. Новый синтетический разбор четырёх ролей уточнил сценарий: место измерения у опоры не равно доказанному дефекту. У критичного насоса уже может быть развитая диагностика, поэтому отдельно проверим, что именно остаётся нерешённым.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https://github.com/shevchenko9liza/ai-cu-tenzor/blob/main/course/sources.md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https://github.com/shevchenko9liza/ai-cu-tenzor/blob/main/business/synthetic-interviews-pump.md</a:t>
            </a:r>
            <a:endParaRPr/>
          </a:p>
          <a:p xmlns:a="http://schemas.openxmlformats.org/drawingml/2006/main">
            <a:r>
              <a:t>https://go.sulzer.com/boiler_feed_pump_risks_and_repair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пользователь — инженер станции. Ему нужен связанный путь, который заканчивается конкретным заданием. Поэтому мы включили поиск объекта, проверку оснований, выбор действия и запись результата. Отдельная ветка нужна, чтобы отсутствие данных не превращалось в выдуманный диагноз. Согласование реальных работ, действие ремонтника, подключение датчиков и обучение модели остаются за пределами макета. Проверка архива сохранена как подготовка пилота, но не занимает место основного пользовательского результата.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https://github.com/shevchenko9liza/ai-cu-tenzor/blob/main/lab05/part1.md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связывает пять этапов одной работы. На каждом видны действие инженера, ответ интерфейса и возможность продолжить или вернуться. Неизвестные сведения не превращаются в подтверждённые. Черновик сохраняется при возврате в текущей вкладке. Для ПН-03 предусмотрен запрос на канал и отдельная последовательность сохранения учебного подтверждения и повторной проверки. Задание и его результат остаются в журнале, но запись исхода не закрывает предупреждение автоматически.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Предупреждение ПН-01 содержит несколько изменившихся показаний, но не готовый диагноз. ПН-03 нужен для проверки доверия к данным: старое значение не описывает текущее состояние. ПН-02 и ПН-04 показывают, что интерфейс не должен создавать тревогу ради демонстрации. Точный срок отказа и остаточный ресурс здесь отсутствуют. Даже формулировка о развитии сигнала за неделю — заранее заданный учебный ответ.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HTML из комплекта. На главном экране видны итог, оценки показателей и следующие действия. По ссылке схемы можно перейти от ПДУ к ПЭН-1А и его узлам; исходные снимки датированы 1 марта 2022 года и не подтверждают текущую неисправность. Показываем метки на узлах: у опоры видны отклонение, значения и следующая проверка. Линии остаются связаны с деталями при вращении. Затем раскрываем внутренние детали и пояснение показателя: смысл, единицы, контекст, следующий шаг и границы вывода. Затем ПН-01: карточка, разбор предупреждения, диагностика, обязательные поля, создание и скачивание задания. Показываем, что пустое поле даёт понятную ошибку. Переходим к ПН-03: неизвестную причину нельзя подтвердить. Можно создать запрос на данные или разыграть получение учебного проверенного пакета, сохранить и отдельно повторить проверку. Ввод и результаты вымышлены. Если ссылка не открывается, открыть lab05/prototype.html в распакованном комплекте.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https://github.com/shevchenko9liza/ai-cu-tenzor/blob/main/lab05/prototype.html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Проверяем не привлекательность интерфейса, а самостоятельность действий и понимание. Сможет ли инженер объяснить, почему нужен следующий шаг? Не воспринимает ли условные числа как реальные уставки? Не принимает ли отсутствие данных за аварию? До теста согласуем критерий успеха и будем фиксировать реальные наблюдения. Ранее переданное прохождение касалось проверки архива и не считается тестом нового продукта.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  <a:p xmlns:a="http://schemas.openxmlformats.org/drawingml/2006/main">
            <a:r>
              <a:t>https://github.com/shevchenko9liza/ai-cu-tenzor/blob/main/lab05/decisions.md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исследуем прошлый случай без показа продукта. Нам нужен факт трудности между сигналом и решением, а не ответ о том, нравится ли макет. Отдельно выясняем, можно ли было изменить исход и какие затраты действительно возникли. Руководителя спрашиваем о прошлой покупке и реальном бюджете. Конкретно согласованный пилот сильнее общей заинтересованности, но даже он ещё не доказывает окупаемость.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Просим экспертов указать, какого основания для решения не хватает, где продукт дублирует текущий процесс и какой случай нужно проверить первым. По итогам встречи команда обновит приоритеты. Индивидуальную рефлексию каждый пишет самостоятельно по требованиям курса.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https://github.com/shevchenko9liza/ai-cu-tenzor/blob/main/kt3/checklist.md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для сверки требований с поведением интерфейса. У каждой группы требований есть наблюдаемая проверка. Технический прогон не заменяет проверку удобства инженером и не подтверждает прогнозную модель. 3D-навигация дополняет кнопки, а при недоступном WebGL пояснения и рабочий путь сохраняются.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  <a:p xmlns:a="http://schemas.openxmlformats.org/drawingml/2006/main">
            <a:r>
              <a:t>https://github.com/shevchenko9liza/ai-cu-tenzor/blob/main/lab05/verification.md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предоставленной участницей команды папке «видеокадры БЛ1» найдены экраны ПДУ и контроля параметров ПЭН-А,Б. Происхождение от предприятия сообщено пользователем; название предприятия и актуальность независимо не установлены. На ПДУ ПЭН-1А расположен справа от деаэратора, в нижней центральной части. На параметрах верхняя половина относится к ПЭН-1А. ПН-01 связан с ним только для ориентации в учебном макете. У исходных изображений по просьбе пользователя обрезаны служебные полосы. Технологическая область сохранена без перерисовки. Текущие значения, диагноз, метод RMS и геометрия не подтверждаются этими снимками.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https://github.com/shevchenko9liza/ai-cu-tenzor/blob/main/lab05/plant-scheme.md</a:t>
            </a:r>
            <a:endParaRPr/>
          </a:p>
          <a:p xmlns:a="http://schemas.openxmlformats.org/drawingml/2006/main">
            <a:r>
              <a:t>https://github.com/shevchenko9liza/ai-cu-tenzor/blob/main/lab05/assets/pdu-scheme.png</a:t>
            </a:r>
            <a:endParaRPr/>
          </a:p>
          <a:p xmlns:a="http://schemas.openxmlformats.org/drawingml/2006/main">
            <a:r>
              <a:t>https://github.com/shevchenko9liza/ai-cu-tenzor/blob/main/lab05/assets/pen-ab-scheme.png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5e0bcc3d94a8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a8a4dd59984ec9" /><Relationship Type="http://schemas.openxmlformats.org/officeDocument/2006/relationships/slideLayout" Target="/ppt/slideLayouts/slideLayout1.xml" Id="R4c165ab4b7d2426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65ab4b7d2426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3bf5a12154271" /><Relationship Type="http://schemas.openxmlformats.org/officeDocument/2006/relationships/image" Target="/ppt/media/image.png" Id="R9ad09b72d8f44b50" /><Relationship Type="http://schemas.openxmlformats.org/officeDocument/2006/relationships/image" Target="/ppt/media/image2.png" Id="Rf531a34dfb714754" /><Relationship Type="http://schemas.openxmlformats.org/officeDocument/2006/relationships/notesSlide" Target="/ppt/notesSlides/notesSlide1.xml" Id="R92b26bb15add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7bfd3cc584db3" /><Relationship Type="http://schemas.openxmlformats.org/officeDocument/2006/relationships/image" Target="/ppt/media/image3.png" Id="R1fcc08ad9e714489" /><Relationship Type="http://schemas.openxmlformats.org/officeDocument/2006/relationships/notesSlide" Target="/ppt/notesSlides/notesSlide2.xml" Id="Rba2ffb80217b49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ac7a8dd6d44f0" /><Relationship Type="http://schemas.openxmlformats.org/officeDocument/2006/relationships/image" Target="/ppt/media/image4.png" Id="Rb007eb9803774f8d" /><Relationship Type="http://schemas.openxmlformats.org/officeDocument/2006/relationships/notesSlide" Target="/ppt/notesSlides/notesSlide3.xml" Id="Re65efdeb5ff440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966fbad174911" /><Relationship Type="http://schemas.openxmlformats.org/officeDocument/2006/relationships/image" Target="/ppt/media/image5.png" Id="R7bb604d2b89a4644" /><Relationship Type="http://schemas.openxmlformats.org/officeDocument/2006/relationships/notesSlide" Target="/ppt/notesSlides/notesSlide4.xml" Id="R2e508440a9ed4b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328e028ad446a" /><Relationship Type="http://schemas.openxmlformats.org/officeDocument/2006/relationships/image" Target="/ppt/media/image6.png" Id="R5db3b323beb7429a" /><Relationship Type="http://schemas.openxmlformats.org/officeDocument/2006/relationships/notesSlide" Target="/ppt/notesSlides/notesSlide5.xml" Id="Re81093f0d5474f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48b19639f487f" /><Relationship Type="http://schemas.openxmlformats.org/officeDocument/2006/relationships/image" Target="/ppt/media/image7.png" Id="R5573b74e149c4f9a" /><Relationship Type="http://schemas.openxmlformats.org/officeDocument/2006/relationships/notesSlide" Target="/ppt/notesSlides/notesSlide6.xml" Id="R8a49605107f24e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05663f9b24b88" /><Relationship Type="http://schemas.openxmlformats.org/officeDocument/2006/relationships/image" Target="/ppt/media/image8.png" Id="R2ede6f1afabb471c" /><Relationship Type="http://schemas.openxmlformats.org/officeDocument/2006/relationships/image" Target="/ppt/media/image9.png" Id="Rec070bb4df414ff8" /><Relationship Type="http://schemas.openxmlformats.org/officeDocument/2006/relationships/hyperlink" Target="../../lab05/prototype.html" TargetMode="External" Id="R8e01ef1cb01647f5" /><Relationship Type="http://schemas.openxmlformats.org/officeDocument/2006/relationships/notesSlide" Target="/ppt/notesSlides/notesSlide7.xml" Id="R589063c3409443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57e9cc7e0490a" /><Relationship Type="http://schemas.openxmlformats.org/officeDocument/2006/relationships/image" Target="/ppt/media/image10.png" Id="R4bba3f839a44489c" /><Relationship Type="http://schemas.openxmlformats.org/officeDocument/2006/relationships/notesSlide" Target="/ppt/notesSlides/notesSlide8.xml" Id="Rd1b16a81ab134a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8ba991a63428f" /><Relationship Type="http://schemas.openxmlformats.org/officeDocument/2006/relationships/image" Target="/ppt/media/image11.png" Id="Ree041d48bc4544aa" /><Relationship Type="http://schemas.openxmlformats.org/officeDocument/2006/relationships/notesSlide" Target="/ppt/notesSlides/notesSlide9.xml" Id="R26f6b8ef0e2e4c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37a17f4b74dde" /><Relationship Type="http://schemas.openxmlformats.org/officeDocument/2006/relationships/image" Target="/ppt/media/image12.png" Id="R32668722ec9c445d" /><Relationship Type="http://schemas.openxmlformats.org/officeDocument/2006/relationships/hyperlink" Target="../../lab05/prototype.html" TargetMode="External" Id="R57b43b12e2e24932" /><Relationship Type="http://schemas.openxmlformats.org/officeDocument/2006/relationships/hyperlink" Target="https://github.com/shevchenko9liza/ai-cu-tenzor/blob/main/kt3/usm.md" TargetMode="External" Id="R8f61f1fbd37548aa" /><Relationship Type="http://schemas.openxmlformats.org/officeDocument/2006/relationships/hyperlink" Target="https://github.com/shevchenko9liza/ai-cu-tenzor/blob/main/business/custdev-plan.md" TargetMode="External" Id="R4cdc1582b134440c" /><Relationship Type="http://schemas.openxmlformats.org/officeDocument/2006/relationships/notesSlide" Target="/ppt/notesSlides/notesSlide10.xml" Id="R9ca955c1c55c4c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d4174e85c4b5b" /><Relationship Type="http://schemas.openxmlformats.org/officeDocument/2006/relationships/image" Target="/ppt/media/image6.png" Id="R65a64739553f4b23" /><Relationship Type="http://schemas.openxmlformats.org/officeDocument/2006/relationships/notesSlide" Target="/ppt/notesSlides/notesSlide11.xml" Id="Re3efee3391974f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19b5f467042d1" /><Relationship Type="http://schemas.openxmlformats.org/officeDocument/2006/relationships/image" Target="/ppt/media/image8.png" Id="R08ef779215944486" /><Relationship Type="http://schemas.openxmlformats.org/officeDocument/2006/relationships/image" Target="/ppt/media/image13.png" Id="R88ff56b2dbbf4ee5" /><Relationship Type="http://schemas.openxmlformats.org/officeDocument/2006/relationships/image" Target="/ppt/media/image14.png" Id="R98176494b4c044eb" /><Relationship Type="http://schemas.openxmlformats.org/officeDocument/2006/relationships/notesSlide" Target="/ppt/notesSlides/notesSlide12.xml" Id="R774cfa3999aa49f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ad09b72d8f44b5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155336-D7F1-4CEC-B214-090A7AD7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КТ-3  ПОЛЬЗОВАТЕЛЬСКИЙ СЦЕНАРИЙ</a:t>
            </a:r>
            <a:endParaRPr sz="1200"/>
          </a:p>
        </p:txBody>
      </p:sp>
      <p:sp>
        <p:nvSpPr>
          <p:cNvPr id="3" name="Логотип">
            <a:extLst xmlns:a="http://schemas.openxmlformats.org/drawingml/2006/main">
              <a:ext uri="{FF2B5EF4-FFF2-40B4-BE49-F238E27FC236}">
                <a16:creationId xmlns:a16="http://schemas.microsoft.com/office/drawing/2014/main" id="{E20E24DC-2442-4AA1-9617-72C94349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51560"/>
            <a:ext cx="51206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Тен</a:t>
            </a:r>
            <a:r>
              <a:rPr sz="6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зор</a:t>
            </a:r>
            <a:endParaRPr sz="6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CB12FA5-7AE4-4B7D-9C2B-BFB453CF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5349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buNone/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DDE0E7"/>
                </a:solidFill>
                <a:latin typeface="Arial"/>
                <a:ea typeface="Arial"/>
                <a:cs typeface="Arial"/>
              </a:rPr>
              <a:t>Раннее предупреждение и решение инженера по насосу ТЭС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EF63DC-322B-4FBE-ACC0-B5CFF568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91840"/>
            <a:ext cx="1143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Для кого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851A05-3DEC-4F13-B905-BDFC038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291840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 станции, который разбирает сигнал и готовит обслуживание</a:t>
            </a:r>
            <a:endParaRPr sz="13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F905D99-7076-4E86-8A5B-800EA23F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143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Результат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4B93D41-5F29-4E0A-AC65-E520A17A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13632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Обоснованное задание с ответственным, сроком и ожидаемым результатом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EACB8A-3705-4601-B754-AF33AD4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35424"/>
            <a:ext cx="1143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Объект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62B739E-CD0B-4584-8A12-1A626739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35424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Питательный насос ТЭС. Класс для демонстрации, требует проверки с заказчиком</a:t>
            </a:r>
            <a:endParaRPr sz="13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0E43EE5-5928-4AA2-A8E3-616C1DCB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534924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2700">
            <a:solidFill>
              <a:srgbClr val="B8A1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2A7D4FD-56E3-4352-9C0E-E6827773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5349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Учебный макет. Данные и ответы вымышлены</a:t>
            </a:r>
            <a:endParaRPr sz="1300"/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A8194-C682-49F8-A65E-5DE606FFF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1a34dfb714754"/>
          <a:stretch xmlns:a="http://schemas.openxmlformats.org/drawingml/2006/main"/>
        </p:blipFill>
        <p:spPr>
          <a:xfrm xmlns:a="http://schemas.openxmlformats.org/drawingml/2006/main">
            <a:off x="6355080" y="1484951"/>
            <a:ext cx="5120640" cy="3354698"/>
          </a:xfrm>
          <a:prstGeom xmlns:a="http://schemas.openxmlformats.org/drawingml/2006/main" prst="rect">
            <a:avLst/>
          </a:prstGeom>
        </p:spPr>
      </p:pic>
      <p:sp>
        <p:nvSpPr>
          <p:cNvPr id="14" name="3D-схема помогает выбрать узел.&#10;Физическая мо">
            <a:extLst xmlns:a="http://schemas.openxmlformats.org/drawingml/2006/main">
              <a:ext uri="{FF2B5EF4-FFF2-40B4-BE49-F238E27FC236}">
                <a16:creationId xmlns:a16="http://schemas.microsoft.com/office/drawing/2014/main" id="{34397137-E046-43EC-9026-C6A76B12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3D-схема помогает выбрать узел.</a:t>
            </a:r>
          </a:p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Физическая модель насоса не реализована.</a:t>
            </a:r>
          </a:p>
        </p:txBody>
      </p:sp>
      <p:sp>
        <p:nvSpPr>
          <p:cNvPr id="15" name="Команда «Тензор»  /  ИИ-центричное предприним">
            <a:extLst xmlns:a="http://schemas.openxmlformats.org/drawingml/2006/main">
              <a:ext uri="{FF2B5EF4-FFF2-40B4-BE49-F238E27FC236}">
                <a16:creationId xmlns:a16="http://schemas.microsoft.com/office/drawing/2014/main" id="{192DA09C-F1FE-41B4-9C3F-EF9FE7DB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48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7F8E"/>
                </a:solidFill>
                <a:latin typeface="Arial"/>
                <a:ea typeface="Arial"/>
                <a:cs typeface="Arial"/>
              </a:rPr>
              <a:t>Команда «Тензор»  /  ИИ-центричное предпринимательство  /  25.10.2026</a:t>
            </a:r>
          </a:p>
        </p:txBody>
      </p:sp>
    </p:spTree>
    <p:extLst>
      <p:ext uri="{BB962C8B-B14F-4D97-AF65-F5344CB8AC3E}">
        <p14:creationId xmlns:p14="http://schemas.microsoft.com/office/powerpoint/2010/main" val="200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fcc08ad9e71448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2A57A2-3B36-4156-8C25-C8C925D1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КЛИЕНТ И ЦЕННОСТЬ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008AC1A-46B2-43AD-8E7D-221A27A4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Проблема между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сигналом и действием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EC20578-8158-4CC8-A4D3-38226DCA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17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6C9D6C42-69C6-4E19-B1A2-C862D807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3550"/>
            <a:ext cx="5095875" cy="3381375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18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C0D6F23B-8BC9-410F-ACA7-856C8AAC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33550"/>
            <a:ext cx="5276850" cy="3381375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19" name="Пользователь и задача">
            <a:extLst xmlns:a="http://schemas.openxmlformats.org/drawingml/2006/main">
              <a:ext uri="{FF2B5EF4-FFF2-40B4-BE49-F238E27FC236}">
                <a16:creationId xmlns:a16="http://schemas.microsoft.com/office/drawing/2014/main" id="{BACC30EC-4E5B-4D3B-9E10-2C3C5685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Пользователь и задача</a:t>
            </a:r>
          </a:p>
        </p:txBody>
      </p:sp>
      <p:sp>
        <p:nvSpPr>
          <p:cNvPr id="20" name="Инженеру нужно связать изменение показаний с ">
            <a:extLst xmlns:a="http://schemas.openxmlformats.org/drawingml/2006/main">
              <a:ext uri="{FF2B5EF4-FFF2-40B4-BE49-F238E27FC236}">
                <a16:creationId xmlns:a16="http://schemas.microsoft.com/office/drawing/2014/main" id="{96B09FFB-2BF7-402D-A333-62EAD128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3175"/>
            <a:ext cx="45339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Инженеру нужно связать изменение показаний с контекстом и подготовить обоснованное действие.</a:t>
            </a:r>
          </a:p>
        </p:txBody>
      </p:sp>
      <p:sp>
        <p:nvSpPr>
          <p:cNvPr id="21" name="Гипотеза проблемы: полезное предупреждение те">
            <a:extLst xmlns:a="http://schemas.openxmlformats.org/drawingml/2006/main">
              <a:ext uri="{FF2B5EF4-FFF2-40B4-BE49-F238E27FC236}">
                <a16:creationId xmlns:a16="http://schemas.microsoft.com/office/drawing/2014/main" id="{F05AD5BC-77A6-4D1C-8588-8B37E567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4533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Гипотеза проблемы: полезное предупреждение теряется в разрозненных данных или не доходит до задания.</a:t>
            </a:r>
          </a:p>
        </p:txBody>
      </p:sp>
      <p:sp>
        <p:nvSpPr>
          <p:cNvPr id="22" name="Кто покупает и за что">
            <a:extLst xmlns:a="http://schemas.openxmlformats.org/drawingml/2006/main">
              <a:ext uri="{FF2B5EF4-FFF2-40B4-BE49-F238E27FC236}">
                <a16:creationId xmlns:a16="http://schemas.microsoft.com/office/drawing/2014/main" id="{5F897097-2F7C-459C-8152-E0072CD0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Кто покупает и за что</a:t>
            </a:r>
          </a:p>
        </p:txBody>
      </p:sp>
      <p:sp>
        <p:nvSpPr>
          <p:cNvPr id="23" name="Заказчик: технический руководитель станции. П">
            <a:extLst xmlns:a="http://schemas.openxmlformats.org/drawingml/2006/main">
              <a:ext uri="{FF2B5EF4-FFF2-40B4-BE49-F238E27FC236}">
                <a16:creationId xmlns:a16="http://schemas.microsoft.com/office/drawing/2014/main" id="{B204811C-8796-475F-BED2-7A855FD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Заказчик: технический руководитель станции. Плательщик и бюджет уточняются.</a:t>
            </a:r>
          </a:p>
        </p:txBody>
      </p:sp>
      <p:sp>
        <p:nvSpPr>
          <p:cNvPr id="24" name="Гипотеза оплаты: ограниченный платный пилот, ">
            <a:extLst xmlns:a="http://schemas.openxmlformats.org/drawingml/2006/main">
              <a:ext uri="{FF2B5EF4-FFF2-40B4-BE49-F238E27FC236}">
                <a16:creationId xmlns:a16="http://schemas.microsoft.com/office/drawing/2014/main" id="{56688EB8-20A4-46FE-9A5E-49C4B93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90925"/>
            <a:ext cx="4762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Гипотеза оплаты: ограниченный платный пилот, затем лицензия и сопровождение по охвату оборудования.</a:t>
            </a:r>
          </a:p>
        </p:txBody>
      </p:sp>
      <p:sp>
        <p:nvSpPr>
          <p:cNvPr id="25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A88F16DA-3EEF-4C3C-A63A-E2007A8B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29250"/>
            <a:ext cx="10607040" cy="7429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26" name="Ожидаемая ценность: меньше предотвращаемых вн">
            <a:extLst xmlns:a="http://schemas.openxmlformats.org/drawingml/2006/main">
              <a:ext uri="{FF2B5EF4-FFF2-40B4-BE49-F238E27FC236}">
                <a16:creationId xmlns:a16="http://schemas.microsoft.com/office/drawing/2014/main" id="{7BB66408-F96C-434D-8CD6-CAB82BA4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53075"/>
            <a:ext cx="1017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Ожидаемая ценность: меньше предотвращаемых внеплановых простоев. Экономия и готовность платить не доказаны.</a:t>
            </a:r>
          </a:p>
        </p:txBody>
      </p:sp>
    </p:spTree>
    <p:extLst>
      <p:ext uri="{BB962C8B-B14F-4D97-AF65-F5344CB8AC3E}">
        <p14:creationId xmlns:p14="http://schemas.microsoft.com/office/powerpoint/2010/main" val="200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007eb9803774f8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FA0590-CED7-4447-AC68-CD25742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ОСНОВАНИЯ КТ-2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9980C22-F26D-4D32-B420-15603B02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Что поддерживает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выбранный путь</a:t>
            </a:r>
            <a:endParaRPr sz="3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3F4136-0F59-40A4-A261-957F8002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22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6700D3A-43C3-4978-B87B-2B25F64C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3550"/>
            <a:ext cx="5095875" cy="33718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23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5B6FFF19-99AF-4229-9FEC-2F2E7720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733550"/>
            <a:ext cx="5276850" cy="33718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24" name="R1  Аналитик холдинга">
            <a:extLst xmlns:a="http://schemas.openxmlformats.org/drawingml/2006/main">
              <a:ext uri="{FF2B5EF4-FFF2-40B4-BE49-F238E27FC236}">
                <a16:creationId xmlns:a16="http://schemas.microsoft.com/office/drawing/2014/main" id="{4CB600E4-4B48-4A03-A0D4-4F33A7E4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R1  Аналитик холдинга</a:t>
            </a:r>
          </a:p>
        </p:txBody>
      </p:sp>
      <p:sp>
        <p:nvSpPr>
          <p:cNvPr id="25" name="09.10  Интервью с записью">
            <a:extLst xmlns:a="http://schemas.openxmlformats.org/drawingml/2006/main">
              <a:ext uri="{FF2B5EF4-FFF2-40B4-BE49-F238E27FC236}">
                <a16:creationId xmlns:a16="http://schemas.microsoft.com/office/drawing/2014/main" id="{DF4310FC-0B97-412F-A500-DA062397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66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09.10  Интервью с записью</a:t>
            </a:r>
          </a:p>
        </p:txBody>
      </p:sp>
      <p:sp>
        <p:nvSpPr>
          <p:cNvPr id="26" name="Контекст доверия к датчикам и организации рем">
            <a:extLst xmlns:a="http://schemas.openxmlformats.org/drawingml/2006/main">
              <a:ext uri="{FF2B5EF4-FFF2-40B4-BE49-F238E27FC236}">
                <a16:creationId xmlns:a16="http://schemas.microsoft.com/office/drawing/2014/main" id="{E6393C0F-BB9B-4495-88E4-37CB1B74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4572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Контекст доверия к датчикам и организации ремонта.</a:t>
            </a:r>
          </a:p>
        </p:txBody>
      </p:sp>
      <p:sp>
        <p:nvSpPr>
          <p:cNvPr id="27" name="Собеседник не инженер ТЭС. Его опыт нельзя пе">
            <a:extLst xmlns:a="http://schemas.openxmlformats.org/drawingml/2006/main">
              <a:ext uri="{FF2B5EF4-FFF2-40B4-BE49-F238E27FC236}">
                <a16:creationId xmlns:a16="http://schemas.microsoft.com/office/drawing/2014/main" id="{4E782033-28F6-4798-BDBD-7DB36ED1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4572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Собеседник не инженер ТЭС. Его опыт нельзя переносить на весь сегмент.</a:t>
            </a:r>
          </a:p>
        </p:txBody>
      </p:sp>
      <p:sp>
        <p:nvSpPr>
          <p:cNvPr id="28" name="R2  Руководитель станции">
            <a:extLst xmlns:a="http://schemas.openxmlformats.org/drawingml/2006/main">
              <a:ext uri="{FF2B5EF4-FFF2-40B4-BE49-F238E27FC236}">
                <a16:creationId xmlns:a16="http://schemas.microsoft.com/office/drawing/2014/main" id="{7FFE9ECB-C0F7-43D0-97F6-1EF7A236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R2  Руководитель станции</a:t>
            </a:r>
          </a:p>
        </p:txBody>
      </p:sp>
      <p:sp>
        <p:nvSpPr>
          <p:cNvPr id="29" name="10.10  Конспект без аудиозаписи">
            <a:extLst xmlns:a="http://schemas.openxmlformats.org/drawingml/2006/main">
              <a:ext uri="{FF2B5EF4-FFF2-40B4-BE49-F238E27FC236}">
                <a16:creationId xmlns:a16="http://schemas.microsoft.com/office/drawing/2014/main" id="{15F75BE4-2A9C-414E-B0F9-06F99FE0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10.10  Конспект без аудиозаписи</a:t>
            </a:r>
          </a:p>
        </p:txBody>
      </p:sp>
      <p:sp>
        <p:nvSpPr>
          <p:cNvPr id="30" name="Интерес к прогнозу ремонтов и аварий. Упомина">
            <a:extLst xmlns:a="http://schemas.openxmlformats.org/drawingml/2006/main">
              <a:ext uri="{FF2B5EF4-FFF2-40B4-BE49-F238E27FC236}">
                <a16:creationId xmlns:a16="http://schemas.microsoft.com/office/drawing/2014/main" id="{B9EEC9CF-641B-4156-921E-49E44AC2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4762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Интерес к прогнозу ремонтов и аварий. Упоминание архива и недавнего отказа.</a:t>
            </a:r>
          </a:p>
        </p:txBody>
      </p:sp>
      <p:sp>
        <p:nvSpPr>
          <p:cNvPr id="31" name="Архив не изучен. Конкретный насос и сценарий ">
            <a:extLst xmlns:a="http://schemas.openxmlformats.org/drawingml/2006/main">
              <a:ext uri="{FF2B5EF4-FFF2-40B4-BE49-F238E27FC236}">
                <a16:creationId xmlns:a16="http://schemas.microsoft.com/office/drawing/2014/main" id="{05649460-2444-420B-A2C8-C8E4EA3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Архив не изучен. Конкретный насос и сценарий с инженером ещё не проверены.</a:t>
            </a:r>
          </a:p>
        </p:txBody>
      </p:sp>
      <p:sp>
        <p:nvSpPr>
          <p:cNvPr id="32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E8669AAD-6655-45F7-805F-085B6718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05450"/>
            <a:ext cx="10607040" cy="61912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33" name="18 персон КТ-2 и 4 новые ролевые симуляции — ">
            <a:extLst xmlns:a="http://schemas.openxmlformats.org/drawingml/2006/main">
              <a:ext uri="{FF2B5EF4-FFF2-40B4-BE49-F238E27FC236}">
                <a16:creationId xmlns:a16="http://schemas.microsoft.com/office/drawing/2014/main" id="{A8D9612F-7E05-457E-B0E8-A3E851FF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29275"/>
            <a:ext cx="10172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18 персон КТ-2 и 4 новые ролевые симуляции — подготовка вопросов, не подтверждение спроса.</a:t>
            </a:r>
          </a:p>
        </p:txBody>
      </p:sp>
    </p:spTree>
    <p:extLst>
      <p:ext uri="{BB962C8B-B14F-4D97-AF65-F5344CB8AC3E}">
        <p14:creationId xmlns:p14="http://schemas.microsoft.com/office/powerpoint/2010/main" val="2002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bb604d2b89a464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5360F2-0610-4955-AA94-52870187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ВОПРОС 1 И 2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4ECFD30-2B6B-4089-8FB6-69F8D7FD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Пользователь и результат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первой версии</a:t>
            </a:r>
            <a:endParaRPr sz="3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6121AB2-177D-41D6-BB21-969D7425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graphicFrame>
        <p:nvGraphicFrame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FB27FF-B48C-4538-B3C4-FD0C17F5AC1B}"/>
              </a:ext>
            </a:extLst>
          </p:cNvPr>
          <p:cNvGraphicFramePr/>
          <p:nvPr/>
        </p:nvGraphicFramePr>
        <p:xfrm>
          <a:off xmlns:a="http://schemas.openxmlformats.org/drawingml/2006/main" x="777240" y="1752600"/>
          <a:ext xmlns:a="http://schemas.openxmlformats.org/drawingml/2006/main" cx="1060704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57650"/>
                <a:gridCol w="3882390"/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Кто и когда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Связанные задачи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Конечный результат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12668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Инженер станции</a:t>
                      </a:r>
                    </a:p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Появилось предупреждение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Найти насос, проверить показания и объяснение, выбрать действие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Учебное задание с обоснованием, ответственным и сроком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1343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Инженер станции</a:t>
                      </a:r>
                    </a:p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Нет свежих данных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Уточнить причину, запросить пакет, сохранить подтверждение и повторить проверку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Ограниченный вывод или восстановленная оценка учебного среза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37" name="В макете">
            <a:extLst xmlns:a="http://schemas.openxmlformats.org/drawingml/2006/main">
              <a:ext uri="{FF2B5EF4-FFF2-40B4-BE49-F238E27FC236}">
                <a16:creationId xmlns:a16="http://schemas.microsoft.com/office/drawing/2014/main" id="{5E57C691-B842-4EE9-A478-03205F96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530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В макете</a:t>
            </a:r>
          </a:p>
        </p:txBody>
      </p:sp>
      <p:sp>
        <p:nvSpPr>
          <p:cNvPr id="38" name="Карточка, 3D-навигация, показания, объяснения">
            <a:extLst xmlns:a="http://schemas.openxmlformats.org/drawingml/2006/main">
              <a:ext uri="{FF2B5EF4-FFF2-40B4-BE49-F238E27FC236}">
                <a16:creationId xmlns:a16="http://schemas.microsoft.com/office/drawing/2014/main" id="{58236672-AC93-49D0-91E2-2196CFB0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162550"/>
            <a:ext cx="8572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Карточка, 3D-навигация, показания, объяснения, задания и журнал</a:t>
            </a:r>
          </a:p>
        </p:txBody>
      </p:sp>
      <p:sp>
        <p:nvSpPr>
          <p:cNvPr id="39" name="За границами">
            <a:extLst xmlns:a="http://schemas.openxmlformats.org/drawingml/2006/main">
              <a:ext uri="{FF2B5EF4-FFF2-40B4-BE49-F238E27FC236}">
                <a16:creationId xmlns:a16="http://schemas.microsoft.com/office/drawing/2014/main" id="{7BB6CAFD-51A7-49D6-A814-06EE49B4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За границами</a:t>
            </a:r>
          </a:p>
        </p:txBody>
      </p:sp>
      <p:sp>
        <p:nvSpPr>
          <p:cNvPr id="40" name="Реальные интеграции, модель прогноза, допуск ">
            <a:extLst xmlns:a="http://schemas.openxmlformats.org/drawingml/2006/main">
              <a:ext uri="{FF2B5EF4-FFF2-40B4-BE49-F238E27FC236}">
                <a16:creationId xmlns:a16="http://schemas.microsoft.com/office/drawing/2014/main" id="{AF5660DA-1CE8-4909-9166-7C1EC47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483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Реальные интеграции, модель прогноза, допуск к работам и управление насосом</a:t>
            </a:r>
          </a:p>
        </p:txBody>
      </p:sp>
    </p:spTree>
    <p:extLst>
      <p:ext uri="{BB962C8B-B14F-4D97-AF65-F5344CB8AC3E}">
        <p14:creationId xmlns:p14="http://schemas.microsoft.com/office/powerpoint/2010/main" val="2003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db3b323beb7429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4A2E05-C191-4760-B6BD-C10ADF6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ВОПРОС 3 · USM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34B7B2B-A20D-49AB-9D13-1BAF5956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Карта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действий инженера</a:t>
            </a:r>
            <a:endParaRPr sz="300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DDA3AB7C-9693-4E4B-987C-4F80F008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5</a:t>
            </a:r>
            <a:endParaRPr sz="1100"/>
          </a:p>
        </p:txBody>
      </p:sp>
      <p:graphicFrame>
        <p:nvGraphicFrame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E2D7BB6-4058-4CF0-B125-61E520D3BBA0}"/>
              </a:ext>
            </a:extLst>
          </p:cNvPr>
          <p:cNvGraphicFramePr/>
          <p:nvPr/>
        </p:nvGraphicFramePr>
        <p:xfrm>
          <a:off xmlns:a="http://schemas.openxmlformats.org/drawingml/2006/main" x="777240" y="1704975"/>
          <a:ext xmlns:a="http://schemas.openxmlformats.org/drawingml/2006/main" cx="1060704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2781300"/>
                <a:gridCol w="3048000"/>
                <a:gridCol w="3301365"/>
              </a:tblGrid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Действие человека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Ответ продукта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Вариант или возврат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Найти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Сводка, фильтр, выбор насоса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Объект, режим, статус данных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Нет совпадений; назад к сводке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Разобрать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Показания, история, объяснение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Факты, гипотеза, неизвестное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Нет данных; резерв; к показаниям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Решить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Выбор действия и обоснование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черновик действия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Диагностика, обслуживание, повтор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Создать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Ответственный, срок, создать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Ошибка у поля или номер задания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Исправить; назад без потери полей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Продолжить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Скачать, записать исход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Файл, список и журнал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К насосу; исход не закрывает сигнал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68" name="ПН-03: неизвестное → ошибка или запрос. Подтв">
            <a:extLst xmlns:a="http://schemas.openxmlformats.org/drawingml/2006/main">
              <a:ext uri="{FF2B5EF4-FFF2-40B4-BE49-F238E27FC236}">
                <a16:creationId xmlns:a16="http://schemas.microsoft.com/office/drawing/2014/main" id="{86A49AD0-F6A3-483B-8204-34247DAC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29300"/>
            <a:ext cx="10601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ПН-03: неизвестное → ошибка или запрос. Подтверждённый учебный пакет → сохранение → отдельный повтор.</a:t>
            </a:r>
          </a:p>
        </p:txBody>
      </p:sp>
    </p:spTree>
    <p:extLst>
      <p:ext uri="{BB962C8B-B14F-4D97-AF65-F5344CB8AC3E}">
        <p14:creationId xmlns:p14="http://schemas.microsoft.com/office/powerpoint/2010/main" val="200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573b74e149c4f9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3A4933-9831-439B-9D11-F76F7000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ВАРИАНТЫ СЦЕНАРИЯ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70C6DB5-D98F-46A6-8FEA-53DB8CE6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Один процесс,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разные основания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3641B44-DA96-41A7-BAD7-48FF62AC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6</a:t>
            </a:r>
            <a:endParaRPr sz="1100"/>
          </a:p>
        </p:txBody>
      </p:sp>
      <p:sp>
        <p:nvSpPr>
          <p:cNvPr id="21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2CBE18B3-131C-4FD6-B3E2-01F1CFFC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43075"/>
            <a:ext cx="3383280" cy="3438525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22" name="ПН-01">
            <a:extLst xmlns:a="http://schemas.openxmlformats.org/drawingml/2006/main">
              <a:ext uri="{FF2B5EF4-FFF2-40B4-BE49-F238E27FC236}">
                <a16:creationId xmlns:a16="http://schemas.microsoft.com/office/drawing/2014/main" id="{12D4641C-EE9D-453F-B745-17CD22BF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62150"/>
            <a:ext cx="290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ПН-01</a:t>
            </a:r>
          </a:p>
        </p:txBody>
      </p:sp>
      <p:sp>
        <p:nvSpPr>
          <p:cNvPr id="23" name="Есть предупреждение">
            <a:extLst xmlns:a="http://schemas.openxmlformats.org/drawingml/2006/main">
              <a:ext uri="{FF2B5EF4-FFF2-40B4-BE49-F238E27FC236}">
                <a16:creationId xmlns:a16="http://schemas.microsoft.com/office/drawing/2014/main" id="{A75FD71E-C678-4938-8522-1D540F1D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9850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Есть предупреждение</a:t>
            </a:r>
          </a:p>
        </p:txBody>
      </p:sp>
      <p:sp>
        <p:nvSpPr>
          <p:cNvPr id="24" name="Растут вибрация и температура корпуса опоры.">
            <a:extLst xmlns:a="http://schemas.openxmlformats.org/drawingml/2006/main">
              <a:ext uri="{FF2B5EF4-FFF2-40B4-BE49-F238E27FC236}">
                <a16:creationId xmlns:a16="http://schemas.microsoft.com/office/drawing/2014/main" id="{66CC3B12-7EC2-438D-A727-7CB15DAE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81375"/>
            <a:ext cx="2905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Растут вибрация и температура корпуса опоры.</a:t>
            </a:r>
          </a:p>
        </p:txBody>
      </p:sp>
      <p:sp>
        <p:nvSpPr>
          <p:cNvPr id="25" name="Инженер разбирает основания и готовит действи">
            <a:extLst xmlns:a="http://schemas.openxmlformats.org/drawingml/2006/main">
              <a:ext uri="{FF2B5EF4-FFF2-40B4-BE49-F238E27FC236}">
                <a16:creationId xmlns:a16="http://schemas.microsoft.com/office/drawing/2014/main" id="{24A85B25-9AAC-4F35-8DD2-D337AA8C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243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Инженер разбирает основания и готовит действие.</a:t>
            </a:r>
          </a:p>
        </p:txBody>
      </p:sp>
      <p:sp>
        <p:nvSpPr>
          <p:cNvPr id="2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2B1A39FC-4928-4B65-99D3-9618DFAD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43075"/>
            <a:ext cx="3383280" cy="3438525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27" name="ПН-03">
            <a:extLst xmlns:a="http://schemas.openxmlformats.org/drawingml/2006/main">
              <a:ext uri="{FF2B5EF4-FFF2-40B4-BE49-F238E27FC236}">
                <a16:creationId xmlns:a16="http://schemas.microsoft.com/office/drawing/2014/main" id="{22E4FA3D-1908-4DD2-AD8B-99920DA5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2150"/>
            <a:ext cx="290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ПН-03</a:t>
            </a:r>
          </a:p>
        </p:txBody>
      </p:sp>
      <p:sp>
        <p:nvSpPr>
          <p:cNvPr id="28" name="Не хватает данных">
            <a:extLst xmlns:a="http://schemas.openxmlformats.org/drawingml/2006/main">
              <a:ext uri="{FF2B5EF4-FFF2-40B4-BE49-F238E27FC236}">
                <a16:creationId xmlns:a16="http://schemas.microsoft.com/office/drawing/2014/main" id="{102BC873-4525-442E-8DBC-378E5DD0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9850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Не хватает данных</a:t>
            </a:r>
          </a:p>
        </p:txBody>
      </p:sp>
      <p:sp>
        <p:nvSpPr>
          <p:cNvPr id="29" name="Пакета нет семь часов. Оценка приостановлена.">
            <a:extLst xmlns:a="http://schemas.openxmlformats.org/drawingml/2006/main">
              <a:ext uri="{FF2B5EF4-FFF2-40B4-BE49-F238E27FC236}">
                <a16:creationId xmlns:a16="http://schemas.microsoft.com/office/drawing/2014/main" id="{3FDEAB37-FEF6-4E11-8386-B60F53C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381375"/>
            <a:ext cx="2905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Пакета нет семь часов. Оценка приостановлена.</a:t>
            </a:r>
          </a:p>
        </p:txBody>
      </p:sp>
      <p:sp>
        <p:nvSpPr>
          <p:cNvPr id="30" name="Запрос на канал либо подтверждение и отдельны">
            <a:extLst xmlns:a="http://schemas.openxmlformats.org/drawingml/2006/main">
              <a:ext uri="{FF2B5EF4-FFF2-40B4-BE49-F238E27FC236}">
                <a16:creationId xmlns:a16="http://schemas.microsoft.com/office/drawing/2014/main" id="{5688B5DD-5014-4682-B4F6-EE70DACF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3243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Запрос на канал либо подтверждение и отдельный повтор.</a:t>
            </a:r>
          </a:p>
        </p:txBody>
      </p:sp>
      <p:sp>
        <p:nvSpPr>
          <p:cNvPr id="31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3A7942A6-3CAF-4A05-9D2C-DEFFFC2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43075"/>
            <a:ext cx="3383280" cy="3438525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32" name="ПН-02 / 04">
            <a:extLst xmlns:a="http://schemas.openxmlformats.org/drawingml/2006/main">
              <a:ext uri="{FF2B5EF4-FFF2-40B4-BE49-F238E27FC236}">
                <a16:creationId xmlns:a16="http://schemas.microsoft.com/office/drawing/2014/main" id="{3BDBC4B9-3804-4079-A90B-F4C38719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290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ПН-02 / 04</a:t>
            </a:r>
          </a:p>
        </p:txBody>
      </p:sp>
      <p:sp>
        <p:nvSpPr>
          <p:cNvPr id="33" name="Нет нового сигнала">
            <a:extLst xmlns:a="http://schemas.openxmlformats.org/drawingml/2006/main">
              <a:ext uri="{FF2B5EF4-FFF2-40B4-BE49-F238E27FC236}">
                <a16:creationId xmlns:a16="http://schemas.microsoft.com/office/drawing/2014/main" id="{68F737E6-073D-41A8-AE69-5EF3C3C4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Нет нового сигнала</a:t>
            </a:r>
          </a:p>
        </p:txBody>
      </p:sp>
      <p:sp>
        <p:nvSpPr>
          <p:cNvPr id="34" name="ПН-02 без отклонений в срезе. ПН-04 в резерве">
            <a:extLst xmlns:a="http://schemas.openxmlformats.org/drawingml/2006/main">
              <a:ext uri="{FF2B5EF4-FFF2-40B4-BE49-F238E27FC236}">
                <a16:creationId xmlns:a16="http://schemas.microsoft.com/office/drawing/2014/main" id="{B5505651-6B2A-4C77-AD2E-F2DD62E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2905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ПН-02 без отклонений в срезе. ПН-04 в резерве.</a:t>
            </a:r>
          </a:p>
        </p:txBody>
      </p:sp>
      <p:sp>
        <p:nvSpPr>
          <p:cNvPr id="35" name="Макет объясняет режим и не придумывает задани">
            <a:extLst xmlns:a="http://schemas.openxmlformats.org/drawingml/2006/main">
              <a:ext uri="{FF2B5EF4-FFF2-40B4-BE49-F238E27FC236}">
                <a16:creationId xmlns:a16="http://schemas.microsoft.com/office/drawing/2014/main" id="{B7165432-3E09-47B1-96BA-BDE2CDAA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Макет объясняет режим и не придумывает задание на ремонт.</a:t>
            </a:r>
          </a:p>
        </p:txBody>
      </p:sp>
      <p:sp>
        <p:nvSpPr>
          <p:cNvPr id="3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EECCB2D1-CC28-48E6-AAE1-2A9A1B98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05450"/>
            <a:ext cx="10607040" cy="6858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37" name="Износ узла — гипотеза. Прогноз на 7 дней зада">
            <a:extLst xmlns:a="http://schemas.openxmlformats.org/drawingml/2006/main">
              <a:ext uri="{FF2B5EF4-FFF2-40B4-BE49-F238E27FC236}">
                <a16:creationId xmlns:a16="http://schemas.microsoft.com/office/drawing/2014/main" id="{919551EE-26A2-4932-AD70-1D458CC0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2927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Износ узла — гипотеза. Прогноз на 7 дней задан для демонстрации. Точность и срок отказа не рассчитаны.</a:t>
            </a:r>
          </a:p>
        </p:txBody>
      </p:sp>
    </p:spTree>
    <p:extLst>
      <p:ext uri="{BB962C8B-B14F-4D97-AF65-F5344CB8AC3E}">
        <p14:creationId xmlns:p14="http://schemas.microsoft.com/office/powerpoint/2010/main" val="200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ede6f1afabb471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9B11E8-67EA-470E-B4BD-B315F608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ДЕМОНСТРАЦИЯ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029A41-5AD9-4DF0-87B5-402B12A9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Рабочее место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инженера</a:t>
            </a:r>
            <a:endParaRPr sz="30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C6755FB0-DA8F-4F31-BC4B-5B220D23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7</a:t>
            </a:r>
            <a:endParaRPr sz="1100"/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98CB78-5B55-4A74-8C40-1F37102CF8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70bb4df414ff8"/>
          <a:stretch xmlns:a="http://schemas.openxmlformats.org/drawingml/2006/main"/>
        </p:blipFill>
        <p:spPr>
          <a:xfrm xmlns:a="http://schemas.openxmlformats.org/drawingml/2006/main">
            <a:off x="1280478" y="1724025"/>
            <a:ext cx="5461000" cy="4095750"/>
          </a:xfrm>
          <a:prstGeom xmlns:a="http://schemas.openxmlformats.org/drawingml/2006/main" prst="rect">
            <a:avLst/>
          </a:prstGeom>
        </p:spPr>
      </p:pic>
      <p:sp>
        <p:nvSpPr>
          <p:cNvPr id="45" name="ПН-01">
            <a:extLst xmlns:a="http://schemas.openxmlformats.org/drawingml/2006/main">
              <a:ext uri="{FF2B5EF4-FFF2-40B4-BE49-F238E27FC236}">
                <a16:creationId xmlns:a16="http://schemas.microsoft.com/office/drawing/2014/main" id="{045DA6B4-4F8E-40D6-AD9F-5E10943B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192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ПН-01</a:t>
            </a:r>
          </a:p>
        </p:txBody>
      </p:sp>
      <p:sp>
        <p:nvSpPr>
          <p:cNvPr id="46" name="Итог и оценки показателей&#10;Схема ПДУ и узлы в ">
            <a:extLst xmlns:a="http://schemas.openxmlformats.org/drawingml/2006/main">
              <a:ext uri="{FF2B5EF4-FFF2-40B4-BE49-F238E27FC236}">
                <a16:creationId xmlns:a16="http://schemas.microsoft.com/office/drawing/2014/main" id="{3B72D828-3840-4D0A-B602-59569633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90775"/>
            <a:ext cx="3714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Итог и оценки показателей</a:t>
            </a:r>
          </a:p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Схема ПДУ и узлы в 3D</a:t>
            </a:r>
          </a:p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Основания предупреждения</a:t>
            </a:r>
          </a:p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Действие и учебное задание</a:t>
            </a:r>
          </a:p>
        </p:txBody>
      </p:sp>
      <p:sp>
        <p:nvSpPr>
          <p:cNvPr id="47" name="ПН-03">
            <a:extLst xmlns:a="http://schemas.openxmlformats.org/drawingml/2006/main">
              <a:ext uri="{FF2B5EF4-FFF2-40B4-BE49-F238E27FC236}">
                <a16:creationId xmlns:a16="http://schemas.microsoft.com/office/drawing/2014/main" id="{258C7FE8-0AAF-4070-B000-D7D0C51A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ПН-03</a:t>
            </a:r>
          </a:p>
        </p:txBody>
      </p:sp>
      <p:sp>
        <p:nvSpPr>
          <p:cNvPr id="48" name="Нет данных&#10;Уточнение, сохранение и повтор">
            <a:extLst xmlns:a="http://schemas.openxmlformats.org/drawingml/2006/main">
              <a:ext uri="{FF2B5EF4-FFF2-40B4-BE49-F238E27FC236}">
                <a16:creationId xmlns:a16="http://schemas.microsoft.com/office/drawing/2014/main" id="{90026B9C-94CF-4845-94B0-63457FAE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Нет данных</a:t>
            </a:r>
          </a:p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Уточнение, сохранение и повтор</a:t>
            </a:r>
          </a:p>
        </p:txBody>
      </p:sp>
      <p:sp>
        <p:nvSpPr>
          <p:cNvPr id="49" name="Открыть прототип">
            <a:extLst xmlns:a="http://schemas.openxmlformats.org/drawingml/2006/main">
              <a:ext uri="{FF2B5EF4-FFF2-40B4-BE49-F238E27FC236}">
                <a16:creationId xmlns:a16="http://schemas.microsoft.com/office/drawing/2014/main" id="{9DFB67E7-096D-4FEB-9E57-6A69A9E8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91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8e01ef1cb01647f5"/>
              </a:rPr>
              <a:t>Открыть прототип</a:t>
            </a:r>
          </a:p>
        </p:txBody>
      </p:sp>
      <p:sp>
        <p:nvSpPr>
          <p:cNvPr id="50" name="Интерактивный HTML работает из распакованного">
            <a:extLst xmlns:a="http://schemas.openxmlformats.org/drawingml/2006/main">
              <a:ext uri="{FF2B5EF4-FFF2-40B4-BE49-F238E27FC236}">
                <a16:creationId xmlns:a16="http://schemas.microsoft.com/office/drawing/2014/main" id="{E1B4136C-143D-48C0-8FED-AB5E9659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76950"/>
            <a:ext cx="666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Интерактивный HTML работает из распакованного комплекта. Все показатели учебные.</a:t>
            </a:r>
          </a:p>
        </p:txBody>
      </p:sp>
    </p:spTree>
    <p:extLst>
      <p:ext uri="{BB962C8B-B14F-4D97-AF65-F5344CB8AC3E}">
        <p14:creationId xmlns:p14="http://schemas.microsoft.com/office/powerpoint/2010/main" val="2006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ba3f839a44489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637EFA-6C1E-4DCB-B7A4-E1872332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ВОПРОС 4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7C3370E-959A-4548-876F-6EEC484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Проверка понимания и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самостоятельности</a:t>
            </a:r>
            <a:endParaRPr sz="3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8DC5B74-510F-47E4-BCAA-5D5DEEEB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8</a:t>
            </a:r>
            <a:endParaRPr sz="1100"/>
          </a:p>
        </p:txBody>
      </p:sp>
      <p:sp>
        <p:nvSpPr>
          <p:cNvPr id="16" name="Задание инженеру">
            <a:extLst xmlns:a="http://schemas.openxmlformats.org/drawingml/2006/main">
              <a:ext uri="{FF2B5EF4-FFF2-40B4-BE49-F238E27FC236}">
                <a16:creationId xmlns:a16="http://schemas.microsoft.com/office/drawing/2014/main" id="{265C06BB-12FC-41AF-BD8C-9D28248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21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Задание инженеру</a:t>
            </a:r>
          </a:p>
        </p:txBody>
      </p:sp>
      <p:sp>
        <p:nvSpPr>
          <p:cNvPr id="17" name="«Найдите насос, требующий внимания, объясните">
            <a:extLst xmlns:a="http://schemas.openxmlformats.org/drawingml/2006/main">
              <a:ext uri="{FF2B5EF4-FFF2-40B4-BE49-F238E27FC236}">
                <a16:creationId xmlns:a16="http://schemas.microsoft.com/office/drawing/2014/main" id="{72F55E2B-6589-4738-975E-C5E4B6C5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336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«Найдите насос, требующий внимания, объясните основание и подготовьте следующий шаг. Затем разберитесь с ПН-03».</a:t>
            </a:r>
          </a:p>
        </p:txBody>
      </p:sp>
      <p:sp>
        <p:nvSpPr>
          <p:cNvPr id="18" name="Наблюдаем">
            <a:extLst xmlns:a="http://schemas.openxmlformats.org/drawingml/2006/main">
              <a:ext uri="{FF2B5EF4-FFF2-40B4-BE49-F238E27FC236}">
                <a16:creationId xmlns:a16="http://schemas.microsoft.com/office/drawing/2014/main" id="{0B96823A-0BEE-4A0F-937D-B7DB925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0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Наблюдаем</a:t>
            </a:r>
          </a:p>
        </p:txBody>
      </p:sp>
      <p:sp>
        <p:nvSpPr>
          <p:cNvPr id="19" name="Находит ли основание и ограничения.&#10;Отличает ">
            <a:extLst xmlns:a="http://schemas.openxmlformats.org/drawingml/2006/main">
              <a:ext uri="{FF2B5EF4-FFF2-40B4-BE49-F238E27FC236}">
                <a16:creationId xmlns:a16="http://schemas.microsoft.com/office/drawing/2014/main" id="{1F39A202-DEDF-473B-93EF-828D5AC4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8096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Находит ли основание и ограничения.</a:t>
            </a:r>
          </a:p>
          <a:p xmlns:a="http://schemas.openxmlformats.org/drawingml/2006/main">
            <a: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Отличает ли гипотезу от диагноза.</a:t>
            </a:r>
          </a:p>
          <a:p xmlns:a="http://schemas.openxmlformats.org/drawingml/2006/main">
            <a:pPr>
              <a:defRPr sz="18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Создаёт ли задание и понимает ли повторную проверку.</a:t>
            </a:r>
          </a:p>
        </p:txBody>
      </p:sp>
      <p:sp>
        <p:nvSpPr>
          <p:cNvPr id="20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F3291573-0F88-45B4-BD39-1E6F15A3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72100"/>
            <a:ext cx="10607040" cy="619125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21" name="Не ведём по кнопкам. Записываем ошибки, время">
            <a:extLst xmlns:a="http://schemas.openxmlformats.org/drawingml/2006/main">
              <a:ext uri="{FF2B5EF4-FFF2-40B4-BE49-F238E27FC236}">
                <a16:creationId xmlns:a16="http://schemas.microsoft.com/office/drawing/2014/main" id="{463B784D-16DB-43BE-B6B7-47D0AF8D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495925"/>
            <a:ext cx="10172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Не ведём по кнопкам. Записываем ошибки, время, запросы помощи и объяснение результата.</a:t>
            </a:r>
          </a:p>
        </p:txBody>
      </p:sp>
      <p:sp>
        <p:nvSpPr>
          <p:cNvPr id="22" name="Результатов теста новой версии с целевым инже">
            <a:extLst xmlns:a="http://schemas.openxmlformats.org/drawingml/2006/main">
              <a:ext uri="{FF2B5EF4-FFF2-40B4-BE49-F238E27FC236}">
                <a16:creationId xmlns:a16="http://schemas.microsoft.com/office/drawing/2014/main" id="{B43586DD-95FE-436E-8EDB-DC2E464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124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Результатов теста новой версии с целевым инженером пока нет.</a:t>
            </a:r>
          </a:p>
        </p:txBody>
      </p:sp>
    </p:spTree>
    <p:extLst>
      <p:ext uri="{BB962C8B-B14F-4D97-AF65-F5344CB8AC3E}">
        <p14:creationId xmlns:p14="http://schemas.microsoft.com/office/powerpoint/2010/main" val="20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e041d48bc4544a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A068C9A-90D4-4122-A20A-F8D864A2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КАСТДЕВ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F9864EF-E1BA-48DB-8B67-14E27957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Проверка ценности на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реальном случае</a:t>
            </a:r>
            <a:endParaRPr sz="30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CED3C287-C6DD-4B94-ABFF-85260F14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9</a:t>
            </a:r>
            <a:endParaRPr sz="1100"/>
          </a:p>
        </p:txBody>
      </p:sp>
      <p:graphicFrame>
        <p:nvGraphicFrame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2F219E-583D-4A69-9182-09A6F63A846F}"/>
              </a:ext>
            </a:extLst>
          </p:cNvPr>
          <p:cNvGraphicFramePr/>
          <p:nvPr/>
        </p:nvGraphicFramePr>
        <p:xfrm>
          <a:off xmlns:a="http://schemas.openxmlformats.org/drawingml/2006/main" x="777240" y="1752600"/>
          <a:ext xmlns:a="http://schemas.openxmlformats.org/drawingml/2006/main" cx="1060704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43375"/>
                <a:gridCol w="4082415"/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Собеседник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Разбираем прошлый опыт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Ищем свидетельство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Инженер / диагност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Последний сигнал и путь до задания. Чем пользуется сейчас?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Конкретный незакрытый шаг и затраты на него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Ремонтник / оператор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Что было известно до отказа? Как действовали?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Какая часть события была предотвращаемой и когда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Последняя похожая покупка, пилот или отказ от них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Владелец результата, бюджет и основание оплаты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5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A679314D-5E35-4B99-AB76-24C425AB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19750"/>
            <a:ext cx="10607040" cy="581025"/>
          </a:xfrm>
          <a:prstGeom xmlns:a="http://schemas.openxmlformats.org/drawingml/2006/main" prst="roundRect">
            <a:avLst>
              <a:gd name="adj" fmla="val 24590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57" name="Если текущая диагностика уже решает задачу, д">
            <a:extLst xmlns:a="http://schemas.openxmlformats.org/drawingml/2006/main">
              <a:ext uri="{FF2B5EF4-FFF2-40B4-BE49-F238E27FC236}">
                <a16:creationId xmlns:a16="http://schemas.microsoft.com/office/drawing/2014/main" id="{E7BA01AF-E744-416E-82C6-5A39B92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43575"/>
            <a:ext cx="1017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Если текущая диагностика уже решает задачу, дополнительный дашборд не обосновывает покупку.</a:t>
            </a:r>
          </a:p>
        </p:txBody>
      </p:sp>
    </p:spTree>
    <p:extLst>
      <p:ext uri="{BB962C8B-B14F-4D97-AF65-F5344CB8AC3E}">
        <p14:creationId xmlns:p14="http://schemas.microsoft.com/office/powerpoint/2010/main" val="2008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2668722ec9c445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E896E52-5E72-40C5-9B88-E2F943F4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ОБРАТНАЯ СВЯЗЬ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B242CBB-FB1A-4B1C-84B1-51FC56BF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Вопросы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экспертам</a:t>
            </a:r>
            <a:endParaRPr sz="30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184E2A6-C0CA-4E70-BF17-B3154AA7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10</a:t>
            </a:r>
            <a:endParaRPr sz="1100"/>
          </a:p>
        </p:txBody>
      </p:sp>
      <p:sp>
        <p:nvSpPr>
          <p:cNvPr id="39" name="1">
            <a:extLst xmlns:a="http://schemas.openxmlformats.org/drawingml/2006/main">
              <a:ext uri="{FF2B5EF4-FFF2-40B4-BE49-F238E27FC236}">
                <a16:creationId xmlns:a16="http://schemas.microsoft.com/office/drawing/2014/main" id="{1E37022E-5A2E-4CDC-AA52-092AC40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8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Какого основания не хватает инженеру, чтобы в">
            <a:extLst xmlns:a="http://schemas.openxmlformats.org/drawingml/2006/main">
              <a:ext uri="{FF2B5EF4-FFF2-40B4-BE49-F238E27FC236}">
                <a16:creationId xmlns:a16="http://schemas.microsoft.com/office/drawing/2014/main" id="{7538BC67-6DB7-44BA-802F-6B388843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86690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Какого основания не хватает инженеру, чтобы выбрать и обосновать следующий шаг?</a:t>
            </a:r>
          </a:p>
        </p:txBody>
      </p:sp>
      <p:sp>
        <p:nvSpPr>
          <p:cNvPr id="41" name="2">
            <a:extLst xmlns:a="http://schemas.openxmlformats.org/drawingml/2006/main">
              <a:ext uri="{FF2B5EF4-FFF2-40B4-BE49-F238E27FC236}">
                <a16:creationId xmlns:a16="http://schemas.microsoft.com/office/drawing/2014/main" id="{B48D4DD7-74A4-4E94-A835-25E8BDDB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813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Где этот сценарий дополняет существующие АСУ ">
            <a:extLst xmlns:a="http://schemas.openxmlformats.org/drawingml/2006/main">
              <a:ext uri="{FF2B5EF4-FFF2-40B4-BE49-F238E27FC236}">
                <a16:creationId xmlns:a16="http://schemas.microsoft.com/office/drawing/2014/main" id="{797F1AC0-671F-483E-9F8B-24776146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0040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Где этот сценарий дополняет существующие АСУ ТП, диагностику и ТОиР?</a:t>
            </a:r>
          </a:p>
        </p:txBody>
      </p:sp>
      <p:sp>
        <p:nvSpPr>
          <p:cNvPr id="43" name="3">
            <a:extLst xmlns:a="http://schemas.openxmlformats.org/drawingml/2006/main">
              <a:ext uri="{FF2B5EF4-FFF2-40B4-BE49-F238E27FC236}">
                <a16:creationId xmlns:a16="http://schemas.microsoft.com/office/drawing/2014/main" id="{A93640B7-7DBF-40F7-99F2-02309C00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148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4" name="Какой конкретный случай стоит разобрать первы">
            <a:extLst xmlns:a="http://schemas.openxmlformats.org/drawingml/2006/main">
              <a:ext uri="{FF2B5EF4-FFF2-40B4-BE49-F238E27FC236}">
                <a16:creationId xmlns:a16="http://schemas.microsoft.com/office/drawing/2014/main" id="{50BA473E-06B8-43BF-893A-65CE207E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33900"/>
            <a:ext cx="957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Какой конкретный случай стоит разобрать первым, чтобы проверить бизнес-гипотезу?</a:t>
            </a:r>
          </a:p>
        </p:txBody>
      </p:sp>
      <p:sp>
        <p:nvSpPr>
          <p:cNvPr id="45" name="Прототип">
            <a:extLst xmlns:a="http://schemas.openxmlformats.org/drawingml/2006/main">
              <a:ext uri="{FF2B5EF4-FFF2-40B4-BE49-F238E27FC236}">
                <a16:creationId xmlns:a16="http://schemas.microsoft.com/office/drawing/2014/main" id="{50FE730C-9244-43C4-BDCB-239374F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05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57b43b12e2e24932"/>
              </a:rPr>
              <a:t>Прототип</a:t>
            </a:r>
          </a:p>
        </p:txBody>
      </p:sp>
      <p:sp>
        <p:nvSpPr>
          <p:cNvPr id="46" name="Карта USM">
            <a:extLst xmlns:a="http://schemas.openxmlformats.org/drawingml/2006/main">
              <a:ext uri="{FF2B5EF4-FFF2-40B4-BE49-F238E27FC236}">
                <a16:creationId xmlns:a16="http://schemas.microsoft.com/office/drawing/2014/main" id="{1A8A38EE-3661-4107-B8C9-92AD5A8B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05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8f61f1fbd37548aa"/>
              </a:rPr>
              <a:t>Карта USM</a:t>
            </a:r>
          </a:p>
        </p:txBody>
      </p:sp>
      <p:sp>
        <p:nvSpPr>
          <p:cNvPr id="47" name="План кастдева">
            <a:extLst xmlns:a="http://schemas.openxmlformats.org/drawingml/2006/main">
              <a:ext uri="{FF2B5EF4-FFF2-40B4-BE49-F238E27FC236}">
                <a16:creationId xmlns:a16="http://schemas.microsoft.com/office/drawing/2014/main" id="{AE90EED1-DDB2-4B6A-B9BA-F154FA0D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9055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4cdc1582b134440c"/>
              </a:rPr>
              <a:t>План кастдева</a:t>
            </a:r>
          </a:p>
        </p:txBody>
      </p:sp>
    </p:spTree>
    <p:extLst>
      <p:ext uri="{BB962C8B-B14F-4D97-AF65-F5344CB8AC3E}">
        <p14:creationId xmlns:p14="http://schemas.microsoft.com/office/powerpoint/2010/main" val="200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5a64739553f4b2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4A2E05-C191-4760-B6BD-C10ADF6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ПРИЛОЖЕНИЕ 1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34B7B2B-A20D-49AB-9D13-1BAF5956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Требования</a:t>
            </a: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 и наблюдаемое поведение</a:t>
            </a:r>
            <a:endParaRPr sz="300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DDA3AB7C-9693-4E4B-987C-4F80F008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11</a:t>
            </a:r>
            <a:endParaRPr sz="1100"/>
          </a:p>
        </p:txBody>
      </p:sp>
      <p:graphicFrame>
        <p:nvGraphicFrame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F672D12-1063-434C-9C16-01EA15090139}"/>
              </a:ext>
            </a:extLst>
          </p:cNvPr>
          <p:cNvGraphicFramePr/>
          <p:nvPr/>
        </p:nvGraphicFramePr>
        <p:xfrm>
          <a:off xmlns:a="http://schemas.openxmlformats.org/drawingml/2006/main" x="777240" y="1724025"/>
          <a:ext xmlns:a="http://schemas.openxmlformats.org/drawingml/2006/main" cx="10607040" cy="4076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638675"/>
                <a:gridCol w="4539615"/>
              </a:tblGrid>
              <a:tr h="457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Что должен делать макет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Как это проверить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PF1–3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Объект, показания, объяснение и ограничения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ПН-01: основание отделено от гипотезы и неизвестного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PF4–6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Действие, обязательные поля, файл и результат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Ошибки формы; поля совпадают в задании и выгрузке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PF7–9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Нет данных, подтверждение, отдельный повтор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ПН-03: неизвестное не снимает ограничение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PF10–12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3D-узел, оценка метрики и исходная схема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Узел связан с пояснением; дата схемы отделена от среза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PN1–7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Офлайн, клавиатура, мобильная раскладка, контекст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Все файлы в комплекте; черновики сохраняются до reload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68" name="Реальные пороги, качество прогноза, доступ и ">
            <a:extLst xmlns:a="http://schemas.openxmlformats.org/drawingml/2006/main">
              <a:ext uri="{FF2B5EF4-FFF2-40B4-BE49-F238E27FC236}">
                <a16:creationId xmlns:a16="http://schemas.microsoft.com/office/drawing/2014/main" id="{76ED8F97-8B99-4B53-915F-23BB7AB6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76950"/>
            <a:ext cx="1060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Реальные пороги, качество прогноза, доступ и интеграции согласуются отдельно со станцией.</a:t>
            </a:r>
          </a:p>
        </p:txBody>
      </p:sp>
    </p:spTree>
    <p:extLst>
      <p:ext uri="{BB962C8B-B14F-4D97-AF65-F5344CB8AC3E}">
        <p14:creationId xmlns:p14="http://schemas.microsoft.com/office/powerpoint/2010/main" val="201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8ef7792159444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9B11E8-67EA-470E-B4BD-B315F608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ПРИЛОЖЕНИЕ 2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4029A41-5AD9-4DF0-87B5-402B12A9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Привязка к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схеме предприятия</a:t>
            </a:r>
            <a:endParaRPr sz="30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C6755FB0-DA8F-4F31-BC4B-5B220D23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12</a:t>
            </a:r>
            <a:endParaRPr sz="1100"/>
          </a:p>
        </p:txBody>
      </p:sp>
      <p:sp>
        <p:nvSpPr>
          <p:cNvPr id="44" name="ПДУ: где находится ПЭН-1А">
            <a:extLst xmlns:a="http://schemas.openxmlformats.org/drawingml/2006/main">
              <a:ext uri="{FF2B5EF4-FFF2-40B4-BE49-F238E27FC236}">
                <a16:creationId xmlns:a16="http://schemas.microsoft.com/office/drawing/2014/main" id="{58C77874-0C0B-47B3-878B-68D40F75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24025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ПДУ: где находится ПЭН-1А</a:t>
            </a:r>
          </a:p>
        </p:txBody>
      </p:sp>
      <p:sp>
        <p:nvSpPr>
          <p:cNvPr id="45" name="ПЭН-А,Б: какие узлы наблюдают">
            <a:extLst xmlns:a="http://schemas.openxmlformats.org/drawingml/2006/main">
              <a:ext uri="{FF2B5EF4-FFF2-40B4-BE49-F238E27FC236}">
                <a16:creationId xmlns:a16="http://schemas.microsoft.com/office/drawing/2014/main" id="{94AF9591-8288-4297-84E0-845917C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ПЭН-А,Б: какие узлы наблюдают</a:t>
            </a:r>
          </a:p>
        </p:txBody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C5288A-82B7-422B-B66C-3FF0A2E9C6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f56b2dbbf4ee5"/>
          <a:stretch xmlns:a="http://schemas.openxmlformats.org/drawingml/2006/main"/>
        </p:blipFill>
        <p:spPr>
          <a:xfrm xmlns:a="http://schemas.openxmlformats.org/drawingml/2006/main">
            <a:off x="777240" y="2421423"/>
            <a:ext cx="5095875" cy="2462829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D052B4-16AC-4649-9AB5-C21084FF35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76494b4c044eb"/>
          <a:stretch xmlns:a="http://schemas.openxmlformats.org/drawingml/2006/main"/>
        </p:blipFill>
        <p:spPr>
          <a:xfrm xmlns:a="http://schemas.openxmlformats.org/drawingml/2006/main">
            <a:off x="6305550" y="2424083"/>
            <a:ext cx="5095875" cy="2457510"/>
          </a:xfrm>
          <a:prstGeom xmlns:a="http://schemas.openxmlformats.org/drawingml/2006/main" prst="rect">
            <a:avLst/>
          </a:prstGeom>
        </p:spPr>
      </p:pic>
      <p:sp>
        <p:nvSpPr>
          <p:cNvPr id="48" name="ПН-01 учебно связан с ПЭН-1А.&#10;Схема открывает">
            <a:extLst xmlns:a="http://schemas.openxmlformats.org/drawingml/2006/main">
              <a:ext uri="{FF2B5EF4-FFF2-40B4-BE49-F238E27FC236}">
                <a16:creationId xmlns:a16="http://schemas.microsoft.com/office/drawing/2014/main" id="{A3C865CB-DA84-4D40-9A80-80AFE986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1495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ПН-01 учебно связан с ПЭН-1А.</a:t>
            </a:r>
          </a:p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Схема открывается из панели.</a:t>
            </a:r>
          </a:p>
        </p:txBody>
      </p:sp>
      <p:sp>
        <p:nvSpPr>
          <p:cNvPr id="49" name="Видны двигатель, опоры, маслосистема&#10;и вибрац">
            <a:extLst xmlns:a="http://schemas.openxmlformats.org/drawingml/2006/main">
              <a:ext uri="{FF2B5EF4-FFF2-40B4-BE49-F238E27FC236}">
                <a16:creationId xmlns:a16="http://schemas.microsoft.com/office/drawing/2014/main" id="{92CDF177-6206-4F6A-8E90-D098C669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1495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Видны двигатель, опоры, маслосистема</a:t>
            </a:r>
          </a:p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 вибрация по трём направлениям.</a:t>
            </a:r>
          </a:p>
        </p:txBody>
      </p:sp>
      <p:sp>
        <p:nvSpPr>
          <p:cNvPr id="50" name="Материалы предоставлены Елизаветой. Снимки от">
            <a:extLst xmlns:a="http://schemas.openxmlformats.org/drawingml/2006/main">
              <a:ext uri="{FF2B5EF4-FFF2-40B4-BE49-F238E27FC236}">
                <a16:creationId xmlns:a16="http://schemas.microsoft.com/office/drawing/2014/main" id="{BDBA3CC0-938D-4687-B490-E093931E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115050"/>
            <a:ext cx="1060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Материалы предоставлены Елизаветой. Снимки от 01.03.2022; текущую неисправность не подтверждают.</a:t>
            </a:r>
          </a:p>
        </p:txBody>
      </p:sp>
    </p:spTree>
    <p:extLst>
      <p:ext uri="{BB962C8B-B14F-4D97-AF65-F5344CB8AC3E}">
        <p14:creationId xmlns:p14="http://schemas.microsoft.com/office/powerpoint/2010/main" val="20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2026-10-25T13:38:56.6670000Z</dcterms:created>
  <dcterms:modified xsi:type="dcterms:W3CDTF">2026-10-25T13:38:56.6670000Z</dcterms:modified>
</coreProperties>
</file>