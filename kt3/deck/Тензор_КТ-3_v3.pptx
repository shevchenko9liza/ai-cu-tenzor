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c17dde5624f55" /><Relationship Type="http://schemas.openxmlformats.org/officeDocument/2006/relationships/extended-properties" Target="/docProps/app.xml" Id="Rec00206402ad49fd" /><Relationship Type="http://schemas.openxmlformats.org/officeDocument/2006/relationships/officeDocument" Target="/ppt/presentation.xml" Id="R2c13b25872f44b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ef41ba5f64dfa"/>
  </p:sldMasterIdLst>
  <p:notesMasterIdLst>
    <p:notesMasterId xmlns:r="http://schemas.openxmlformats.org/officeDocument/2006/relationships" r:id="R7cde9e8d3bf04ec2"/>
  </p:notesMasterIdLst>
  <p:sldIdLst>
    <p:sldId xmlns:r="http://schemas.openxmlformats.org/officeDocument/2006/relationships" id="256" r:id="Rddab7dfd06e54735"/>
    <p:sldId xmlns:r="http://schemas.openxmlformats.org/officeDocument/2006/relationships" id="257" r:id="R1ed845f2c594432c"/>
    <p:sldId xmlns:r="http://schemas.openxmlformats.org/officeDocument/2006/relationships" id="258" r:id="R84c9e0d658904995"/>
    <p:sldId xmlns:r="http://schemas.openxmlformats.org/officeDocument/2006/relationships" id="259" r:id="R2dff1e7a4c204a55"/>
    <p:sldId xmlns:r="http://schemas.openxmlformats.org/officeDocument/2006/relationships" id="260" r:id="Rd42e82fe66964fa5"/>
    <p:sldId xmlns:r="http://schemas.openxmlformats.org/officeDocument/2006/relationships" id="261" r:id="R1c4dc56b88c64445"/>
    <p:sldId xmlns:r="http://schemas.openxmlformats.org/officeDocument/2006/relationships" id="262" r:id="Rbf97acadcf764f87"/>
    <p:sldId xmlns:r="http://schemas.openxmlformats.org/officeDocument/2006/relationships" id="263" r:id="R2b06a477dc454d5f"/>
    <p:sldId xmlns:r="http://schemas.openxmlformats.org/officeDocument/2006/relationships" id="264" r:id="Rc044c6ec1b9045d9"/>
    <p:sldId xmlns:r="http://schemas.openxmlformats.org/officeDocument/2006/relationships" id="265" r:id="R50846ccd529d4c18"/>
    <p:sldId xmlns:r="http://schemas.openxmlformats.org/officeDocument/2006/relationships" id="266" r:id="R5a8c70aa04184183"/>
    <p:sldId xmlns:r="http://schemas.openxmlformats.org/officeDocument/2006/relationships" id="267" r:id="R0c75671ef14e4a6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92ac65a4842c8" /><Relationship Type="http://schemas.openxmlformats.org/officeDocument/2006/relationships/slideMaster" Target="/ppt/slideMasters/slideMaster1.xml" Id="Rdc7ef41ba5f64dfa" /><Relationship Type="http://schemas.openxmlformats.org/officeDocument/2006/relationships/notesMaster" Target="/ppt/notesMasters/notesMaster1.xml" Id="R7cde9e8d3bf04ec2" /><Relationship Type="http://schemas.openxmlformats.org/officeDocument/2006/relationships/presProps" Target="/ppt/presProps.xml" Id="Rceb15fb80d494dad" /><Relationship Type="http://schemas.openxmlformats.org/officeDocument/2006/relationships/viewProps" Target="/ppt/viewProps.xml" Id="Rab68ba8f46d740b5" /><Relationship Type="http://schemas.openxmlformats.org/officeDocument/2006/relationships/tableStyles" Target="/ppt/tableStyles.xml" Id="Rff5a7e801c824b7f" /><Relationship Type="http://schemas.openxmlformats.org/officeDocument/2006/relationships/slide" Target="/ppt/slides/slide1.xml" Id="Rddab7dfd06e54735" /><Relationship Type="http://schemas.openxmlformats.org/officeDocument/2006/relationships/slide" Target="/ppt/slides/slide2.xml" Id="R1ed845f2c594432c" /><Relationship Type="http://schemas.openxmlformats.org/officeDocument/2006/relationships/slide" Target="/ppt/slides/slide3.xml" Id="R84c9e0d658904995" /><Relationship Type="http://schemas.openxmlformats.org/officeDocument/2006/relationships/slide" Target="/ppt/slides/slide4.xml" Id="R2dff1e7a4c204a55" /><Relationship Type="http://schemas.openxmlformats.org/officeDocument/2006/relationships/slide" Target="/ppt/slides/slide5.xml" Id="Rd42e82fe66964fa5" /><Relationship Type="http://schemas.openxmlformats.org/officeDocument/2006/relationships/slide" Target="/ppt/slides/slide6.xml" Id="R1c4dc56b88c64445" /><Relationship Type="http://schemas.openxmlformats.org/officeDocument/2006/relationships/slide" Target="/ppt/slides/slide7.xml" Id="Rbf97acadcf764f87" /><Relationship Type="http://schemas.openxmlformats.org/officeDocument/2006/relationships/slide" Target="/ppt/slides/slide8.xml" Id="R2b06a477dc454d5f" /><Relationship Type="http://schemas.openxmlformats.org/officeDocument/2006/relationships/slide" Target="/ppt/slides/slide9.xml" Id="Rc044c6ec1b9045d9" /><Relationship Type="http://schemas.openxmlformats.org/officeDocument/2006/relationships/slide" Target="/ppt/slides/slide10.xml" Id="R50846ccd529d4c18" /><Relationship Type="http://schemas.openxmlformats.org/officeDocument/2006/relationships/slide" Target="/ppt/slides/slide11.xml" Id="R5a8c70aa04184183" /><Relationship Type="http://schemas.openxmlformats.org/officeDocument/2006/relationships/slide" Target="/ppt/slides/slide12.xml" Id="R0c75671ef14e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a9bed11388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caa8cb54c542d5" /><Relationship Type="http://schemas.openxmlformats.org/officeDocument/2006/relationships/notesMaster" Target="/ppt/notesMasters/notesMaster1.xml" Id="R28e5a0ce53f0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65397292fa47e1" /><Relationship Type="http://schemas.openxmlformats.org/officeDocument/2006/relationships/notesMaster" Target="/ppt/notesMasters/notesMaster1.xml" Id="Rd93eeb0e5fc94c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9ade8317d44934" /><Relationship Type="http://schemas.openxmlformats.org/officeDocument/2006/relationships/notesMaster" Target="/ppt/notesMasters/notesMaster1.xml" Id="Rd5eadab496a3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ac5ce969f748a2" /><Relationship Type="http://schemas.openxmlformats.org/officeDocument/2006/relationships/notesMaster" Target="/ppt/notesMasters/notesMaster1.xml" Id="R0484b3742798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1fabc952b64438" /><Relationship Type="http://schemas.openxmlformats.org/officeDocument/2006/relationships/notesMaster" Target="/ppt/notesMasters/notesMaster1.xml" Id="R6cbe9d8537dc4f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6c12b60ea45d4" /><Relationship Type="http://schemas.openxmlformats.org/officeDocument/2006/relationships/notesMaster" Target="/ppt/notesMasters/notesMaster1.xml" Id="Rc434169b1d7a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041d38018843af" /><Relationship Type="http://schemas.openxmlformats.org/officeDocument/2006/relationships/notesMaster" Target="/ppt/notesMasters/notesMaster1.xml" Id="R9216ad09f03b40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f1ab16ff17432d" /><Relationship Type="http://schemas.openxmlformats.org/officeDocument/2006/relationships/notesMaster" Target="/ppt/notesMasters/notesMaster1.xml" Id="Rbb7e3063dce9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c6c2763db6408e" /><Relationship Type="http://schemas.openxmlformats.org/officeDocument/2006/relationships/notesMaster" Target="/ppt/notesMasters/notesMaster1.xml" Id="Rdb470bd3364f44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dc21482485407a" /><Relationship Type="http://schemas.openxmlformats.org/officeDocument/2006/relationships/notesMaster" Target="/ppt/notesMasters/notesMaster1.xml" Id="R90983e168d9d4f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0acbed1f0a470a" /><Relationship Type="http://schemas.openxmlformats.org/officeDocument/2006/relationships/notesMaster" Target="/ppt/notesMasters/notesMaster1.xml" Id="R7cfd266860a24b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7e7e03651940c4" /><Relationship Type="http://schemas.openxmlformats.org/officeDocument/2006/relationships/notesMaster" Target="/ppt/notesMasters/notesMaster1.xml" Id="Rcebb2e360923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«Тензор» исследует, как предупреждать отказы промышленного оборудования. На КТ-3 показываем один входной шаг: инженер станции разбирает архив, понимает ограничения и готовит следующий шаг. В демонстрации используются вымышленные наборы. Главный вопрос для нас: помогает ли такой результат принять решение о дальнейшем эксперименте.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рассматриваем станцию, где архив уже есть и руководство интересуется прогнозированием. Пользователь первой версии — инженер. Предполагаемая проблема возникает перед расходами на эксперимент: непонятно, что можно проверить на имеющихся данных и что нужно запросить. Наш результат должен помочь согласовать следующий шаг. Возможная модель дохода — ограниченная диагностика данных с заранее оговорённым результатом. Это коммерческая гипотеза, цены и готовности платить у нас пока нет. Разбор может уже быстро делать собственная ИТ-служба или подрядчик, поэтому эту альтернативу проверяем в кастдеве.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 выбора пока ограничено двумя разговорами. В первом собеседник говорил о сборе и доверии к данным в холдинге, но он не целевой инженер. Во втором руководитель станции сообщил, что архив хранится долго, и рассказал о недавнем отказе. Это конспект без записи, состав архива и работа с ним ещё неизвестны. Поэтому мы берём проверку архива как гипотезу первой версии. Утверждать, что это главная проблема всех станций, нельзя. Синтетические интервью использовали для подготовки вопросов; новых свидетельств спроса они не дают.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https://github.com/shevchenko9liza/ai-cu-tenzor/blob/main/course/sources.md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Выбран один пользователь: инженер станции, которому поручили подготовить архив для решения об эксперименте. Его история заканчивается объяснимым выводом и следующим шагом. Пять задач на слайде образуют целый процесс: выбор, состав данных, уточнение, вывод и план. В этой версии нет настоящей загрузки, подключения к оборудованию и обучения модели. Это позволяет проверить, понятна ли логика работы, до разработки этих частей.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показывает деятельность пользователя. Сначала инженер определяет набор и цель. Затем читает причины замечаний. Если данных достаточно для следующего шага, он сразу получает план подготовки эксперимента. Если неизвестен часовой пояс, уточняет только подтверждённые сведения и повторяет проверку. Если сведения получить пока нельзя, сохраняет запрос владельцу. При отсутствии истории событий получает отдельное ограничение для прогноза отказов. Во всех вариантах есть понятный конец: следующий рабочий шаг. В макете реализованы показанные переходы, возврат и сохранение плана. Реальный ответ службы станции и решение руководителя происходят вне интерфейса.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Заявляем три варианта одного процесса. В C1 метаданные согласованы, и результатом становится план подготовки эксперимента. Это ещё не подтверждение качества прогноза. В C2 инженер может подтвердить пояс и повторить проверку или признать, что сведений нет, и запросить их. В C3 история событий отсутствует, поэтому макет сохраняет отрицательный вывод для оценки прогноза отказов. Кнопки, которая просто снимает это ограничение, нет. При смене набора прежний результат сбрасывается.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Переходим в HTML-прототип. Сначала выбираем A, открываем паспорт, запускаем проверку и читаем ограниченный технический вывод. В плане показываем пустые поля ответственного, срока и результата действия: их заполняет человек после согласования. Скачанный файл включает эти значения. При смене набора с записями показываем предупреждение и возможность отмены. Затем выбираем B. Пробуем оставить неизвестный пояс: интерфейс не принимает его за подтверждённый. Показываем вариант запроса владельцу. После этого разыгрываем получение подтверждённого UTC+3 и явно повторяем проверку. Наконец выбираем C без журнала событий. Показываем, почему вывод остаётся отрицательным, и какой запрос можно сохранить. Эксперт может пройти те же варианты самостоятельно. Все данные и ответы учебные. Если ссылка из презентации не открылась, в распакованном комплекте открыть lab05/prototype.html.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демонстрации хотим дать инженеру задачу без маршрута по кнопкам. Нам важно увидеть, понимает ли он, что ограничивает результат и что делать дальше. Отдельный риск — принять зелёный технический вывод за обещание, что модель обязательно будет работать. Будем фиксировать его объяснение, ошибки, попытки угадать неизвестные сведения и места, где потребовалась подсказка. Результатов такой проверки с целевым пользователем пока нет.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Удобство интерфейса не отвечает на вопрос о покупке. Поэтому отдельно разбираем прошлую работу инженера, один реальный отказ и последнее решение руководителя о похожих расходах. Фиксируем текущую альтернативу, реальные затраты и того, кто принимает решение. Если такой разбор уже быстро выполняют своими силами, самостоятельная платная диагностика может оказаться лишней. Следующим подтверждением будет конкретное согласованное действие, а не только положительная реакция на макет.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https://github.com/shevchenko9liza/ai-cu-tenzor/blob/main/business/custdev-plan.md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Просим экспертов попробовать выбранный путь и указать, где результат ещё не помогает принять рабочее решение. Второй вопрос — о самостоятельной ценности диагностики данных. Хотим понять, при каких условиях она может быть услугой и где её лучше оставить частью текущего процесса. По итогам встречи определим конкретное изменение сценария и следующий вопрос кастдева.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https://github.com/shevchenko9liza/ai-cu-tenzor/blob/main/business/problem-and-evidence.md</a:t>
            </a:r>
            <a:endParaRPr/>
          </a:p>
          <a:p xmlns:a="http://schemas.openxmlformats.org/drawingml/2006/main">
            <a:r>
              <a:t>https://github.com/shevchenko9liza/ai-cu-tenzor/blob/main/kt3/usm.md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приложение связывает задачи пользователя с наблюдаемым поведением макета. Полные функциональные и нефункциональные требования приведены в репозитории. Производственные пороги пригодности архива пока не установлены. Условия этого слайда относятся к учебному интерфейсу.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https://github.com/shevchenko9liza/ai-cu-tenzor/blob/main/lab05/requirements.md</a:t>
            </a:r>
            <a:endParaRPr/>
          </a:p>
          <a:p xmlns:a="http://schemas.openxmlformats.org/drawingml/2006/main">
            <a:r>
              <a:t>https://github.com/shevchenko9liza/ai-cu-tenzor/blob/main/lab05/part1.md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Запасной слайд для обсуждения двух веток, если интерактивная демонстрация временно недоступна. Он показывает ответы того же учебного прототипа. В C2 нельзя заменить неизвестное время догадкой. В C3 отсутствие истории событий сохраняется до получения сведений; настоящий импорт журнала находится за рамками макета.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Источники:</a:t>
            </a:r>
            <a:endParaRPr/>
          </a:p>
          <a:p xmlns:a="http://schemas.openxmlformats.org/drawingml/2006/main">
            <a:r>
              <a:t>https://github.com/shevchenko9liza/ai-cu-tenzor/blob/main/lab05/prototype.html</a:t>
            </a:r>
            <a:endParaRPr/>
          </a:p>
          <a:p xmlns:a="http://schemas.openxmlformats.org/drawingml/2006/main">
            <a:r>
              <a:t>https://github.com/shevchenko9liza/ai-cu-tenzor/blob/main/lab05/part2.md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0524b81534a6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56a7206e34aeb" /><Relationship Type="http://schemas.openxmlformats.org/officeDocument/2006/relationships/slideLayout" Target="/ppt/slideLayouts/slideLayout1.xml" Id="R1e9cefc7cac14f5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cefc7cac14f5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1976f517444fc" /><Relationship Type="http://schemas.openxmlformats.org/officeDocument/2006/relationships/image" Target="/ppt/media/image.png" Id="R7816cbbf42ed4171" /><Relationship Type="http://schemas.openxmlformats.org/officeDocument/2006/relationships/image" Target="/ppt/media/image2.png" Id="Rca8849f1e7364855" /><Relationship Type="http://schemas.openxmlformats.org/officeDocument/2006/relationships/notesSlide" Target="/ppt/notesSlides/notesSlide1.xml" Id="R936a1eca9793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410f528ee44e8" /><Relationship Type="http://schemas.openxmlformats.org/officeDocument/2006/relationships/image" Target="/ppt/media/image3.png" Id="R142359d4d80a471b" /><Relationship Type="http://schemas.openxmlformats.org/officeDocument/2006/relationships/notesSlide" Target="/ppt/notesSlides/notesSlide2.xml" Id="Rfc504b150720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ff3e8e4e741ac" /><Relationship Type="http://schemas.openxmlformats.org/officeDocument/2006/relationships/image" Target="/ppt/media/image4.png" Id="R162e4038a36f4bb5" /><Relationship Type="http://schemas.openxmlformats.org/officeDocument/2006/relationships/notesSlide" Target="/ppt/notesSlides/notesSlide3.xml" Id="Rf9d46adb184e47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b3cc659e244b6" /><Relationship Type="http://schemas.openxmlformats.org/officeDocument/2006/relationships/image" Target="/ppt/media/image5.png" Id="R4587b8a9581d4c1d" /><Relationship Type="http://schemas.openxmlformats.org/officeDocument/2006/relationships/notesSlide" Target="/ppt/notesSlides/notesSlide4.xml" Id="R8025924d16d4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daf74b3c24181" /><Relationship Type="http://schemas.openxmlformats.org/officeDocument/2006/relationships/image" Target="/ppt/media/image6.png" Id="R2da93fdbe15b4f82" /><Relationship Type="http://schemas.openxmlformats.org/officeDocument/2006/relationships/notesSlide" Target="/ppt/notesSlides/notesSlide5.xml" Id="R02ddfe2e2c3c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8e16a53574f53" /><Relationship Type="http://schemas.openxmlformats.org/officeDocument/2006/relationships/image" Target="/ppt/media/image7.png" Id="Rc9f1448ad8c7403c" /><Relationship Type="http://schemas.openxmlformats.org/officeDocument/2006/relationships/notesSlide" Target="/ppt/notesSlides/notesSlide6.xml" Id="Re796c2a9b2be48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6cf1038834639" /><Relationship Type="http://schemas.openxmlformats.org/officeDocument/2006/relationships/image" Target="/ppt/media/image8.png" Id="Ra64eec88f9c8414a" /><Relationship Type="http://schemas.openxmlformats.org/officeDocument/2006/relationships/image" Target="/ppt/media/image9.png" Id="Rc86b1250772b49f1" /><Relationship Type="http://schemas.openxmlformats.org/officeDocument/2006/relationships/hyperlink" Target="../../lab05/prototype.html" TargetMode="External" Id="R9448327371bf4632" /><Relationship Type="http://schemas.openxmlformats.org/officeDocument/2006/relationships/notesSlide" Target="/ppt/notesSlides/notesSlide7.xml" Id="R88ac7e7730a74f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f63dff3e14b99" /><Relationship Type="http://schemas.openxmlformats.org/officeDocument/2006/relationships/image" Target="/ppt/media/image10.png" Id="Rd1b9395f125048b8" /><Relationship Type="http://schemas.openxmlformats.org/officeDocument/2006/relationships/notesSlide" Target="/ppt/notesSlides/notesSlide8.xml" Id="Rfc8ec25263e64c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a5448231435f" /><Relationship Type="http://schemas.openxmlformats.org/officeDocument/2006/relationships/image" Target="/ppt/media/image11.png" Id="Rd20963aa3d13419a" /><Relationship Type="http://schemas.openxmlformats.org/officeDocument/2006/relationships/notesSlide" Target="/ppt/notesSlides/notesSlide9.xml" Id="R68fff45e4d9c4e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ed83cdc8344bb" /><Relationship Type="http://schemas.openxmlformats.org/officeDocument/2006/relationships/image" Target="/ppt/media/image12.png" Id="R7bb896ed280c4dfd" /><Relationship Type="http://schemas.openxmlformats.org/officeDocument/2006/relationships/hyperlink" Target="../../lab05/prototype.html" TargetMode="External" Id="R18b45e83f993427f" /><Relationship Type="http://schemas.openxmlformats.org/officeDocument/2006/relationships/hyperlink" Target="https://github.com/shevchenko9liza/ai-cu-tenzor/tree/main/lab05" TargetMode="External" Id="Ra3f2624f7b204bae" /><Relationship Type="http://schemas.openxmlformats.org/officeDocument/2006/relationships/hyperlink" Target="https://github.com/shevchenko9liza/ai-cu-tenzor/blob/main/kt3/usm.md" TargetMode="External" Id="R17f3096b65104220" /><Relationship Type="http://schemas.openxmlformats.org/officeDocument/2006/relationships/hyperlink" Target="https://github.com/shevchenko9liza/ai-cu-tenzor/blob/main/business/custdev-plan.md" TargetMode="External" Id="R67f3b5c649f149a6" /><Relationship Type="http://schemas.openxmlformats.org/officeDocument/2006/relationships/notesSlide" Target="/ppt/notesSlides/notesSlide10.xml" Id="R038f9c95f5c643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ba7e1bdf4807" /><Relationship Type="http://schemas.openxmlformats.org/officeDocument/2006/relationships/image" Target="/ppt/media/image6.png" Id="Ra7315305c8da4127" /><Relationship Type="http://schemas.openxmlformats.org/officeDocument/2006/relationships/notesSlide" Target="/ppt/notesSlides/notesSlide11.xml" Id="Rf8475087e5134b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8a23d6ede45ac" /><Relationship Type="http://schemas.openxmlformats.org/officeDocument/2006/relationships/image" Target="/ppt/media/image8.png" Id="R3d7627b40f994777" /><Relationship Type="http://schemas.openxmlformats.org/officeDocument/2006/relationships/image" Target="/ppt/media/image13.png" Id="R23b846b5ea6f4613" /><Relationship Type="http://schemas.openxmlformats.org/officeDocument/2006/relationships/image" Target="/ppt/media/image14.png" Id="Ra84421f797234cf2" /><Relationship Type="http://schemas.openxmlformats.org/officeDocument/2006/relationships/notesSlide" Target="/ppt/notesSlides/notesSlide12.xml" Id="Rdc6295383dd447d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16cbbf42ed417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BAE273-19F1-4427-BA23-5E73326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КТ-3  ПОЛЬЗОВАТЕЛЬСКИЙ СЦЕНАРИЙ</a:t>
            </a:r>
            <a:endParaRPr sz="1200"/>
          </a:p>
        </p:txBody>
      </p:sp>
      <p:sp>
        <p:nvSpPr>
          <p:cNvPr id="3" name="Логотип">
            <a:extLst xmlns:a="http://schemas.openxmlformats.org/drawingml/2006/main">
              <a:ext uri="{FF2B5EF4-FFF2-40B4-BE49-F238E27FC236}">
                <a16:creationId xmlns:a16="http://schemas.microsoft.com/office/drawing/2014/main" id="{AB9BAE55-2445-45F8-8F9E-28F1BD33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51560"/>
            <a:ext cx="51206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Тен</a:t>
            </a:r>
            <a:r>
              <a:rPr sz="6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зор</a:t>
            </a:r>
            <a:endParaRPr sz="6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B1E733-98FB-47E8-9593-07B7EBD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5349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buNone/>
              <a:defRPr sz="2175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Проверка архива перед экспериментом по прогнозу отказов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56E510-4F8E-4FE3-8550-18FA5E6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91840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Для кого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D9B6657-CB85-42C9-85F1-A00A28F1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291840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станции, который готовит данные для эксперимента</a:t>
            </a:r>
            <a:endParaRPr sz="13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31F75D-05D5-447B-8DF0-A2B65E6C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Результат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A027E4-57E8-47AE-9602-C97C5C7B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1363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Ограничения архива и понятный следующий шаг для руководителя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FCAB0-90AB-4A89-8ECE-A02E2B87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35424"/>
            <a:ext cx="1143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Бизнес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DEF438C-7AAF-4615-8ED4-39D7395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3542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3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Проверяем ценность диагностики данных перед отдельным пилотом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8CF266F-498E-41AF-B18B-D6B6C611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2700">
            <a:solidFill>
              <a:srgbClr val="B8A1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20C4EB5-05E8-4DCB-9E0A-9A5C3EB6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349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buNone/>
              <a:defRPr sz="1350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Учебный прототип на вымышленных данных</a:t>
            </a:r>
            <a:endParaRPr sz="1300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6C83B-F1EF-44F7-B305-5FAB0303F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849f1e7364855"/>
          <a:stretch xmlns:a="http://schemas.openxmlformats.org/drawingml/2006/main"/>
        </p:blipFill>
        <p:spPr>
          <a:xfrm xmlns:a="http://schemas.openxmlformats.org/drawingml/2006/main">
            <a:off x="6455577" y="1051560"/>
            <a:ext cx="4919646" cy="4206240"/>
          </a:xfrm>
          <a:prstGeom xmlns:a="http://schemas.openxmlformats.org/drawingml/2006/main" prst="rect">
            <a:avLst/>
          </a:prstGeom>
        </p:spPr>
      </p:pic>
      <p:sp>
        <p:nvSpPr>
          <p:cNvPr id="14" name="Паспорт набора. Реальный архив не подключён">
            <a:extLst xmlns:a="http://schemas.openxmlformats.org/drawingml/2006/main">
              <a:ext uri="{FF2B5EF4-FFF2-40B4-BE49-F238E27FC236}">
                <a16:creationId xmlns:a16="http://schemas.microsoft.com/office/drawing/2014/main" id="{2ED848E0-12B4-4033-ACBC-2AA4313C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81625"/>
            <a:ext cx="51206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Паспорт набора. Реальный архив не подключён</a:t>
            </a:r>
          </a:p>
        </p:txBody>
      </p:sp>
      <p:sp>
        <p:nvSpPr>
          <p:cNvPr id="15" name="Команда «Тензор»  /  ИИ-центричное предприним">
            <a:extLst xmlns:a="http://schemas.openxmlformats.org/drawingml/2006/main">
              <a:ext uri="{FF2B5EF4-FFF2-40B4-BE49-F238E27FC236}">
                <a16:creationId xmlns:a16="http://schemas.microsoft.com/office/drawing/2014/main" id="{A2A2F011-EFFC-46F8-9F17-0804D674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A7F8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F8E"/>
                </a:solidFill>
                <a:latin typeface="Arial"/>
                <a:ea typeface="Arial"/>
                <a:cs typeface="Arial"/>
              </a:rPr>
              <a:t>Команда «Тензор»  /  ИИ-центричное предпринимательство  /  25.10.2026</a:t>
            </a:r>
          </a:p>
        </p:txBody>
      </p:sp>
    </p:spTree>
    <p:extLst>
      <p:ext uri="{BB962C8B-B14F-4D97-AF65-F5344CB8AC3E}">
        <p14:creationId xmlns:p14="http://schemas.microsoft.com/office/powerpoint/2010/main" val="200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2359d4d80a471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A3B006-77D1-45D4-A29C-CE4E52A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БИЗНЕС-ГИПОТЕЗА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B3023B3-4751-4E2B-9DB6-2ABF3963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Клиент,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ценность и доход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960698-EB05-423E-89E3-957ADF49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5212080" cy="3429000"/>
          </a:xfrm>
          <a:prstGeom xmlns:a="http://schemas.openxmlformats.org/drawingml/2006/main" prst="roundRect">
            <a:avLst>
              <a:gd name="adj" fmla="val 373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B3603F-0714-40A5-8072-FCE070F6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91640"/>
            <a:ext cx="5212080" cy="3429000"/>
          </a:xfrm>
          <a:prstGeom xmlns:a="http://schemas.openxmlformats.org/drawingml/2006/main" prst="roundRect">
            <a:avLst>
              <a:gd name="adj" fmla="val 373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2C62932-BD2B-4987-98D1-D592AD85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7" name="Кому и зачем">
            <a:extLst xmlns:a="http://schemas.openxmlformats.org/drawingml/2006/main">
              <a:ext uri="{FF2B5EF4-FFF2-40B4-BE49-F238E27FC236}">
                <a16:creationId xmlns:a16="http://schemas.microsoft.com/office/drawing/2014/main" id="{F1958E42-E0F1-4BD0-8538-1D53961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1452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Кому и зачем</a:t>
            </a:r>
          </a:p>
        </p:txBody>
      </p:sp>
      <p:sp>
        <p:nvSpPr>
          <p:cNvPr id="18" name="Клиент: станция с архивом данных и интересом ">
            <a:extLst xmlns:a="http://schemas.openxmlformats.org/drawingml/2006/main">
              <a:ext uri="{FF2B5EF4-FFF2-40B4-BE49-F238E27FC236}">
                <a16:creationId xmlns:a16="http://schemas.microsoft.com/office/drawing/2014/main" id="{DBF55F1A-1393-4145-BE31-5636E6D0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71725"/>
            <a:ext cx="461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Клиент: станция с архивом данных и интересом к предупреждению отказов.</a:t>
            </a:r>
          </a:p>
        </p:txBody>
      </p:sp>
      <p:sp>
        <p:nvSpPr>
          <p:cNvPr id="19" name="Инженер готовит набор и объясняет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D002D7C9-C842-4AAD-9CF6-D67E964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19450"/>
            <a:ext cx="461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готовит набор и объясняет ограничения. Технический руководитель решает, как продолжать проект.</a:t>
            </a:r>
          </a:p>
        </p:txBody>
      </p:sp>
      <p:sp>
        <p:nvSpPr>
          <p:cNvPr id="20" name="Плательщик: предприятие или холдинг. Бюджет и">
            <a:extLst xmlns:a="http://schemas.openxmlformats.org/drawingml/2006/main">
              <a:ext uri="{FF2B5EF4-FFF2-40B4-BE49-F238E27FC236}">
                <a16:creationId xmlns:a16="http://schemas.microsoft.com/office/drawing/2014/main" id="{BFCF0BE6-D3D1-4517-A6B8-6E470135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0550"/>
            <a:ext cx="4619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Плательщик: предприятие или холдинг. Бюджет и порядок покупки ещё предстоит выяснить.</a:t>
            </a:r>
          </a:p>
        </p:txBody>
      </p:sp>
      <p:sp>
        <p:nvSpPr>
          <p:cNvPr id="21" name="Что предлагаем проверить">
            <a:extLst xmlns:a="http://schemas.openxmlformats.org/drawingml/2006/main">
              <a:ext uri="{FF2B5EF4-FFF2-40B4-BE49-F238E27FC236}">
                <a16:creationId xmlns:a16="http://schemas.microsoft.com/office/drawing/2014/main" id="{0EEB314B-ECD0-4741-BDC9-5754701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145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Что предлагаем проверить</a:t>
            </a:r>
          </a:p>
        </p:txBody>
      </p:sp>
      <p:sp>
        <p:nvSpPr>
          <p:cNvPr id="22" name="Ограниченная диагностика архива перед решение">
            <a:extLst xmlns:a="http://schemas.openxmlformats.org/drawingml/2006/main">
              <a:ext uri="{FF2B5EF4-FFF2-40B4-BE49-F238E27FC236}">
                <a16:creationId xmlns:a16="http://schemas.microsoft.com/office/drawing/2014/main" id="{6F9817D1-A082-4B7B-B73B-CCD48A4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Ограниченная диагностика архива перед решением о пилоте.</a:t>
            </a:r>
          </a:p>
        </p:txBody>
      </p:sp>
      <p:sp>
        <p:nvSpPr>
          <p:cNvPr id="23" name="Результат: паспорт набора, причины ограничени">
            <a:extLst xmlns:a="http://schemas.openxmlformats.org/drawingml/2006/main">
              <a:ext uri="{FF2B5EF4-FFF2-40B4-BE49-F238E27FC236}">
                <a16:creationId xmlns:a16="http://schemas.microsoft.com/office/drawing/2014/main" id="{E28F4C24-3280-4568-8BBF-C8116FDA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Результат: паспорт набора, причины ограничений и план недостающих действий.</a:t>
            </a:r>
          </a:p>
        </p:txBody>
      </p:sp>
      <p:sp>
        <p:nvSpPr>
          <p:cNvPr id="24" name="Гипотеза дохода: оплата диагностики. Пилот и ">
            <a:extLst xmlns:a="http://schemas.openxmlformats.org/drawingml/2006/main">
              <a:ext uri="{FF2B5EF4-FFF2-40B4-BE49-F238E27FC236}">
                <a16:creationId xmlns:a16="http://schemas.microsoft.com/office/drawing/2014/main" id="{4FF36395-3A4E-4233-806F-31523396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A1FF"/>
                </a:solidFill>
                <a:latin typeface="Arial"/>
                <a:ea typeface="Arial"/>
                <a:cs typeface="Arial"/>
              </a:rPr>
              <a:t>Гипотеза дохода: оплата диагностики. Пилот и будущая подписка обсуждаются отдельно.</a:t>
            </a:r>
          </a:p>
        </p:txBody>
      </p:sp>
      <p:sp>
        <p:nvSpPr>
          <p:cNvPr id="25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901A822D-F221-4F6B-A883-5E43D3D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14975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6" name="Проверяем, нужен ли отдельный платный разбор.">
            <a:extLst xmlns:a="http://schemas.openxmlformats.org/drawingml/2006/main">
              <a:ext uri="{FF2B5EF4-FFF2-40B4-BE49-F238E27FC236}">
                <a16:creationId xmlns:a16="http://schemas.microsoft.com/office/drawing/2014/main" id="{9285466B-2164-4144-915F-459C516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38800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Проверяем, нужен ли отдельный платный разбор. Цена, себестоимость и спрос пока неизвестны.</a:t>
            </a:r>
          </a:p>
        </p:txBody>
      </p:sp>
    </p:spTree>
    <p:extLst>
      <p:ext uri="{BB962C8B-B14F-4D97-AF65-F5344CB8AC3E}">
        <p14:creationId xmlns:p14="http://schemas.microsoft.com/office/powerpoint/2010/main" val="200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62e4038a36f4b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D247C4-4ADC-418C-ABF0-1AD73DF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ОСНОВАНИЯ ВЫБОРА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0D76173-7808-470D-BE3F-7DF24D1B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Почему начинаем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 архива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20E4C1-B4F0-455F-AF6E-B68B9AAF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D4EDBF-048D-4479-9FAD-F81677FB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2EBA7ED-2427-415C-803D-865260D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83080"/>
            <a:ext cx="3383280" cy="2971800"/>
          </a:xfrm>
          <a:prstGeom xmlns:a="http://schemas.openxmlformats.org/drawingml/2006/main" prst="roundRect">
            <a:avLst>
              <a:gd name="adj" fmla="val 430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2700">
            <a:solidFill>
              <a:srgbClr val="30343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C284F3-296A-4B4B-A0F3-432130E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22" name="R1">
            <a:extLst xmlns:a="http://schemas.openxmlformats.org/drawingml/2006/main">
              <a:ext uri="{FF2B5EF4-FFF2-40B4-BE49-F238E27FC236}">
                <a16:creationId xmlns:a16="http://schemas.microsoft.com/office/drawing/2014/main" id="{CB63F33F-42C7-4EDE-97FF-BE577DC3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23" name="Проблемы с данными">
            <a:extLst xmlns:a="http://schemas.openxmlformats.org/drawingml/2006/main">
              <a:ext uri="{FF2B5EF4-FFF2-40B4-BE49-F238E27FC236}">
                <a16:creationId xmlns:a16="http://schemas.microsoft.com/office/drawing/2014/main" id="{DB162946-54DD-40F7-B029-86328C7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Проблемы с данными</a:t>
            </a:r>
          </a:p>
        </p:txBody>
      </p:sp>
      <p:sp>
        <p:nvSpPr>
          <p:cNvPr id="24" name="Аналитик холдинга описал трудности сбора и до">
            <a:extLst xmlns:a="http://schemas.openxmlformats.org/drawingml/2006/main">
              <a:ext uri="{FF2B5EF4-FFF2-40B4-BE49-F238E27FC236}">
                <a16:creationId xmlns:a16="http://schemas.microsoft.com/office/drawing/2014/main" id="{6CAA33AD-5D66-465E-AC9B-10EE3D4A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Аналитик холдинга описал трудности сбора и доверия к показаниям.</a:t>
            </a:r>
          </a:p>
        </p:txBody>
      </p:sp>
      <p:sp>
        <p:nvSpPr>
          <p:cNvPr id="25" name="09.10.2026. Один контекст, взгляд со стороны.">
            <a:extLst xmlns:a="http://schemas.openxmlformats.org/drawingml/2006/main">
              <a:ext uri="{FF2B5EF4-FFF2-40B4-BE49-F238E27FC236}">
                <a16:creationId xmlns:a16="http://schemas.microsoft.com/office/drawing/2014/main" id="{BE2C7BA8-8B1B-4457-B205-6C53A283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09.10.2026. Один контекст, взгляд со стороны.</a:t>
            </a:r>
          </a:p>
        </p:txBody>
      </p:sp>
      <p:sp>
        <p:nvSpPr>
          <p:cNvPr id="26" name="R2">
            <a:extLst xmlns:a="http://schemas.openxmlformats.org/drawingml/2006/main">
              <a:ext uri="{FF2B5EF4-FFF2-40B4-BE49-F238E27FC236}">
                <a16:creationId xmlns:a16="http://schemas.microsoft.com/office/drawing/2014/main" id="{043D9B74-93E7-463D-A351-C5DB0828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7" name="Архив на станции">
            <a:extLst xmlns:a="http://schemas.openxmlformats.org/drawingml/2006/main">
              <a:ext uri="{FF2B5EF4-FFF2-40B4-BE49-F238E27FC236}">
                <a16:creationId xmlns:a16="http://schemas.microsoft.com/office/drawing/2014/main" id="{312A2FE2-DD1E-4481-9D04-6B28E2A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Архив на станции</a:t>
            </a:r>
          </a:p>
        </p:txBody>
      </p:sp>
      <p:sp>
        <p:nvSpPr>
          <p:cNvPr id="28" name="Руководитель сообщил о длительном хранении по">
            <a:extLst xmlns:a="http://schemas.openxmlformats.org/drawingml/2006/main">
              <a:ext uri="{FF2B5EF4-FFF2-40B4-BE49-F238E27FC236}">
                <a16:creationId xmlns:a16="http://schemas.microsoft.com/office/drawing/2014/main" id="{5A87E2F4-A930-4564-830B-E1897BF6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Руководитель сообщил о длительном хранении показаний и недавнем отказе.</a:t>
            </a:r>
          </a:p>
        </p:txBody>
      </p:sp>
      <p:sp>
        <p:nvSpPr>
          <p:cNvPr id="29" name="10.10.2026. Конспект без записи.">
            <a:extLst xmlns:a="http://schemas.openxmlformats.org/drawingml/2006/main">
              <a:ext uri="{FF2B5EF4-FFF2-40B4-BE49-F238E27FC236}">
                <a16:creationId xmlns:a16="http://schemas.microsoft.com/office/drawing/2014/main" id="{3787214B-AE6F-4C6F-A18D-EDCEFBB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10.10.2026. Конспект без записи.</a:t>
            </a:r>
          </a:p>
        </p:txBody>
      </p:sp>
      <p:sp>
        <p:nvSpPr>
          <p:cNvPr id="30" name="?">
            <a:extLst xmlns:a="http://schemas.openxmlformats.org/drawingml/2006/main">
              <a:ext uri="{FF2B5EF4-FFF2-40B4-BE49-F238E27FC236}">
                <a16:creationId xmlns:a16="http://schemas.microsoft.com/office/drawing/2014/main" id="{F6D5A0EC-881B-44EA-B7F1-029843D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1168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Пробел исследования">
            <a:extLst xmlns:a="http://schemas.openxmlformats.org/drawingml/2006/main">
              <a:ext uri="{FF2B5EF4-FFF2-40B4-BE49-F238E27FC236}">
                <a16:creationId xmlns:a16="http://schemas.microsoft.com/office/drawing/2014/main" id="{8C26CD13-1060-44AC-A46C-B8F0759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33675"/>
            <a:ext cx="283464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Пробел исследования</a:t>
            </a:r>
          </a:p>
        </p:txBody>
      </p:sp>
      <p:sp>
        <p:nvSpPr>
          <p:cNvPr id="32" name="Работу выбранного инженера и пригодность конк">
            <a:extLst xmlns:a="http://schemas.openxmlformats.org/drawingml/2006/main">
              <a:ext uri="{FF2B5EF4-FFF2-40B4-BE49-F238E27FC236}">
                <a16:creationId xmlns:a16="http://schemas.microsoft.com/office/drawing/2014/main" id="{DA465173-18F8-42B4-A91C-28A9DB0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57575"/>
            <a:ext cx="28346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Работу выбранного инженера и пригодность конкретного архива ещё не проверили.</a:t>
            </a:r>
          </a:p>
        </p:txBody>
      </p:sp>
      <p:sp>
        <p:nvSpPr>
          <p:cNvPr id="33" name="Частота проблемы, затраты и спрос неизвестны.">
            <a:extLst xmlns:a="http://schemas.openxmlformats.org/drawingml/2006/main">
              <a:ext uri="{FF2B5EF4-FFF2-40B4-BE49-F238E27FC236}">
                <a16:creationId xmlns:a16="http://schemas.microsoft.com/office/drawing/2014/main" id="{A6D18E00-D39A-4A2B-A172-C1D3BB0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43400"/>
            <a:ext cx="2834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Частота проблемы, затраты и спрос неизвестны.</a:t>
            </a:r>
          </a:p>
        </p:txBody>
      </p:sp>
      <p:sp>
        <p:nvSpPr>
          <p:cNvPr id="34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71448FC-39AD-4D4D-8030-49F0E45E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4450"/>
            <a:ext cx="10607040" cy="762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2EE6C9"/>
            </a:solidFill>
          </a:ln>
        </p:spPr>
      </p:sp>
      <p:sp>
        <p:nvSpPr>
          <p:cNvPr id="35" name="Рабочая гипотеза: до эксперимента инженеру тр">
            <a:extLst xmlns:a="http://schemas.openxmlformats.org/drawingml/2006/main">
              <a:ext uri="{FF2B5EF4-FFF2-40B4-BE49-F238E27FC236}">
                <a16:creationId xmlns:a16="http://schemas.microsoft.com/office/drawing/2014/main" id="{6A3F0345-585E-4A38-A299-8953E228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48275"/>
            <a:ext cx="1017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Рабочая гипотеза: до эксперимента инженеру трудно обосновать пригодность архива и 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200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87b8a9581d4c1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B2EC40-0EE5-420A-B459-9864DDA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ПЕРВАЯ ВЕРСИЯ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E5AB1B7-3567-4CC7-AFDD-82151746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Задача инженера и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границы</a:t>
            </a:r>
            <a:endParaRPr sz="3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CD8B431-7BC4-42F6-BCE8-AF0C5A0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3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0DA9D21-55CC-46EC-A0F8-D003257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3143250" cy="4057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37" name="Исходн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3B467A2F-4A1A-47C8-A00E-BB5E0B3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52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Исходная ситуация</a:t>
            </a:r>
          </a:p>
        </p:txBody>
      </p:sp>
      <p:sp>
        <p:nvSpPr>
          <p:cNvPr id="38" name="Руководитель просит оценить архив перед экспе">
            <a:extLst xmlns:a="http://schemas.openxmlformats.org/drawingml/2006/main">
              <a:ext uri="{FF2B5EF4-FFF2-40B4-BE49-F238E27FC236}">
                <a16:creationId xmlns:a16="http://schemas.microsoft.com/office/drawing/2014/main" id="{5C356A86-A3C2-44E1-A5B8-5C6E0FA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0775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Руководитель просит оценить архив перед экспериментом по прогнозу отказов.</a:t>
            </a:r>
          </a:p>
        </p:txBody>
      </p:sp>
      <p:sp>
        <p:nvSpPr>
          <p:cNvPr id="39" name="Рабочи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3BE87D25-8B4A-4BE6-8A7B-F7369E78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Рабочий результат</a:t>
            </a:r>
          </a:p>
        </p:txBody>
      </p:sp>
      <p:sp>
        <p:nvSpPr>
          <p:cNvPr id="40" name="Инженер объясняет ограничения и передаёт план">
            <a:extLst xmlns:a="http://schemas.openxmlformats.org/drawingml/2006/main">
              <a:ext uri="{FF2B5EF4-FFF2-40B4-BE49-F238E27FC236}">
                <a16:creationId xmlns:a16="http://schemas.microsoft.com/office/drawing/2014/main" id="{30AA9EE0-AF9B-4E8F-8454-1615E08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148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объясняет ограничения и передаёт план дальнейших действий.</a:t>
            </a:r>
          </a:p>
        </p:txBody>
      </p:sp>
      <p:graphicFrame>
        <p:nvGraphicFrame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08B5A-1AFE-484B-A810-7E1506E05EA7}"/>
              </a:ext>
            </a:extLst>
          </p:cNvPr>
          <p:cNvGraphicFramePr/>
          <p:nvPr/>
        </p:nvGraphicFramePr>
        <p:xfrm>
          <a:off xmlns:a="http://schemas.openxmlformats.org/drawingml/2006/main" x="4162425" y="1737360"/>
          <a:ext xmlns:a="http://schemas.openxmlformats.org/drawingml/2006/main" cx="72199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"/>
                <a:gridCol w="2686050"/>
                <a:gridCol w="38195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Нужный результат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US1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Выбрать архив для заданной цели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Вывод относится к нужному набору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US2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 состав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Причины ограничений понятны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US3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Уточнить метаданные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Повтор учитывает подтверждённые сведения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US4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вывод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Границы применимости ясны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US5</a:t>
                      </a:r>
                    </a:p>
                  </a:txBody>
                  <a:tcPr marL="123825" marR="123825" marT="114300" marB="7620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Подготовить план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Следующий шаг можно сохранить</a:t>
                      </a:r>
                    </a:p>
                  </a:txBody>
                  <a:tcPr marL="123825" marR="123825" marT="114300" marB="7620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42" name="За пределами: реальная загрузка, доступ к ста">
            <a:extLst xmlns:a="http://schemas.openxmlformats.org/drawingml/2006/main">
              <a:ext uri="{FF2B5EF4-FFF2-40B4-BE49-F238E27FC236}">
                <a16:creationId xmlns:a16="http://schemas.microsoft.com/office/drawing/2014/main" id="{EEDEA8B4-FF23-458E-AEE6-CBF6CB3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435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За пределами: реальная загрузка, доступ к станции, обучение модели, прогноз и расчёт экономии.</a:t>
            </a:r>
          </a:p>
        </p:txBody>
      </p:sp>
    </p:spTree>
    <p:extLst>
      <p:ext uri="{BB962C8B-B14F-4D97-AF65-F5344CB8AC3E}">
        <p14:creationId xmlns:p14="http://schemas.microsoft.com/office/powerpoint/2010/main" val="200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da93fdbe15b4f8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8090D0-1D1F-45F7-AEDD-35EAAE3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USER STORY MAP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61B78AE-363F-4C10-97EF-3090688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Путь инженера</a:t>
            </a: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 по архиву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6F4F75BF-01F0-42E3-99B1-1AED91E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1D3F2A-27AF-49A6-A1D8-9E1F5C127EFA}"/>
              </a:ext>
            </a:extLst>
          </p:cNvPr>
          <p:cNvGraphicFramePr/>
          <p:nvPr/>
        </p:nvGraphicFramePr>
        <p:xfrm>
          <a:off xmlns:a="http://schemas.openxmlformats.org/drawingml/2006/main" x="777240" y="1743075"/>
          <a:ext xmlns:a="http://schemas.openxmlformats.org/drawingml/2006/main" cx="10607040" cy="397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3990"/>
                <a:gridCol w="2290763"/>
                <a:gridCol w="2290763"/>
                <a:gridCol w="2290763"/>
                <a:gridCol w="2290763"/>
              </a:tblGrid>
              <a:tr h="4667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1. Исходники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2. Ограничения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3. Уточнение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4. Следующий шаг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Действия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Выбрать архив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цель и состав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Запустить проверку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Разобрать замечания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Подтвердить пояс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 повторить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Прочитать вывод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Заполнить поля плана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Ответ продукта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Паспорт: объект, период, параметры, события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Причина ограничения и её влияние на задачу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Сохранённое уточнение, новый вывод или запрос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План или запрос, ручные поля согласования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Варианты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Без выбора нельзя продолжить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пояс: C2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событий: C3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Подтвердить: сохранить и повторить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Неизвестно: запрос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План: назад к результату</a:t>
                      </a:r>
                    </a:p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Смена: предупреждение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В прототипе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Три учебных набора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Заранее заданные результаты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Выбор, ошибка, сохранение и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Поля плана и скачивание .txt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Согласованный набор проходит без уточнения. Р">
            <a:extLst xmlns:a="http://schemas.openxmlformats.org/drawingml/2006/main">
              <a:ext uri="{FF2B5EF4-FFF2-40B4-BE49-F238E27FC236}">
                <a16:creationId xmlns:a16="http://schemas.microsoft.com/office/drawing/2014/main" id="{AD855253-7822-4DDA-BF4B-5E9BE230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67400"/>
            <a:ext cx="106070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Согласованный набор проходит без уточнения. Реальная выгрузка, ответ владельца и решение руководителя остаются за макетом.</a:t>
            </a:r>
          </a:p>
        </p:txBody>
      </p:sp>
    </p:spTree>
    <p:extLst>
      <p:ext uri="{BB962C8B-B14F-4D97-AF65-F5344CB8AC3E}">
        <p14:creationId xmlns:p14="http://schemas.microsoft.com/office/powerpoint/2010/main" val="200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9f1448ad8c7403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62BA10-5C90-46E2-8066-CB8CFB8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ВАРИАНТЫ ПРОХОЖДЕНИЯ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55B56A0-1776-4EEE-B47E-C372C9E6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Три состояния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одного процесса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7042853-3DA6-4FE4-BC97-F9E5B62E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21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E7EC7944-7074-46B1-B6DC-EBA6180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2" name="C1">
            <a:extLst xmlns:a="http://schemas.openxmlformats.org/drawingml/2006/main">
              <a:ext uri="{FF2B5EF4-FFF2-40B4-BE49-F238E27FC236}">
                <a16:creationId xmlns:a16="http://schemas.microsoft.com/office/drawing/2014/main" id="{D4C67C11-FB24-4077-A9A2-1BAA045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3" name="Сведения согласованы">
            <a:extLst xmlns:a="http://schemas.openxmlformats.org/drawingml/2006/main">
              <a:ext uri="{FF2B5EF4-FFF2-40B4-BE49-F238E27FC236}">
                <a16:creationId xmlns:a16="http://schemas.microsoft.com/office/drawing/2014/main" id="{453073CB-8657-415E-9AF7-396E953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Сведения согласованы</a:t>
            </a:r>
          </a:p>
        </p:txBody>
      </p:sp>
      <p:sp>
        <p:nvSpPr>
          <p:cNvPr id="24" name="В учебном наборе указаны время и история собы">
            <a:extLst xmlns:a="http://schemas.openxmlformats.org/drawingml/2006/main">
              <a:ext uri="{FF2B5EF4-FFF2-40B4-BE49-F238E27FC236}">
                <a16:creationId xmlns:a16="http://schemas.microsoft.com/office/drawing/2014/main" id="{8987493B-FA21-49D9-AA19-D4DC67C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В учебном наборе указаны время и история событий.</a:t>
            </a:r>
          </a:p>
        </p:txBody>
      </p:sp>
      <p:sp>
        <p:nvSpPr>
          <p:cNvPr id="25" name="Можно готовить эксперимент">
            <a:extLst xmlns:a="http://schemas.openxmlformats.org/drawingml/2006/main">
              <a:ext uri="{FF2B5EF4-FFF2-40B4-BE49-F238E27FC236}">
                <a16:creationId xmlns:a16="http://schemas.microsoft.com/office/drawing/2014/main" id="{6F6A9A7B-DEFA-4B51-A3C4-6913800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Можно готовить эксперимент</a:t>
            </a:r>
          </a:p>
        </p:txBody>
      </p:sp>
      <p:sp>
        <p:nvSpPr>
          <p:cNvPr id="26" name="План включает цель, горизонт и способ оценки.">
            <a:extLst xmlns:a="http://schemas.openxmlformats.org/drawingml/2006/main">
              <a:ext uri="{FF2B5EF4-FFF2-40B4-BE49-F238E27FC236}">
                <a16:creationId xmlns:a16="http://schemas.microsoft.com/office/drawing/2014/main" id="{ED977282-B17D-41C3-8B81-FF596831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План включает цель, горизонт и способ оценки.</a:t>
            </a:r>
          </a:p>
        </p:txBody>
      </p:sp>
      <p:sp>
        <p:nvSpPr>
          <p:cNvPr id="2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0D280AE-FD5C-4279-932A-78DF890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28" name="C2">
            <a:extLst xmlns:a="http://schemas.openxmlformats.org/drawingml/2006/main">
              <a:ext uri="{FF2B5EF4-FFF2-40B4-BE49-F238E27FC236}">
                <a16:creationId xmlns:a16="http://schemas.microsoft.com/office/drawing/2014/main" id="{0F37C733-E6BA-46D2-93A6-18AC624C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Неизвестный часовой пояс">
            <a:extLst xmlns:a="http://schemas.openxmlformats.org/drawingml/2006/main">
              <a:ext uri="{FF2B5EF4-FFF2-40B4-BE49-F238E27FC236}">
                <a16:creationId xmlns:a16="http://schemas.microsoft.com/office/drawing/2014/main" id="{579A1720-98E2-40B4-A89F-105D493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Неизвестный часовой пояс</a:t>
            </a:r>
          </a:p>
        </p:txBody>
      </p:sp>
      <p:sp>
        <p:nvSpPr>
          <p:cNvPr id="30" name="Уточнить подтверждённое значение и повторить ">
            <a:extLst xmlns:a="http://schemas.openxmlformats.org/drawingml/2006/main">
              <a:ext uri="{FF2B5EF4-FFF2-40B4-BE49-F238E27FC236}">
                <a16:creationId xmlns:a16="http://schemas.microsoft.com/office/drawing/2014/main" id="{7EDC247B-297F-4E78-9C17-2CBB5476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Уточнить подтверждённое значение и повторить проверку.</a:t>
            </a:r>
          </a:p>
        </p:txBody>
      </p:sp>
      <p:sp>
        <p:nvSpPr>
          <p:cNvPr id="31" name="Если не знаем, готовим запрос">
            <a:extLst xmlns:a="http://schemas.openxmlformats.org/drawingml/2006/main">
              <a:ext uri="{FF2B5EF4-FFF2-40B4-BE49-F238E27FC236}">
                <a16:creationId xmlns:a16="http://schemas.microsoft.com/office/drawing/2014/main" id="{E2EA64D3-C8A2-409F-9D7E-EEF87F0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Если не знаем, готовим запрос</a:t>
            </a:r>
          </a:p>
        </p:txBody>
      </p:sp>
      <p:sp>
        <p:nvSpPr>
          <p:cNvPr id="32" name="Догадка не считается подтверждением.">
            <a:extLst xmlns:a="http://schemas.openxmlformats.org/drawingml/2006/main">
              <a:ext uri="{FF2B5EF4-FFF2-40B4-BE49-F238E27FC236}">
                <a16:creationId xmlns:a16="http://schemas.microsoft.com/office/drawing/2014/main" id="{EDCF3A12-5B91-421C-978A-91E9B6A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Догадка не считается подтверждением.</a:t>
            </a:r>
          </a:p>
        </p:txBody>
      </p:sp>
      <p:sp>
        <p:nvSpPr>
          <p:cNvPr id="3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653AA991-20FF-45BE-B521-FCD3A94B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43075"/>
            <a:ext cx="3383280" cy="352425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34" name="C3">
            <a:extLst xmlns:a="http://schemas.openxmlformats.org/drawingml/2006/main">
              <a:ext uri="{FF2B5EF4-FFF2-40B4-BE49-F238E27FC236}">
                <a16:creationId xmlns:a16="http://schemas.microsoft.com/office/drawing/2014/main" id="{A17F2BF1-43BC-482F-8AEE-CC8C7B07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35" name="Нет истории событий">
            <a:extLst xmlns:a="http://schemas.openxmlformats.org/drawingml/2006/main">
              <a:ext uri="{FF2B5EF4-FFF2-40B4-BE49-F238E27FC236}">
                <a16:creationId xmlns:a16="http://schemas.microsoft.com/office/drawing/2014/main" id="{4A93FD30-5331-4EA7-B839-6788581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Нет истории событий</a:t>
            </a:r>
          </a:p>
        </p:txBody>
      </p:sp>
      <p:sp>
        <p:nvSpPr>
          <p:cNvPr id="36" name="Нельзя оценить, какие предупреждения предшест">
            <a:extLst xmlns:a="http://schemas.openxmlformats.org/drawingml/2006/main">
              <a:ext uri="{FF2B5EF4-FFF2-40B4-BE49-F238E27FC236}">
                <a16:creationId xmlns:a16="http://schemas.microsoft.com/office/drawing/2014/main" id="{1939D7D2-F1A0-4FB3-935E-01E73DC9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91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Нельзя оценить, какие предупреждения предшествовали отказам.</a:t>
            </a:r>
          </a:p>
        </p:txBody>
      </p:sp>
      <p:sp>
        <p:nvSpPr>
          <p:cNvPr id="37" name="Запрашиваем историю">
            <a:extLst xmlns:a="http://schemas.openxmlformats.org/drawingml/2006/main">
              <a:ext uri="{FF2B5EF4-FFF2-40B4-BE49-F238E27FC236}">
                <a16:creationId xmlns:a16="http://schemas.microsoft.com/office/drawing/2014/main" id="{A5854089-B13C-41C0-90E7-7611642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291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Запрашиваем историю</a:t>
            </a:r>
          </a:p>
        </p:txBody>
      </p:sp>
      <p:sp>
        <p:nvSpPr>
          <p:cNvPr id="38" name="Другие задачи анализа требуют отдельной цели.">
            <a:extLst xmlns:a="http://schemas.openxmlformats.org/drawingml/2006/main">
              <a:ext uri="{FF2B5EF4-FFF2-40B4-BE49-F238E27FC236}">
                <a16:creationId xmlns:a16="http://schemas.microsoft.com/office/drawing/2014/main" id="{6551E64A-26DD-4F3B-9064-B25E07C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48225"/>
            <a:ext cx="2914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Другие задачи анализа требуют отдельной цели.</a:t>
            </a:r>
          </a:p>
        </p:txBody>
      </p:sp>
      <p:sp>
        <p:nvSpPr>
          <p:cNvPr id="3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741A314-85DF-4155-B571-D3F7B64D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260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B8A1FF"/>
            </a:solidFill>
          </a:ln>
        </p:spPr>
      </p:sp>
      <p:sp>
        <p:nvSpPr>
          <p:cNvPr id="40" name="При смене архива с записями есть предупрежден">
            <a:extLst xmlns:a="http://schemas.openxmlformats.org/drawingml/2006/main">
              <a:ext uri="{FF2B5EF4-FFF2-40B4-BE49-F238E27FC236}">
                <a16:creationId xmlns:a16="http://schemas.microsoft.com/office/drawing/2014/main" id="{9138448C-8846-4BE7-80EE-F3C42E5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8642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При смене архива с записями есть предупреждение и отмена. Возврат сохраняет поля текущего плана.</a:t>
            </a:r>
          </a:p>
        </p:txBody>
      </p:sp>
    </p:spTree>
    <p:extLst>
      <p:ext uri="{BB962C8B-B14F-4D97-AF65-F5344CB8AC3E}">
        <p14:creationId xmlns:p14="http://schemas.microsoft.com/office/powerpoint/2010/main" val="200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4eec88f9c841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671AA-4336-46C0-9477-C3DB9060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ДЕМОНСТРАЦИЯ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425417B-6C0F-4BBC-B402-5C4FEF1D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Разбор архива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в прототипе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9082F007-6849-489E-87AA-71A66B0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10EBB4-6D39-4EDB-8798-A652EED0A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1250772b49f1"/>
          <a:stretch xmlns:a="http://schemas.openxmlformats.org/drawingml/2006/main"/>
        </p:blipFill>
        <p:spPr>
          <a:xfrm xmlns:a="http://schemas.openxmlformats.org/drawingml/2006/main">
            <a:off x="1557568" y="1685925"/>
            <a:ext cx="4506769" cy="4276725"/>
          </a:xfrm>
          <a:prstGeom xmlns:a="http://schemas.openxmlformats.org/drawingml/2006/main" prst="rect">
            <a:avLst/>
          </a:prstGeom>
        </p:spPr>
      </p:pic>
      <p:sp>
        <p:nvSpPr>
          <p:cNvPr id="45" name="Самостоятельное прохождение">
            <a:extLst xmlns:a="http://schemas.openxmlformats.org/drawingml/2006/main">
              <a:ext uri="{FF2B5EF4-FFF2-40B4-BE49-F238E27FC236}">
                <a16:creationId xmlns:a16="http://schemas.microsoft.com/office/drawing/2014/main" id="{9AD4C1D1-DC3E-42C1-B721-B3D0D2C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4191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Самостоятельное прохождение</a:t>
            </a:r>
          </a:p>
        </p:txBody>
      </p:sp>
      <p:sp>
        <p:nvSpPr>
          <p:cNvPr id="46" name="Набор A&#10;Паспорт, вывод, поля плана и файл">
            <a:extLst xmlns:a="http://schemas.openxmlformats.org/drawingml/2006/main">
              <a:ext uri="{FF2B5EF4-FFF2-40B4-BE49-F238E27FC236}">
                <a16:creationId xmlns:a16="http://schemas.microsoft.com/office/drawing/2014/main" id="{5D878A46-BE43-4413-8BB3-4026FE6F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409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A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Паспорт, вывод, поля плана и файл</a:t>
            </a:r>
          </a:p>
        </p:txBody>
      </p:sp>
      <p:sp>
        <p:nvSpPr>
          <p:cNvPr id="47" name="Набор B&#10;Ошибка, сохранение уточнения и повтор">
            <a:extLst xmlns:a="http://schemas.openxmlformats.org/drawingml/2006/main">
              <a:ext uri="{FF2B5EF4-FFF2-40B4-BE49-F238E27FC236}">
                <a16:creationId xmlns:a16="http://schemas.microsoft.com/office/drawing/2014/main" id="{4E647906-E059-4289-A080-463660C4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52825"/>
            <a:ext cx="409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B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Ошибка, сохранение уточнения и повтор</a:t>
            </a:r>
          </a:p>
        </p:txBody>
      </p:sp>
      <p:sp>
        <p:nvSpPr>
          <p:cNvPr id="48" name="Набор C&#10;Причина ограничения и запрос истории">
            <a:extLst xmlns:a="http://schemas.openxmlformats.org/drawingml/2006/main">
              <a:ext uri="{FF2B5EF4-FFF2-40B4-BE49-F238E27FC236}">
                <a16:creationId xmlns:a16="http://schemas.microsoft.com/office/drawing/2014/main" id="{7E6FEDBB-7469-4000-9F31-853E2A6C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Набор C</a:t>
            </a:r>
          </a:p>
          <a:p xmlns:a="http://schemas.openxmlformats.org/drawingml/2006/main">
            <a:pPr>
              <a:defRPr sz="18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Причина ограничения и запрос истории</a:t>
            </a:r>
          </a:p>
        </p:txBody>
      </p:sp>
      <p:sp>
        <p:nvSpPr>
          <p:cNvPr id="49" name="Открыть HTML-прототип">
            <a:extLst xmlns:a="http://schemas.openxmlformats.org/drawingml/2006/main">
              <a:ext uri="{FF2B5EF4-FFF2-40B4-BE49-F238E27FC236}">
                <a16:creationId xmlns:a16="http://schemas.microsoft.com/office/drawing/2014/main" id="{91FDF2A3-AE6D-4FE0-8392-892747C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24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9448327371bf4632"/>
              </a:rPr>
              <a:t>Открыть HTML-прототип</a:t>
            </a:r>
          </a:p>
        </p:txBody>
      </p:sp>
      <p:sp>
        <p:nvSpPr>
          <p:cNvPr id="50" name="Учебные данные. Ответы подготовлены заранее, ">
            <a:extLst xmlns:a="http://schemas.openxmlformats.org/drawingml/2006/main">
              <a:ext uri="{FF2B5EF4-FFF2-40B4-BE49-F238E27FC236}">
                <a16:creationId xmlns:a16="http://schemas.microsoft.com/office/drawing/2014/main" id="{29FC8435-26B0-4111-B358-378F08B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69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Учебные данные. Ответы подготовлены заранее, сервер и ИИ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200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b9395f125048b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169C9B-44BE-4446-948F-2629253B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ПРОВЕРКА ИНТЕРФЕЙСА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1F1DECC-7DF4-4F0D-89E4-7A3EBD96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Что должен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понять инженер</a:t>
            </a:r>
            <a:endParaRPr sz="3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29357A-39C2-4ED8-AF4E-485C6321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sp>
        <p:nvSpPr>
          <p:cNvPr id="1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AE20B449-F7CD-4DAB-851E-59D3295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24025"/>
            <a:ext cx="5076825" cy="3162300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7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BF57FEB3-39C4-481F-9662-38137B4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24025"/>
            <a:ext cx="5343525" cy="3162300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18" name="Задание пользователю">
            <a:extLst xmlns:a="http://schemas.openxmlformats.org/drawingml/2006/main">
              <a:ext uri="{FF2B5EF4-FFF2-40B4-BE49-F238E27FC236}">
                <a16:creationId xmlns:a16="http://schemas.microsoft.com/office/drawing/2014/main" id="{CCF5D2E7-82A5-4DB2-BB3C-A384679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716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Задание пользователю</a:t>
            </a:r>
          </a:p>
        </p:txBody>
      </p:sp>
      <p:sp>
        <p:nvSpPr>
          <p:cNvPr id="19" name="«Руководитель просит понять, можно ли продолж">
            <a:extLst xmlns:a="http://schemas.openxmlformats.org/drawingml/2006/main">
              <a:ext uri="{FF2B5EF4-FFF2-40B4-BE49-F238E27FC236}">
                <a16:creationId xmlns:a16="http://schemas.microsoft.com/office/drawing/2014/main" id="{FDB1758A-A355-42E4-B7E4-86191DBB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33650"/>
            <a:ext cx="4572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«Руководитель просит понять, можно ли продолжать подготовку эксперимента. Разберите архив и подготовьте следующий шаг».</a:t>
            </a:r>
          </a:p>
        </p:txBody>
      </p:sp>
      <p:sp>
        <p:nvSpPr>
          <p:cNvPr id="20" name="Маршрут по кнопкам заранее не подсказываем.">
            <a:extLst xmlns:a="http://schemas.openxmlformats.org/drawingml/2006/main">
              <a:ext uri="{FF2B5EF4-FFF2-40B4-BE49-F238E27FC236}">
                <a16:creationId xmlns:a16="http://schemas.microsoft.com/office/drawing/2014/main" id="{FE951B6B-30D3-43D7-B9C6-D6040637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910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Маршрут по кнопкам заранее не подсказываем.</a:t>
            </a:r>
          </a:p>
        </p:txBody>
      </p:sp>
      <p:sp>
        <p:nvSpPr>
          <p:cNvPr id="21" name="Что наблюдаем">
            <a:extLst xmlns:a="http://schemas.openxmlformats.org/drawingml/2006/main">
              <a:ext uri="{FF2B5EF4-FFF2-40B4-BE49-F238E27FC236}">
                <a16:creationId xmlns:a16="http://schemas.microsoft.com/office/drawing/2014/main" id="{039ABA20-240E-408D-B792-3350B86E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716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Что наблюдаем</a:t>
            </a:r>
          </a:p>
        </p:txBody>
      </p:sp>
      <p:sp>
        <p:nvSpPr>
          <p:cNvPr id="22" name="Находит ли причину ограничения&#10;&#10;Уточняет ли т">
            <a:extLst xmlns:a="http://schemas.openxmlformats.org/drawingml/2006/main">
              <a:ext uri="{FF2B5EF4-FFF2-40B4-BE49-F238E27FC236}">
                <a16:creationId xmlns:a16="http://schemas.microsoft.com/office/drawing/2014/main" id="{C8F4BB77-EA02-4E53-B3E1-B86A6105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81012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Находит ли причину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Уточняет ли только известные сведения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Объясняет ли вывод своими словами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Понимает ли, что запросить или согласовать</a:t>
            </a:r>
          </a:p>
        </p:txBody>
      </p:sp>
      <p:sp>
        <p:nvSpPr>
          <p:cNvPr id="23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44E20CC4-1554-4A97-B802-3B1AFF5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10607040" cy="7429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24" name="Ключевая проверка: техническая согласованност">
            <a:extLst xmlns:a="http://schemas.openxmlformats.org/drawingml/2006/main">
              <a:ext uri="{FF2B5EF4-FFF2-40B4-BE49-F238E27FC236}">
                <a16:creationId xmlns:a16="http://schemas.microsoft.com/office/drawing/2014/main" id="{0E2020A0-5A9C-4857-8090-8AF77434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81625"/>
            <a:ext cx="1017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Ключевая проверка: техническая согласованность архива не должна восприниматься как обещание точного прогноза.</a:t>
            </a:r>
          </a:p>
        </p:txBody>
      </p:sp>
      <p:sp>
        <p:nvSpPr>
          <p:cNvPr id="25" name="Результатов проверки с целевыми пользователям">
            <a:extLst xmlns:a="http://schemas.openxmlformats.org/drawingml/2006/main">
              <a:ext uri="{FF2B5EF4-FFF2-40B4-BE49-F238E27FC236}">
                <a16:creationId xmlns:a16="http://schemas.microsoft.com/office/drawing/2014/main" id="{4D6DE3AC-FBEC-41BC-99AA-1D8A9388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86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Результатов проверки с целевыми пользователями пока нет.</a:t>
            </a:r>
          </a:p>
        </p:txBody>
      </p:sp>
    </p:spTree>
    <p:extLst>
      <p:ext uri="{BB962C8B-B14F-4D97-AF65-F5344CB8AC3E}">
        <p14:creationId xmlns:p14="http://schemas.microsoft.com/office/powerpoint/2010/main" val="20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0963aa3d1341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55DC5E-8F7B-4DAE-BFBA-6BCF112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КАСТДЕВ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042729C-2977-48AA-81C8-7CF4609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Проверка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ценности для бизнеса</a:t>
            </a:r>
            <a:endParaRPr sz="30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6FFB9F8E-DD7C-4B5D-891A-DC9926A7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9</a:t>
            </a:r>
            <a:endParaRPr sz="1100"/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27D8A2-255B-4989-BB34-5A46F85DDAC3}"/>
              </a:ext>
            </a:extLst>
          </p:cNvPr>
          <p:cNvGraphicFramePr/>
          <p:nvPr/>
        </p:nvGraphicFramePr>
        <p:xfrm>
          <a:off xmlns:a="http://schemas.openxmlformats.org/drawingml/2006/main" x="777240" y="1752600"/>
          <a:ext xmlns:a="http://schemas.openxmlformats.org/drawingml/2006/main" cx="1060704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4171950"/>
                <a:gridCol w="4272915"/>
              </a:tblGrid>
              <a:tr h="4857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Собеседник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Разбираем прошлый случай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Какой факт нужен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Инженер станции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Последняя подготовка архива: шаги, переделки, ожидание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Где возникает затруднение, сколько времени уходит и чем пользуются сейчас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Ремонтник или оператор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Один конкретный отказ: записи и действия до события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Что было доступно заранее и какое действие могло изменить исход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Последняя оплаченная или отклонённая диагностика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Кто принимает решение, из какого бюджета и с чем сравнивает предложение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56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AF6C3FDA-4272-4FC5-ACF9-09E766F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1975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FFC857"/>
            </a:solidFill>
          </a:ln>
        </p:spPr>
      </p:sp>
      <p:sp>
        <p:nvSpPr>
          <p:cNvPr id="57" name="Если существующий способ устраивает, а по наш">
            <a:extLst xmlns:a="http://schemas.openxmlformats.org/drawingml/2006/main">
              <a:ext uri="{FF2B5EF4-FFF2-40B4-BE49-F238E27FC236}">
                <a16:creationId xmlns:a16="http://schemas.microsoft.com/office/drawing/2014/main" id="{ED647BDB-71E8-4AB1-B63C-00CDA9EE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435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существующий способ устраивает, а по нашему результату ничего не меняется, предложение нужно пересмотреть.</a:t>
            </a:r>
          </a:p>
        </p:txBody>
      </p:sp>
    </p:spTree>
    <p:extLst>
      <p:ext uri="{BB962C8B-B14F-4D97-AF65-F5344CB8AC3E}">
        <p14:creationId xmlns:p14="http://schemas.microsoft.com/office/powerpoint/2010/main" val="2008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b896ed280c4d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42D2D9-729F-4DD1-AB0C-D734695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ОБРАТНАЯ СВЯЗЬ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C6E1B08-15CC-4B03-8F72-AEB0D2F5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Вопросы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экспертам</a:t>
            </a:r>
            <a:endParaRPr sz="30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C1FA344-DC5A-4DE2-9421-C6D8F18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  <p:sp>
        <p:nvSpPr>
          <p:cNvPr id="39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0789F86D-50CF-4D0B-96AF-44A84B5A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24025"/>
            <a:ext cx="6248400" cy="345757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40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6A59E92E-0C39-41F8-B427-279A2ACB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4124325" cy="3457575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1B1D23"/>
          </a:solidFill>
          <a:ln xmlns:a="http://schemas.openxmlformats.org/drawingml/2006/main" w="10478">
            <a:solidFill>
              <a:srgbClr val="30343F"/>
            </a:solidFill>
          </a:ln>
        </p:spPr>
      </p:sp>
      <p:sp>
        <p:nvSpPr>
          <p:cNvPr id="41" name="1">
            <a:extLst xmlns:a="http://schemas.openxmlformats.org/drawingml/2006/main">
              <a:ext uri="{FF2B5EF4-FFF2-40B4-BE49-F238E27FC236}">
                <a16:creationId xmlns:a16="http://schemas.microsoft.com/office/drawing/2014/main" id="{E83C73F8-B5F5-4B20-9118-A481F6F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2" name="Какого результата не хватает инженеру, чтобы ">
            <a:extLst xmlns:a="http://schemas.openxmlformats.org/drawingml/2006/main">
              <a:ext uri="{FF2B5EF4-FFF2-40B4-BE49-F238E27FC236}">
                <a16:creationId xmlns:a16="http://schemas.microsoft.com/office/drawing/2014/main" id="{73A6B6DC-8241-461C-A346-4B1B173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5238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Какого результата не хватает инженеру, чтобы обоснованно передать решение руководителю?</a:t>
            </a:r>
          </a:p>
        </p:txBody>
      </p:sp>
      <p:sp>
        <p:nvSpPr>
          <p:cNvPr id="43" name="2">
            <a:extLst xmlns:a="http://schemas.openxmlformats.org/drawingml/2006/main">
              <a:ext uri="{FF2B5EF4-FFF2-40B4-BE49-F238E27FC236}">
                <a16:creationId xmlns:a16="http://schemas.microsoft.com/office/drawing/2014/main" id="{FED4E31F-D4F8-41B0-8882-36E6D57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8A1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8A1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Когда диагностика архива имеет самостоятельну">
            <a:extLst xmlns:a="http://schemas.openxmlformats.org/drawingml/2006/main">
              <a:ext uri="{FF2B5EF4-FFF2-40B4-BE49-F238E27FC236}">
                <a16:creationId xmlns:a16="http://schemas.microsoft.com/office/drawing/2014/main" id="{5D384697-6417-4405-9C5D-97AFC6A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8615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4F7"/>
                </a:solidFill>
                <a:latin typeface="Arial"/>
                <a:ea typeface="Arial"/>
                <a:cs typeface="Arial"/>
              </a:rPr>
              <a:t>Когда диагностика архива имеет самостоятельную ценность, а когда достаточно работы текущего подрядчика?</a:t>
            </a:r>
          </a:p>
        </p:txBody>
      </p:sp>
      <p:sp>
        <p:nvSpPr>
          <p:cNvPr id="45" name="Материалы проекта">
            <a:extLst xmlns:a="http://schemas.openxmlformats.org/drawingml/2006/main">
              <a:ext uri="{FF2B5EF4-FFF2-40B4-BE49-F238E27FC236}">
                <a16:creationId xmlns:a16="http://schemas.microsoft.com/office/drawing/2014/main" id="{89C1DC89-FE46-4C80-B3D9-06CDAB3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46" name="Прототип в комплекте">
            <a:extLst xmlns:a="http://schemas.openxmlformats.org/drawingml/2006/main">
              <a:ext uri="{FF2B5EF4-FFF2-40B4-BE49-F238E27FC236}">
                <a16:creationId xmlns:a16="http://schemas.microsoft.com/office/drawing/2014/main" id="{64E9F218-1AEA-4FEF-9562-F7A42AC4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18b45e83f993427f"/>
              </a:rPr>
              <a:t>Прототип в комплекте</a:t>
            </a:r>
          </a:p>
        </p:txBody>
      </p:sp>
      <p:sp>
        <p:nvSpPr>
          <p:cNvPr id="47" name="Сценарии и требования">
            <a:extLst xmlns:a="http://schemas.openxmlformats.org/drawingml/2006/main">
              <a:ext uri="{FF2B5EF4-FFF2-40B4-BE49-F238E27FC236}">
                <a16:creationId xmlns:a16="http://schemas.microsoft.com/office/drawing/2014/main" id="{D7942CB4-4FA5-4637-99D7-2315E39D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24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a3f2624f7b204bae"/>
              </a:rPr>
              <a:t>Сценарии и требования</a:t>
            </a:r>
          </a:p>
        </p:txBody>
      </p:sp>
      <p:sp>
        <p:nvSpPr>
          <p:cNvPr id="48" name="USM">
            <a:extLst xmlns:a="http://schemas.openxmlformats.org/drawingml/2006/main">
              <a:ext uri="{FF2B5EF4-FFF2-40B4-BE49-F238E27FC236}">
                <a16:creationId xmlns:a16="http://schemas.microsoft.com/office/drawing/2014/main" id="{F7FC880C-9DD2-44C0-9AB0-45B1BE5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576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17f3096b65104220"/>
              </a:rPr>
              <a:t>USM</a:t>
            </a:r>
          </a:p>
        </p:txBody>
      </p:sp>
      <p:sp>
        <p:nvSpPr>
          <p:cNvPr id="49" name="План кастдева">
            <a:extLst xmlns:a="http://schemas.openxmlformats.org/drawingml/2006/main">
              <a:ext uri="{FF2B5EF4-FFF2-40B4-BE49-F238E27FC236}">
                <a16:creationId xmlns:a16="http://schemas.microsoft.com/office/drawing/2014/main" id="{32405931-99BF-4B16-8D61-04F2F99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E6C9"/>
                </a:solidFill>
                <a:latin typeface="Arial"/>
                <a:ea typeface="Arial"/>
                <a:cs typeface="Arial"/>
                <a:hlinkClick xmlns:r="http://schemas.openxmlformats.org/officeDocument/2006/relationships" r:id="R67f3b5c649f149a6"/>
              </a:rPr>
              <a:t>План кастдева</a:t>
            </a:r>
          </a:p>
        </p:txBody>
      </p:sp>
      <p:sp>
        <p:nvSpPr>
          <p:cNvPr id="50" name="Template panel">
            <a:extLst xmlns:a="http://schemas.openxmlformats.org/drawingml/2006/main">
              <a:ext uri="{FF2B5EF4-FFF2-40B4-BE49-F238E27FC236}">
                <a16:creationId xmlns:a16="http://schemas.microsoft.com/office/drawing/2014/main" id="{CAE95C93-E314-40C1-BBCD-8A6F9CA7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43550"/>
            <a:ext cx="1060704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6181D"/>
          </a:solidFill>
          <a:ln xmlns:a="http://schemas.openxmlformats.org/drawingml/2006/main" w="10478">
            <a:solidFill>
              <a:srgbClr val="B8A1FF"/>
            </a:solidFill>
          </a:ln>
        </p:spPr>
      </p:sp>
      <p:sp>
        <p:nvSpPr>
          <p:cNvPr id="51" name="По обратной связи уточним границы сценария и ">
            <a:extLst xmlns:a="http://schemas.openxmlformats.org/drawingml/2006/main">
              <a:ext uri="{FF2B5EF4-FFF2-40B4-BE49-F238E27FC236}">
                <a16:creationId xmlns:a16="http://schemas.microsoft.com/office/drawing/2014/main" id="{7FCEB287-8331-4A4A-B6A1-CE67E755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673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 обратной связи уточним границы сценария и первоочередную проверку бизнес-гипотезы.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200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315305c8da41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8090D0-1D1F-45F7-AEDD-35EAAE3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1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61B78AE-363F-4C10-97EF-3090688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Требования</a:t>
            </a: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 к выбранному сценарию</a:t>
            </a:r>
            <a:endParaRPr sz="30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6F4F75BF-01F0-42E3-99B1-1AED91E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11</a:t>
            </a:r>
            <a:endParaRPr sz="1100"/>
          </a:p>
        </p:txBody>
      </p:sp>
      <p:graphicFrame>
        <p:nvGraphicFrame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DC5F38-23A6-4687-8FB8-2AA2FF07BCCE}"/>
              </a:ext>
            </a:extLst>
          </p:cNvPr>
          <p:cNvGraphicFramePr/>
          <p:nvPr/>
        </p:nvGraphicFramePr>
        <p:xfrm>
          <a:off xmlns:a="http://schemas.openxmlformats.org/drawingml/2006/main" x="777240" y="1724025"/>
          <a:ext xmlns:a="http://schemas.openxmlformats.org/drawingml/2006/main" cx="1060704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4705350"/>
                <a:gridCol w="4806315"/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Требование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E6C9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Наблюдаемое поведение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T w="9525">
                      <a:solidFill>
                        <a:srgbClr val="30343F"/>
                      </a:solidFill>
                      <a:prstDash val="solid"/>
                    </a:lnT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6181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US1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объект и период на карточке, заданную цель. Требовать выбор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Пустой выбор вызывает сообщение у поля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US2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состав архива и причину каждого ограничения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Неизвестное время и отсутствие событий названы явно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US3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подтверждённый пояс и требовать отдельный повтор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После повтора статус B виден в выводе, плане и файле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US4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Объяснять границы результата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Нет журнала событий: ограничение прогноза отказов сохраняется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8A1FF"/>
                          </a:solidFill>
                          <a:latin typeface="Arial"/>
                          <a:ea typeface="Arial"/>
                          <a:cs typeface="Arial"/>
                        </a:rPr>
                        <a:t>US5</a:t>
                      </a:r>
                    </a:p>
                  </a:txBody>
                  <a:tcPr marL="114300" marR="114300" marT="114300" marB="95250" anchor="t">
                    <a:lnL w="9525">
                      <a:solidFill>
                        <a:srgbClr val="30343F"/>
                      </a:solidFill>
                      <a:prstDash val="solid"/>
                    </a:lnL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Сохранять ручные поля плана по текущему результату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DDE0E7"/>
                          </a:solidFill>
                          <a:latin typeface="Arial"/>
                          <a:ea typeface="Arial"/>
                          <a:cs typeface="Arial"/>
                        </a:rPr>
                        <a:t>Файл содержит набор, статус, вывод и заполненные поля плана</a:t>
                      </a:r>
                    </a:p>
                  </a:txBody>
                  <a:tcPr marL="114300" marR="114300" marT="114300" marB="95250" anchor="t">
                    <a:lnR w="9525">
                      <a:solidFill>
                        <a:srgbClr val="30343F"/>
                      </a:solidFill>
                      <a:prstDash val="solid"/>
                    </a:lnR>
                    <a:lnB w="9525">
                      <a:solidFill>
                        <a:srgbClr val="30343F"/>
                      </a:solidFill>
                      <a:prstDash val="solid"/>
                    </a:lnB>
                    <a:solidFill>
                      <a:srgbClr val="1B1D23"/>
                    </a:solidFill>
                  </a:tcPr>
                </a:tc>
              </a:tr>
            </a:tbl>
          </a:graphicData>
        </a:graphic>
      </p:graphicFrame>
      <p:sp>
        <p:nvSpPr>
          <p:cNvPr id="68" name="НФТ макета: автономная работа без сети, возвр">
            <a:extLst xmlns:a="http://schemas.openxmlformats.org/drawingml/2006/main">
              <a:ext uri="{FF2B5EF4-FFF2-40B4-BE49-F238E27FC236}">
                <a16:creationId xmlns:a16="http://schemas.microsoft.com/office/drawing/2014/main" id="{9844E25A-F3C3-491E-91C0-529EC96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34050"/>
            <a:ext cx="1060704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НФТ макета: автономная работа без сети, возврат без потери текущего выбора, подтверждение сброса записей, доступность действий на ширине 390 px.</a:t>
            </a:r>
          </a:p>
        </p:txBody>
      </p:sp>
    </p:spTree>
    <p:extLst>
      <p:ext uri="{BB962C8B-B14F-4D97-AF65-F5344CB8AC3E}">
        <p14:creationId xmlns:p14="http://schemas.microsoft.com/office/powerpoint/2010/main" val="201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7627b40f99477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671AA-4336-46C0-9477-C3DB9060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1">
                <a:solidFill>
                  <a:srgbClr val="2EE6C9"/>
                </a:solidFill>
                <a:latin typeface="Arial"/>
                <a:ea typeface="Arial"/>
                <a:cs typeface="Arial"/>
              </a:defRPr>
            </a:pPr>
            <a:r>
              <a:rPr sz="1200" b="1" spc="300">
                <a:solidFill>
                  <a:srgbClr val="2EE6C9"/>
                </a:solidFill>
                <a:latin typeface="Arial"/>
                <a:ea typeface="Arial"/>
                <a:cs typeface="Arial"/>
              </a:rPr>
              <a:t>ПРИЛОЖЕНИЕ 2</a:t>
            </a:r>
            <a:endParaRPr sz="1200"/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425417B-6C0F-4BBC-B402-5C4FEF1D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41248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  <a:defRPr sz="3000" b="1">
                <a:solidFill>
                  <a:srgbClr val="F3F4F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4F7"/>
                </a:solidFill>
                <a:latin typeface="Arial"/>
                <a:ea typeface="Arial"/>
                <a:cs typeface="Arial"/>
              </a:rPr>
              <a:t>Результат при </a:t>
            </a:r>
            <a:r>
              <a:rPr sz="3000" b="1">
                <a:solidFill>
                  <a:srgbClr val="2EE6C9"/>
                </a:solidFill>
                <a:latin typeface="Arial"/>
                <a:ea typeface="Arial"/>
                <a:cs typeface="Arial"/>
              </a:rPr>
              <a:t>неполных данных</a:t>
            </a:r>
            <a:endParaRPr sz="30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9082F007-6849-489E-87AA-71A66B0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272784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 algn="r"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  <a:defRPr sz="1100" b="1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6ABB8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  <p:sp>
        <p:nvSpPr>
          <p:cNvPr id="44" name="C2. Неизвестный часовой пояс">
            <a:extLst xmlns:a="http://schemas.openxmlformats.org/drawingml/2006/main">
              <a:ext uri="{FF2B5EF4-FFF2-40B4-BE49-F238E27FC236}">
                <a16:creationId xmlns:a16="http://schemas.microsoft.com/office/drawing/2014/main" id="{4D8CFAFC-C18B-4114-BD28-3CB41CD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002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C2. Неизвестный часовой пояс</a:t>
            </a:r>
          </a:p>
        </p:txBody>
      </p:sp>
      <p:sp>
        <p:nvSpPr>
          <p:cNvPr id="45" name="C3. Нет истории событий">
            <a:extLst xmlns:a="http://schemas.openxmlformats.org/drawingml/2006/main">
              <a:ext uri="{FF2B5EF4-FFF2-40B4-BE49-F238E27FC236}">
                <a16:creationId xmlns:a16="http://schemas.microsoft.com/office/drawing/2014/main" id="{85332485-C224-4D49-86D2-41261FC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02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6F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8F"/>
                </a:solidFill>
                <a:latin typeface="Arial"/>
                <a:ea typeface="Arial"/>
                <a:cs typeface="Arial"/>
              </a:rPr>
              <a:t>C3. Нет истории событий</a:t>
            </a:r>
          </a:p>
        </p:txBody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E8EA99-04EC-4BB2-A2CB-3F866CEB8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846b5ea6f4613"/>
          <a:stretch xmlns:a="http://schemas.openxmlformats.org/drawingml/2006/main"/>
        </p:blipFill>
        <p:spPr>
          <a:xfrm xmlns:a="http://schemas.openxmlformats.org/drawingml/2006/main">
            <a:off x="777240" y="2758335"/>
            <a:ext cx="5076825" cy="865081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35211-3457-4199-9898-B708F5477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421f797234cf2"/>
          <a:stretch xmlns:a="http://schemas.openxmlformats.org/drawingml/2006/main"/>
        </p:blipFill>
        <p:spPr>
          <a:xfrm xmlns:a="http://schemas.openxmlformats.org/drawingml/2006/main">
            <a:off x="6305550" y="2688876"/>
            <a:ext cx="5076825" cy="1003999"/>
          </a:xfrm>
          <a:prstGeom xmlns:a="http://schemas.openxmlformats.org/drawingml/2006/main" prst="rect">
            <a:avLst/>
          </a:prstGeom>
        </p:spPr>
      </p:pic>
      <p:sp>
        <p:nvSpPr>
          <p:cNvPr id="48" name="Если пояс неизвестен, инженер готовит запрос ">
            <a:extLst xmlns:a="http://schemas.openxmlformats.org/drawingml/2006/main">
              <a:ext uri="{FF2B5EF4-FFF2-40B4-BE49-F238E27FC236}">
                <a16:creationId xmlns:a16="http://schemas.microsoft.com/office/drawing/2014/main" id="{8E50CBDD-8436-4BC2-9716-77343EC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00550"/>
            <a:ext cx="50768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Если пояс неизвестен, инженер готовит запрос владельцу.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После подтверждения UTC+3 нужно повторить проверку.</a:t>
            </a:r>
          </a:p>
        </p:txBody>
      </p:sp>
      <p:sp>
        <p:nvSpPr>
          <p:cNvPr id="49" name="Инженер сохраняет запрос истории отказов и ре">
            <a:extLst xmlns:a="http://schemas.openxmlformats.org/drawingml/2006/main">
              <a:ext uri="{FF2B5EF4-FFF2-40B4-BE49-F238E27FC236}">
                <a16:creationId xmlns:a16="http://schemas.microsoft.com/office/drawing/2014/main" id="{43B9A6D2-4746-47DC-B1DD-8D6147C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50768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Инженер сохраняет запрос истории отказов и ремонтов.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DDE0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0E7"/>
                </a:solidFill>
                <a:latin typeface="Arial"/>
                <a:ea typeface="Arial"/>
                <a:cs typeface="Arial"/>
              </a:rPr>
              <a:t>Переход назад не снимает ограничение.</a:t>
            </a:r>
          </a:p>
        </p:txBody>
      </p:sp>
      <p:sp>
        <p:nvSpPr>
          <p:cNvPr id="50" name="Скриншоты учебного прототипа. Основная демонс">
            <a:extLst xmlns:a="http://schemas.openxmlformats.org/drawingml/2006/main">
              <a:ext uri="{FF2B5EF4-FFF2-40B4-BE49-F238E27FC236}">
                <a16:creationId xmlns:a16="http://schemas.microsoft.com/office/drawing/2014/main" id="{F4E42FB6-A5CC-4CA3-9496-43B69CA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96000"/>
            <a:ext cx="106070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AB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6ABB8"/>
                </a:solidFill>
                <a:latin typeface="Arial"/>
                <a:ea typeface="Arial"/>
                <a:cs typeface="Arial"/>
              </a:rPr>
              <a:t>Скриншоты учебного прототипа. Основная демонстрация проходит в отдельном HTML-файле.</a:t>
            </a:r>
          </a:p>
        </p:txBody>
      </p:sp>
    </p:spTree>
    <p:extLst>
      <p:ext uri="{BB962C8B-B14F-4D97-AF65-F5344CB8AC3E}">
        <p14:creationId xmlns:p14="http://schemas.microsoft.com/office/powerpoint/2010/main" val="20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2026-10-25T12:45:29.6870000Z</dcterms:created>
  <dcterms:modified xsi:type="dcterms:W3CDTF">2026-10-25T12:45:29.6870000Z</dcterms:modified>
</coreProperties>
</file>