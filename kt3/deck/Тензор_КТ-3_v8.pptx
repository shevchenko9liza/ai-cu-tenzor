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05caf55064d1f" /><Relationship Type="http://schemas.openxmlformats.org/officeDocument/2006/relationships/extended-properties" Target="/docProps/app.xml" Id="R5a3664d81ac84ad2" /><Relationship Type="http://schemas.openxmlformats.org/officeDocument/2006/relationships/officeDocument" Target="/ppt/presentation.xml" Id="Rd2bdce723c2b44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8e785209c4c15"/>
  </p:sldMasterIdLst>
  <p:notesMasterIdLst>
    <p:notesMasterId xmlns:r="http://schemas.openxmlformats.org/officeDocument/2006/relationships" r:id="Rab64412e310448e2"/>
  </p:notesMasterIdLst>
  <p:sldIdLst>
    <p:sldId xmlns:r="http://schemas.openxmlformats.org/officeDocument/2006/relationships" id="256" r:id="R127dc7819f2341ea"/>
    <p:sldId xmlns:r="http://schemas.openxmlformats.org/officeDocument/2006/relationships" id="257" r:id="R8c09ad28636d45a1"/>
    <p:sldId xmlns:r="http://schemas.openxmlformats.org/officeDocument/2006/relationships" id="258" r:id="Rac156db7f6dc4994"/>
    <p:sldId xmlns:r="http://schemas.openxmlformats.org/officeDocument/2006/relationships" id="259" r:id="Ra61d9aac46c84983"/>
    <p:sldId xmlns:r="http://schemas.openxmlformats.org/officeDocument/2006/relationships" id="260" r:id="R61b897e939aa4b45"/>
    <p:sldId xmlns:r="http://schemas.openxmlformats.org/officeDocument/2006/relationships" id="261" r:id="R649ec88ccc514f84"/>
    <p:sldId xmlns:r="http://schemas.openxmlformats.org/officeDocument/2006/relationships" id="262" r:id="R76f75fac44664ee9"/>
    <p:sldId xmlns:r="http://schemas.openxmlformats.org/officeDocument/2006/relationships" id="263" r:id="R7abd282156274aed"/>
    <p:sldId xmlns:r="http://schemas.openxmlformats.org/officeDocument/2006/relationships" id="264" r:id="R7225245fd2c0467a"/>
    <p:sldId xmlns:r="http://schemas.openxmlformats.org/officeDocument/2006/relationships" id="265" r:id="R21b6632857ba4fc6"/>
    <p:sldId xmlns:r="http://schemas.openxmlformats.org/officeDocument/2006/relationships" id="266" r:id="R5b3862952e0e42f0"/>
    <p:sldId xmlns:r="http://schemas.openxmlformats.org/officeDocument/2006/relationships" id="267" r:id="Ree04bdcd68a64073"/>
    <p:sldId xmlns:r="http://schemas.openxmlformats.org/officeDocument/2006/relationships" id="268" r:id="R3d2633c987c44a16"/>
    <p:sldId xmlns:r="http://schemas.openxmlformats.org/officeDocument/2006/relationships" id="269" r:id="R7fc4fdad95c84434"/>
    <p:sldId xmlns:r="http://schemas.openxmlformats.org/officeDocument/2006/relationships" id="270" r:id="R3033de0747254e7d"/>
    <p:sldId xmlns:r="http://schemas.openxmlformats.org/officeDocument/2006/relationships" id="271" r:id="Rc7008b3533bb4153"/>
    <p:sldId xmlns:r="http://schemas.openxmlformats.org/officeDocument/2006/relationships" id="272" r:id="Rab67f53346694f52"/>
    <p:sldId xmlns:r="http://schemas.openxmlformats.org/officeDocument/2006/relationships" id="273" r:id="R302222688a834c1d"/>
    <p:sldId xmlns:r="http://schemas.openxmlformats.org/officeDocument/2006/relationships" id="274" r:id="R9a839d66b1694171"/>
    <p:sldId xmlns:r="http://schemas.openxmlformats.org/officeDocument/2006/relationships" id="275" r:id="R17f32cd4e6da4903"/>
    <p:sldId xmlns:r="http://schemas.openxmlformats.org/officeDocument/2006/relationships" id="276" r:id="Rb105005f4b1942c0"/>
    <p:sldId xmlns:r="http://schemas.openxmlformats.org/officeDocument/2006/relationships" id="277" r:id="R557a49aca2844e61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4d0b6c18cf49e0" /><Relationship Type="http://schemas.openxmlformats.org/officeDocument/2006/relationships/slideMaster" Target="/ppt/slideMasters/slideMaster1.xml" Id="R4d28e785209c4c15" /><Relationship Type="http://schemas.openxmlformats.org/officeDocument/2006/relationships/notesMaster" Target="/ppt/notesMasters/notesMaster1.xml" Id="Rab64412e310448e2" /><Relationship Type="http://schemas.openxmlformats.org/officeDocument/2006/relationships/presProps" Target="/ppt/presProps.xml" Id="Rd107f9eef8ea4c07" /><Relationship Type="http://schemas.openxmlformats.org/officeDocument/2006/relationships/viewProps" Target="/ppt/viewProps.xml" Id="R5cad8ad689fb499e" /><Relationship Type="http://schemas.openxmlformats.org/officeDocument/2006/relationships/tableStyles" Target="/ppt/tableStyles.xml" Id="R1da150b6b9ee4b81" /><Relationship Type="http://schemas.openxmlformats.org/officeDocument/2006/relationships/slide" Target="/ppt/slides/slide1.xml" Id="R127dc7819f2341ea" /><Relationship Type="http://schemas.openxmlformats.org/officeDocument/2006/relationships/slide" Target="/ppt/slides/slide2.xml" Id="R8c09ad28636d45a1" /><Relationship Type="http://schemas.openxmlformats.org/officeDocument/2006/relationships/slide" Target="/ppt/slides/slide3.xml" Id="Rac156db7f6dc4994" /><Relationship Type="http://schemas.openxmlformats.org/officeDocument/2006/relationships/slide" Target="/ppt/slides/slide4.xml" Id="Ra61d9aac46c84983" /><Relationship Type="http://schemas.openxmlformats.org/officeDocument/2006/relationships/slide" Target="/ppt/slides/slide5.xml" Id="R61b897e939aa4b45" /><Relationship Type="http://schemas.openxmlformats.org/officeDocument/2006/relationships/slide" Target="/ppt/slides/slide6.xml" Id="R649ec88ccc514f84" /><Relationship Type="http://schemas.openxmlformats.org/officeDocument/2006/relationships/slide" Target="/ppt/slides/slide7.xml" Id="R76f75fac44664ee9" /><Relationship Type="http://schemas.openxmlformats.org/officeDocument/2006/relationships/slide" Target="/ppt/slides/slide8.xml" Id="R7abd282156274aed" /><Relationship Type="http://schemas.openxmlformats.org/officeDocument/2006/relationships/slide" Target="/ppt/slides/slide9.xml" Id="R7225245fd2c0467a" /><Relationship Type="http://schemas.openxmlformats.org/officeDocument/2006/relationships/slide" Target="/ppt/slides/slide10.xml" Id="R21b6632857ba4fc6" /><Relationship Type="http://schemas.openxmlformats.org/officeDocument/2006/relationships/slide" Target="/ppt/slides/slide11.xml" Id="R5b3862952e0e42f0" /><Relationship Type="http://schemas.openxmlformats.org/officeDocument/2006/relationships/slide" Target="/ppt/slides/slide12.xml" Id="Ree04bdcd68a64073" /><Relationship Type="http://schemas.openxmlformats.org/officeDocument/2006/relationships/slide" Target="/ppt/slides/slide13.xml" Id="R3d2633c987c44a16" /><Relationship Type="http://schemas.openxmlformats.org/officeDocument/2006/relationships/slide" Target="/ppt/slides/slide14.xml" Id="R7fc4fdad95c84434" /><Relationship Type="http://schemas.openxmlformats.org/officeDocument/2006/relationships/slide" Target="/ppt/slides/slide15.xml" Id="R3033de0747254e7d" /><Relationship Type="http://schemas.openxmlformats.org/officeDocument/2006/relationships/slide" Target="/ppt/slides/slide16.xml" Id="Rc7008b3533bb4153" /><Relationship Type="http://schemas.openxmlformats.org/officeDocument/2006/relationships/slide" Target="/ppt/slides/slide17.xml" Id="Rab67f53346694f52" /><Relationship Type="http://schemas.openxmlformats.org/officeDocument/2006/relationships/slide" Target="/ppt/slides/slide18.xml" Id="R302222688a834c1d" /><Relationship Type="http://schemas.openxmlformats.org/officeDocument/2006/relationships/slide" Target="/ppt/slides/slide19.xml" Id="R9a839d66b1694171" /><Relationship Type="http://schemas.openxmlformats.org/officeDocument/2006/relationships/slide" Target="/ppt/slides/slide20.xml" Id="R17f32cd4e6da4903" /><Relationship Type="http://schemas.openxmlformats.org/officeDocument/2006/relationships/slide" Target="/ppt/slides/slide21.xml" Id="Rb105005f4b1942c0" /><Relationship Type="http://schemas.openxmlformats.org/officeDocument/2006/relationships/slide" Target="/ppt/slides/slide22.xml" Id="R557a49aca2844e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5ec80cec3f42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6ef525367546ec" /><Relationship Type="http://schemas.openxmlformats.org/officeDocument/2006/relationships/notesMaster" Target="/ppt/notesMasters/notesMaster1.xml" Id="R756095e27ec541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33d25252144d30" /><Relationship Type="http://schemas.openxmlformats.org/officeDocument/2006/relationships/notesMaster" Target="/ppt/notesMasters/notesMaster1.xml" Id="Rcfd7ea43c7b747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6441feab124684" /><Relationship Type="http://schemas.openxmlformats.org/officeDocument/2006/relationships/notesMaster" Target="/ppt/notesMasters/notesMaster1.xml" Id="R8accd55152ec49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3ec2cb586d495d" /><Relationship Type="http://schemas.openxmlformats.org/officeDocument/2006/relationships/notesMaster" Target="/ppt/notesMasters/notesMaster1.xml" Id="Re6bafa5765524d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d11c1a1f4e4d12" /><Relationship Type="http://schemas.openxmlformats.org/officeDocument/2006/relationships/notesMaster" Target="/ppt/notesMasters/notesMaster1.xml" Id="R4bb217a213f34f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4ad96a0c0946f1" /><Relationship Type="http://schemas.openxmlformats.org/officeDocument/2006/relationships/notesMaster" Target="/ppt/notesMasters/notesMaster1.xml" Id="R22b2aa93098c4a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00262fe2e54dcf" /><Relationship Type="http://schemas.openxmlformats.org/officeDocument/2006/relationships/notesMaster" Target="/ppt/notesMasters/notesMaster1.xml" Id="R2b05e035237d47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a9f97834f14f18" /><Relationship Type="http://schemas.openxmlformats.org/officeDocument/2006/relationships/notesMaster" Target="/ppt/notesMasters/notesMaster1.xml" Id="Ra723162de0b444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928f34cb8a4529" /><Relationship Type="http://schemas.openxmlformats.org/officeDocument/2006/relationships/notesMaster" Target="/ppt/notesMasters/notesMaster1.xml" Id="R1f7a60bd5aa948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05cdd4f98a453f" /><Relationship Type="http://schemas.openxmlformats.org/officeDocument/2006/relationships/notesMaster" Target="/ppt/notesMasters/notesMaster1.xml" Id="R609d6eda79b141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4d64e2e2274f88" /><Relationship Type="http://schemas.openxmlformats.org/officeDocument/2006/relationships/notesMaster" Target="/ppt/notesMasters/notesMaster1.xml" Id="Rd50d27c1fab24f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256f18a9564df3" /><Relationship Type="http://schemas.openxmlformats.org/officeDocument/2006/relationships/notesMaster" Target="/ppt/notesMasters/notesMaster1.xml" Id="R756ef0dc3ebc4c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2feb8a43584249" /><Relationship Type="http://schemas.openxmlformats.org/officeDocument/2006/relationships/notesMaster" Target="/ppt/notesMasters/notesMaster1.xml" Id="Racc8c576899f47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1f50f822074bbc" /><Relationship Type="http://schemas.openxmlformats.org/officeDocument/2006/relationships/notesMaster" Target="/ppt/notesMasters/notesMaster1.xml" Id="Rf6a63ca31d2d4b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301f95aa5b4393" /><Relationship Type="http://schemas.openxmlformats.org/officeDocument/2006/relationships/notesMaster" Target="/ppt/notesMasters/notesMaster1.xml" Id="R8054734eb58541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5924bc41374520" /><Relationship Type="http://schemas.openxmlformats.org/officeDocument/2006/relationships/notesMaster" Target="/ppt/notesMasters/notesMaster1.xml" Id="R7ba179d0591d45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24ee2980614b93" /><Relationship Type="http://schemas.openxmlformats.org/officeDocument/2006/relationships/notesMaster" Target="/ppt/notesMasters/notesMaster1.xml" Id="Rb8a58b233cf444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d90bd4b3cd4338" /><Relationship Type="http://schemas.openxmlformats.org/officeDocument/2006/relationships/notesMaster" Target="/ppt/notesMasters/notesMaster1.xml" Id="R1efc42798036417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6f51425f8041b0" /><Relationship Type="http://schemas.openxmlformats.org/officeDocument/2006/relationships/notesMaster" Target="/ppt/notesMasters/notesMaster1.xml" Id="R7fabc4ce6d5341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0ec9622720d4a24" /><Relationship Type="http://schemas.openxmlformats.org/officeDocument/2006/relationships/notesMaster" Target="/ppt/notesMasters/notesMaster1.xml" Id="R53a538c64f7542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24ceb570df45ae" /><Relationship Type="http://schemas.openxmlformats.org/officeDocument/2006/relationships/notesMaster" Target="/ppt/notesMasters/notesMaster1.xml" Id="R726a5f87934946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593513b5d2646df" /><Relationship Type="http://schemas.openxmlformats.org/officeDocument/2006/relationships/notesMaster" Target="/ppt/notesMasters/notesMaster1.xml" Id="R6e34b4a2c5274c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разрабатываем «Тензор» для инженеров тепловых электростанций. Хотим помочь им раньше замечать возможные неисправности и понимать, что проверить до ремонта. На примере питательного насоса покажем, как человек разбирается с предупреждением и готовит задание. Сейчас это учебный макет с вымышленными показаниями.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Открыть титульный слайд.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https://github.com/shevchenko9liza/ai-cu-tenzor/blob/main/lab05/prototype.html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Наша гипотеза проблемы такая: инженер замечает, что насос стал сильнее вибрировать или нагреваться, но по этим цифрам ещё трудно понять, что происходит и что проверить первым. Ему приходится сопоставлять показания с режимом работы, историей обслуживания и наблюдениями сотрудников. На это может уходить время, которое нужно для проверки и подготовки работ. Мы хотим выяснить, в каких случаях такая задержка действительно мешает предотвратить внеплановую остановку.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Указать на ситуацию, трудность и возможное последствие. Пока не переходить к функциям продукта.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«Тензор» должен показать, какой насос требует внимания, объяснить предупреждение и предложить конкретные проверки. Инженер сможет записать результаты и подготовить задание ответственному сотруднику. Покупателем мы предполагаем технического руководителя станции. Предлагаем сначала платную проверку решения на небольшой группе насосов, затем лицензию и сопровождение. Такой формат оплаты ещё нужно обсудить с заказчиком. Пользу будем оценивать по тому, помогает ли продукт раньше принять решение и сократить внеплановые простои.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Связать каждый пункт решения с проблемой предыдущего слайда.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нас есть два реальных разговора. Аналитик холдинга рассказал о доверии к показаниям датчиков и организации ремонта. Руководитель станции проявил интерес к прогнозу ремонтов и аварий, упомянул архив и недавний отказ. При этом мы ещё не изучили архив и не проверили новый макет с инженером станции. Поэтому пока рано говорить, что спрос подтверждён. С помощью ИИ мы дополнительно разыграли интервью, чтобы уточнить вопросы для следующих встреч.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Чётко разделить реальные разговоры и смоделированные интервью.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Для вопросов: R1: 09.10, разговор с записью. Этот собеседник не работает целевым инженером ТЭС. R2: 10.10, есть конспект без аудиозаписи. С ИИ разобраны 18 персон КТ-2 и 4 новые роли. Они не подтверждают спрос, частоту отказов или неисправность ПЭН-1А. Конкретный насос ещё не согласован для пилота.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https://github.com/shevchenko9liza/ai-cu-tenzor/blob/main/course/sources.md</a:t>
            </a:r>
            <a:endParaRPr/>
          </a:p>
          <a:p xmlns:a="http://schemas.openxmlformats.org/drawingml/2006/main">
            <a:r>
              <a:t>https://github.com/shevchenko9liza/ai-cu-tenzor/blob/main/business/synthetic-interviews-pump.md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первой версии показываем работу инженера станции. Он получает предупреждение, проверяет, почему оно появилось, и готовит задание: что сделать, кому и к какому сроку. Выбрали эту задачу, потому что в ней видна предполагаемая польза продукта. Для случая, когда свежих показаний нет, предусмотрели отдельный путь. Подключение к настоящим датчикам, обучение модели и выполнение ремонта пока находятся за пределами макета.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Показать начало и результат. Уточнить, что работы на оборудовании происходят вне интерфейса.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Для вопросов: Обученной модели и физического цифрового двойника пока нет. Датчики и система ремонтов не подключены. Макет не управляет оборудованием.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https://github.com/shevchenko9liza/ai-cu-tenzor/blob/main/lab05/part1.md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карте пять шагов. Сначала инженер выбирает насос. Затем смотрит, что изменилось и какие причины стоит проверить. Он записывает результаты проверок или готовит задание на их проведение. После этого выбирает работу, указывает ответственного и срок. В конце получает файл задания и может записать результат. Под каждым шагом показано, что отвечает интерфейс. К предыдущим экранам можно вернуться, не потеряв черновик в открытой вкладке.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Провести по карте слева направо. Показать стрелку возврата и подпись о работе вне макета.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https://github.com/shevchenko9liza/ai-cu-tenzor/blob/main/kt3/usm.md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Отдельно показали насос ПН-03, от которого давно не приходили показания. Макет не делает вывод о его текущем состоянии. Если причина неизвестна, попытка подтвердить данные вызывает понятную ошибку. Инженер может подготовить задание на проверку передачи данных. Для демонстрации есть и другой вариант: выбрать ответ, что новые показания уже проверены. После сохранения нужно отдельно запустить повторную оценку. Так человек видит, что именно изменилось.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Показать две ветки. Восстановление связи выполняют специалисты вне макета.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  <a:p xmlns:a="http://schemas.openxmlformats.org/drawingml/2006/main">
            <a:r>
              <a:t>https://github.com/shevchenko9liza/ai-cu-tenzor/blob/main/kt3/usm.md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первом экране сразу выделен ПН-01. У него выросли вибрация и температура опоры. Рядом показано, с какими значениями мы их сравниваем и что стоит проверить. Здесь же видны другие состояния: у ПН-02 нет заметного отклонения, по ПН-03 не хватает данных, ПН-04 находится в резерве. Отсутствие нового предупреждения само по себе не гарантирует исправность.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На экране показать ПН-01, два изменившихся показателя и кнопку разбора предупреждения.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https://github.com/shevchenko9liza/ai-cu-tenzor/blob/main/lab05/prototype.html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Трёхмерная модель помогает найти нужный узел. У нас выделена опора насоса, возле которой измеряют вибрацию и температуру. Нажатие открывает пояснение и следующую проверку. Модель можно поворачивать и раскрывать внутренние детали. Это иллюстрация для навигации: она не воспроизводит точную конструкцию реального насоса и не рассчитывает его состояние.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Показать выделенную опору и кнопку раскрытия внутренних деталей.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https://github.com/shevchenko9liza/ai-cu-tenzor/blob/main/lab05/pump-view.js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примере вибрация выросла с 2,2 до 4,4 миллиметра в секунду, а температура опоры с 62 до 74 градусов. Их совместный рост даёт повод проверить смазку и охлаждение. Но этих измерений недостаточно для точного диагноза. В интерфейсе можно посмотреть другие возможные причины, в том числе изменение режима или ошибку датчика. Мы показываем, откуда взялась версия и чем её нужно проверить.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Показать два изменившихся показателя и раздел с другими причинами.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Для вопросов: Дополнительные версии: несоосность, дисбаланс, ротор и гидравлическое возбуждение. Пуски и переключения нужно сверить с журналом. Прямые данные о масле и охлаждении, спектр вибрации и диагностическое заключение не подключены. Версия не ранжирована по вероятности.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https://github.com/shevchenko9liza/ai-cu-tenzor/blob/main/lab05/decision-support.md</a:t>
            </a:r>
            <a:endParaRPr/>
          </a:p>
          <a:p xmlns:a="http://schemas.openxmlformats.org/drawingml/2006/main">
            <a:r>
              <a:t>https://github.com/shevchenko9liza/ai-cu-tenzor/blob/main/lab05/decision-support.js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инженер видит последовательность проверок: повторить измерения, сверить режим работы, проверить смазку и охлаждение, получить заключение диагноста. Результаты можно записать вместе с наблюдениями сотрудников. Если повторные измерения расходятся или режим изменился, расчёт времени до выбранной границы останавливается. Сначала нужно разобраться с исходными показаниями. Сами проверки и допуск к работам определяют специалисты станции.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Показать поле результата и объяснить, что отметка в форме не означает выполненную проверку.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https://github.com/shevchenko9liza/ai-cu-tenzor/blob/main/lab05/decision-support.md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Число 48–72 часа показывает время до условного учебного уровня вибрации, если рост продолжится. В примере этот уровень равен 5,5 миллиметра в секунду. Мы сравнили скорость роста за последние сутки и за весь период, поэтому получили диапазон. Из него нельзя узнать точный момент поломки или сколько насос ещё проработает. Первую проверку предлагаем провести в текущую смену. Реальное время предупреждения до отказа сможем оценить только на данных станции.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Показать число, выбранный уровень и пояснение рядом. Не говорить, что насос сломается через 48–72 часа.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Для вопросов: Использован один вымышленный ряд: 25 точек с шагом 6 часов за 19–25.10.2026, между крайними измерениями прошло шесть суток. Текущее значение 4,4 мм/с. Формула в часах: (выбранный уровень − 4,4) / темп роста за сутки × 24. Диапазон не показывает вероятность. Если выбранный уровень уже достигнут или введён неверно, интерфейс сообщает об этом отдельно. Действующие правила реагирования станции имеют приоритет. Уровень 5,5 мм/с выбран для демонстрации и не является отраслевой нормой или уставкой защиты.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https://github.com/shevchenko9liza/ai-cu-tenzor/blob/main/lab05/decision-support.md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Калькулятор сравнивает расходы при внеплановой остановке и при заранее подготовленных работах. В нашем учебном примере это 2,1 миллиона и 830 тысяч рублей. Разница составляет 1,27 миллиона, если удалось предотвратить выбранное событие. Это расчёт на вымышленных суммах, а не уже полученная экономия. Инженер может изменить стоимость работ и потерь. Если резервный насос полностью заменяет основной, потери выпуска нужно учитывать иначе.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Показать две суммы и условие под разницей. При необходимости раскрыть поля расчёта.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Для вопросов: Внеплановый вариант: 12 ч × 100 тыс. ₽/ч + 900 тыс. ₽ ремонта = 2 100 тыс. ₽. Плановый: 4 ч × 100 тыс. ₽/ч + 350 тыс. ₽ работ + 50 тыс. ₽ диагностики + 30 тыс. ₽ сервиса = 830 тыс. ₽. Разница длительности потерь 8 ч. При полном замещении резервом стоимость часа потерь можно поставить 0, тогда разница затрат в примере составит 470 тыс. ₽. Вероятность предотвращаемого события по умолчанию не задана, поэтому ожидаемый эффект не рассчитан. Часы относятся к потерям станции с учётом резерва. Точную экономию проект пока не доказал.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https://github.com/shevchenko9liza/ai-cu-tenzor/blob/main/lab05/decision-support.md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разбора инженер выбирает действие. Он может назначить дополнительную диагностику, подготовить предложение по обслуживанию или повторно оценить состояние позже. Затем пишет, зачем нужна работа, кого назначить ответственным и к какому сроку нужен результат. Если обязательное поле пустое или срок недопустим, задание не создаётся, а рядом с полем появляется ошибка. Если нужно ещё раз посмотреть показания, можно вернуться к карточке: черновик сохранится в этой вкладке.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Показать выбор работы, обоснование, ответственного и дату. Реальную заявку макет не отправляет.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Готовое задание содержит номер насоса, причину обращения, ответственного и срок. В него также попадают результаты проверок и комментарий инженера на момент создания. Файл можно скачать и передать дальше. После проверки человек записывает, что выяснил и что делать следующим шагом. Эта запись не убирает предупреждение автоматически: она ещё не доказывает, что с оборудованием всё в порядке.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Показать состав задания и поле для результата проверки.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  <a:p xmlns:a="http://schemas.openxmlformats.org/drawingml/2006/main">
            <a:r>
              <a:t>https://github.com/shevchenko9liza/ai-cu-tenzor/blob/main/lab05/decision-support.md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экраны ветки ПН-03, которую мы видели на схеме. Слева человек пытается подтвердить данные, хотя новых проверенных показаний ещё нет. Интерфейс объясняет ошибку и предлагает подготовить задание на передачу данных. Справа показания уже подтверждены в учебном сценарии. Следующее действие вынесено отдельно: повторить проверку. Если уйти к карточке до этого шага, прежнее ограничение сохранится.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Сопоставить экраны с развилкой на слайде 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  <a:p xmlns:a="http://schemas.openxmlformats.org/drawingml/2006/main">
            <a:r>
              <a:t>https://github.com/shevchenko9liza/ai-cu-tenzor/blob/main/kt3/usm.md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макет добавлены схемы из предоставленных материалов предприятия. По ним можно найти обозначение насоса и посмотреть, какие параметры рядом с ним отображаются. Затем перейти к нужному узлу на модели. Снимки сделаны 1 марта 2022 года, поэтому они помогают с ориентацией, но не показывают состояние оборудования сегодня. Показания нашего учебного дашборда с ними не смешиваются.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Показать ПЭН-1А на схеме и переход к пояснению узла.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Для вопросов: Происхождение материалов от предприятия сообщила Елизавета. Служебные поля и идентифицирующие полосы обрезаны. ПН-01 связан с ПЭН-1А только для учебной демонстрации. Точная геометрия и текущая неисправность реального насоса не подтверждены.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https://github.com/shevchenko9liza/ai-cu-tenzor/blob/main/lab05/plant-scheme.md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дадим эксперту задачу: найти насос, который требует внимания, объяснить, почему, и подготовить подходящее задание. Затем попросим разобраться с ПН-03. Подсказывать кнопки не будем. Посмотрим, понимает ли человек предупреждение, замечает ли ограничения, исправляет ли ошибки и доходит ли до результата. Запишем, где понадобилась помощь и сколько времени ушло. Новую версию с инженером станции мы пока не проверяли.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Передать управление эксперту после короткого показа.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Для вопросов: До теста фиксируем критерии: человек находит сигнал, различает наблюдаемые факты и возможную причину, формирует обоснованное задание, исправляет ошибки и понимает ограничения при отсутствии данных. Записываем время, ошибки, просьбы о помощи и объяснение результата самим участником.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  <a:p xmlns:a="http://schemas.openxmlformats.org/drawingml/2006/main">
            <a:r>
              <a:t>https://github.com/shevchenko9liza/ai-cu-tenzor/blob/main/kt3/checklist.md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разбираем прошлый случай, затем показываем продукт. На следующих интервью разберём конкретные случаи из работы станции. Инженера спросим, как он узнал о проблеме и какие сведения собирал. У ремонтника выясним, что было известно до отказа и можно ли было повлиять на результат. С руководителем обсудим прошлые покупки похожих систем и условия проверки нового решения. Нам нужно понять, какую задачу ещё не закрывают существующие средства диагностики. Если они уже помогают принять нужное решение, предложение придётся пересмотреть.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Вопрос экспертам: какого сведения или действия сейчас не хватает, чтобы этот макет был полезен инженеру?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Для вопросов: Просим экспертов назвать недостающее основание, шаг, который уже выполняется в существующей системе, и случай для следующего интервью.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Требования мы связали с действиями человека. Он должен найти нужный насос, понять предупреждение, подготовить задание и разобраться с отсутствующими данными. Отдельно проверяем, что поля сохраняются при возврате, ошибки видны рядом с вводом, а файл можно скачать. Макет работает без интернета, с клавиатуры и на узком экране. Подробные требования и результаты технической проверки доступны по ссылкам в конце.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Не зачитывать номера требований. Показать два понятных примера проверки.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Для вопросов: PF обозначает функциональные требования, то есть действия и ответы интерфейса. PN обозначает нефункциональные требования, то есть условия его работы. Сохранение черновика действует в открытой вкладке до перезагрузки. Производственные пороги, доступ к данным, реальная точность модели и подключение систем станции потребуют отдельного согласования.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  <a:p xmlns:a="http://schemas.openxmlformats.org/drawingml/2006/main">
            <a:r>
              <a:t>https://github.com/shevchenko9liza/ai-cu-tenzor/blob/main/lab05/verification.md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 помощью ИИ подготовили макет, код, формулировки требований и материалы для презентации. На смоделированных интервью уточняли вопросы, которые потом зададим людям. Направление изменений задавала участница команды. По её замечаниям добавили объяснение причины, проверки, схему предприятия и задания. Автоматические тесты помогли проверить переходы и расчёты. Но они не показывают, нужен ли продукт станции и насколько точным будет настоящий прогноз. Это предстоит проверить с людьми и реальными данными.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Не называть синтетические интервью исследованием спроса.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Для вопросов: До сдачи остаются личное прохождение новой версии, согласование с командой и репетиция. После встречи каждый участник пишет собственную обязательную рефлексию до командного обсуждения и в срок из LMS. Обратная связь экспертов пока не получена.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https://github.com/shevchenko9liza/ai-cu-tenzor/blob/main/lab05/verification.md</a:t>
            </a:r>
            <a:endParaRPr/>
          </a:p>
          <a:p xmlns:a="http://schemas.openxmlformats.org/drawingml/2006/main">
            <a:r>
              <a:t>https://github.com/shevchenko9liza/ai-cu-tenzor/blob/main/lab05/decisions.md</a:t>
            </a:r>
            <a:endParaRPr/>
          </a:p>
          <a:p xmlns:a="http://schemas.openxmlformats.org/drawingml/2006/main">
            <a:r>
              <a:t>https://github.com/shevchenko9liza/ai-cu-tenzor/blob/main/business/synthetic-interviews-pump.md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можно открыть сам прототип, карту сценария и остальные материалы. Предлагаем теперь пройти сценарий самостоятельно и обсудить, где интерфейс помогает принять решение, а где ещё мешает.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Показать: Открыть прототип по первой ссылке. Остальные ссылки оставить для вопросов.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Для вопросов: Прототип работает на GitHub Pages. Автономный HTML можно скачать и открыть без сети. Для публикации через Яндекс.Диск Елизавета сама загрузит подготовленные файлы и при желании заменит ссылки на PDF. Онлайн-ссылку прототипа лучше сохранить: ссылка на скачивание HTML на Диске не запускает приложение.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https://github.com/shevchenko9liza/ai-cu-tenzor/blob/main/kt3/submission-guide.md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960f035a64a0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ea42a70202455d" /><Relationship Type="http://schemas.openxmlformats.org/officeDocument/2006/relationships/slideLayout" Target="/ppt/slideLayouts/slideLayout1.xml" Id="R2b98188be8c445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98188be8c4451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7083626cb448d" /><Relationship Type="http://schemas.openxmlformats.org/officeDocument/2006/relationships/image" Target="/ppt/media/image.png" Id="Recf01d53e0694d90" /><Relationship Type="http://schemas.openxmlformats.org/officeDocument/2006/relationships/image" Target="/ppt/media/image2.png" Id="R5606790e1344465d" /><Relationship Type="http://schemas.openxmlformats.org/officeDocument/2006/relationships/notesSlide" Target="/ppt/notesSlides/notesSlide1.xml" Id="R0994793804044c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5d3d9a76c4bb4" /><Relationship Type="http://schemas.openxmlformats.org/officeDocument/2006/relationships/image" Target="/ppt/media/image3.png" Id="R48e97e1a7e644864" /><Relationship Type="http://schemas.openxmlformats.org/officeDocument/2006/relationships/notesSlide" Target="/ppt/notesSlides/notesSlide2.xml" Id="Re50fcfe3da6b4a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c4dbb80b749e9" /><Relationship Type="http://schemas.openxmlformats.org/officeDocument/2006/relationships/image" Target="/ppt/media/image3.png" Id="R44d608da6abd41f1" /><Relationship Type="http://schemas.openxmlformats.org/officeDocument/2006/relationships/notesSlide" Target="/ppt/notesSlides/notesSlide3.xml" Id="R6c882d25f67d45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863dfda51410c" /><Relationship Type="http://schemas.openxmlformats.org/officeDocument/2006/relationships/image" Target="/ppt/media/image3.png" Id="Rfbb922a015b245c4" /><Relationship Type="http://schemas.openxmlformats.org/officeDocument/2006/relationships/notesSlide" Target="/ppt/notesSlides/notesSlide4.xml" Id="R52b882f4757c49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4dea105064f60" /><Relationship Type="http://schemas.openxmlformats.org/officeDocument/2006/relationships/image" Target="/ppt/media/image3.png" Id="R46aa928527094bef" /><Relationship Type="http://schemas.openxmlformats.org/officeDocument/2006/relationships/notesSlide" Target="/ppt/notesSlides/notesSlide5.xml" Id="R990dad367e5541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e7547b3234e6f" /><Relationship Type="http://schemas.openxmlformats.org/officeDocument/2006/relationships/image" Target="/ppt/media/image3.png" Id="R79e823558e4e4630" /><Relationship Type="http://schemas.openxmlformats.org/officeDocument/2006/relationships/notesSlide" Target="/ppt/notesSlides/notesSlide6.xml" Id="R71f838aef37840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c8b552a264175" /><Relationship Type="http://schemas.openxmlformats.org/officeDocument/2006/relationships/image" Target="/ppt/media/image3.png" Id="Ra696c135e2294198" /><Relationship Type="http://schemas.openxmlformats.org/officeDocument/2006/relationships/notesSlide" Target="/ppt/notesSlides/notesSlide7.xml" Id="R03153c44270b43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1cae5032d4416" /><Relationship Type="http://schemas.openxmlformats.org/officeDocument/2006/relationships/image" Target="/ppt/media/image3.png" Id="Rd8f95b5a041545ed" /><Relationship Type="http://schemas.openxmlformats.org/officeDocument/2006/relationships/image" Target="/ppt/media/image4.png" Id="Rc2258b0dfe9a46f0" /><Relationship Type="http://schemas.openxmlformats.org/officeDocument/2006/relationships/notesSlide" Target="/ppt/notesSlides/notesSlide8.xml" Id="R246b0d0b158941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601d96300431e" /><Relationship Type="http://schemas.openxmlformats.org/officeDocument/2006/relationships/image" Target="/ppt/media/image3.png" Id="R1e59e81ee8f4410d" /><Relationship Type="http://schemas.openxmlformats.org/officeDocument/2006/relationships/image" Target="/ppt/media/image5.png" Id="R2ad49c86a1474fe5" /><Relationship Type="http://schemas.openxmlformats.org/officeDocument/2006/relationships/notesSlide" Target="/ppt/notesSlides/notesSlide9.xml" Id="Rcb9f77a24c7e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9d3f15e9e440e" /><Relationship Type="http://schemas.openxmlformats.org/officeDocument/2006/relationships/image" Target="/ppt/media/image3.png" Id="Rc0aa3663ca334466" /><Relationship Type="http://schemas.openxmlformats.org/officeDocument/2006/relationships/image" Target="/ppt/media/image6.png" Id="R3578a4190cea47de" /><Relationship Type="http://schemas.openxmlformats.org/officeDocument/2006/relationships/notesSlide" Target="/ppt/notesSlides/notesSlide10.xml" Id="R3332aba8c37340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d41d7097a45ca" /><Relationship Type="http://schemas.openxmlformats.org/officeDocument/2006/relationships/image" Target="/ppt/media/image3.png" Id="Rac11d845fddf4067" /><Relationship Type="http://schemas.openxmlformats.org/officeDocument/2006/relationships/image" Target="/ppt/media/image7.png" Id="Rb2463d4d0e5847d0" /><Relationship Type="http://schemas.openxmlformats.org/officeDocument/2006/relationships/image" Target="/ppt/media/image8.png" Id="Rb76ca6f0d0d14293" /><Relationship Type="http://schemas.openxmlformats.org/officeDocument/2006/relationships/notesSlide" Target="/ppt/notesSlides/notesSlide11.xml" Id="Re9c116e2d0954f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e3feb41144481" /><Relationship Type="http://schemas.openxmlformats.org/officeDocument/2006/relationships/image" Target="/ppt/media/image3.png" Id="Rd6830d1dec2b4486" /><Relationship Type="http://schemas.openxmlformats.org/officeDocument/2006/relationships/image" Target="/ppt/media/image9.png" Id="Rbc30d67a820d423e" /><Relationship Type="http://schemas.openxmlformats.org/officeDocument/2006/relationships/notesSlide" Target="/ppt/notesSlides/notesSlide12.xml" Id="R857d744e390a49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f6587b2894d80" /><Relationship Type="http://schemas.openxmlformats.org/officeDocument/2006/relationships/image" Target="/ppt/media/image3.png" Id="R65e402f521a24b3a" /><Relationship Type="http://schemas.openxmlformats.org/officeDocument/2006/relationships/image" Target="/ppt/media/image10.png" Id="Rcda54d250d064869" /><Relationship Type="http://schemas.openxmlformats.org/officeDocument/2006/relationships/notesSlide" Target="/ppt/notesSlides/notesSlide13.xml" Id="R615a4b2484ab41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0530dbc014778" /><Relationship Type="http://schemas.openxmlformats.org/officeDocument/2006/relationships/image" Target="/ppt/media/image3.png" Id="R1ff9ed06fe3746cd" /><Relationship Type="http://schemas.openxmlformats.org/officeDocument/2006/relationships/image" Target="/ppt/media/image11.png" Id="R4e792a2998ae4b6a" /><Relationship Type="http://schemas.openxmlformats.org/officeDocument/2006/relationships/notesSlide" Target="/ppt/notesSlides/notesSlide14.xml" Id="Ra849beb7c6e948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27691aead4e02" /><Relationship Type="http://schemas.openxmlformats.org/officeDocument/2006/relationships/image" Target="/ppt/media/image3.png" Id="R3d65fa7612754979" /><Relationship Type="http://schemas.openxmlformats.org/officeDocument/2006/relationships/image" Target="/ppt/media/image12.png" Id="R997b61487d1445de" /><Relationship Type="http://schemas.openxmlformats.org/officeDocument/2006/relationships/notesSlide" Target="/ppt/notesSlides/notesSlide15.xml" Id="Rd0835409ace843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8cef9d589471a" /><Relationship Type="http://schemas.openxmlformats.org/officeDocument/2006/relationships/image" Target="/ppt/media/image3.png" Id="Ra5569d2100c540d8" /><Relationship Type="http://schemas.openxmlformats.org/officeDocument/2006/relationships/image" Target="/ppt/media/image13.png" Id="Rc53061458b514971" /><Relationship Type="http://schemas.openxmlformats.org/officeDocument/2006/relationships/image" Target="/ppt/media/image14.png" Id="R610de5d177314d83" /><Relationship Type="http://schemas.openxmlformats.org/officeDocument/2006/relationships/notesSlide" Target="/ppt/notesSlides/notesSlide16.xml" Id="Rc5fa72f33f5c48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c2d4ba5f2434e" /><Relationship Type="http://schemas.openxmlformats.org/officeDocument/2006/relationships/image" Target="/ppt/media/image3.png" Id="Rd90805bb89a34c59" /><Relationship Type="http://schemas.openxmlformats.org/officeDocument/2006/relationships/image" Target="/ppt/media/image15.png" Id="R0f4b36d8c0cf4d44" /><Relationship Type="http://schemas.openxmlformats.org/officeDocument/2006/relationships/notesSlide" Target="/ppt/notesSlides/notesSlide17.xml" Id="Reded5a462ccd42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17b8e20fb4842" /><Relationship Type="http://schemas.openxmlformats.org/officeDocument/2006/relationships/image" Target="/ppt/media/image3.png" Id="R49d289aff6804cf8" /><Relationship Type="http://schemas.openxmlformats.org/officeDocument/2006/relationships/notesSlide" Target="/ppt/notesSlides/notesSlide18.xml" Id="R5a54d62cbc4149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895bcaf85420d" /><Relationship Type="http://schemas.openxmlformats.org/officeDocument/2006/relationships/image" Target="/ppt/media/image3.png" Id="Rd44260740f304148" /><Relationship Type="http://schemas.openxmlformats.org/officeDocument/2006/relationships/notesSlide" Target="/ppt/notesSlides/notesSlide19.xml" Id="Ra4f4cf153bb243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fad8c2dd74d9d" /><Relationship Type="http://schemas.openxmlformats.org/officeDocument/2006/relationships/image" Target="/ppt/media/image3.png" Id="R96a2d4f1c83d45d7" /><Relationship Type="http://schemas.openxmlformats.org/officeDocument/2006/relationships/notesSlide" Target="/ppt/notesSlides/notesSlide20.xml" Id="R641f07aaa3a9441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f28593abf44a9" /><Relationship Type="http://schemas.openxmlformats.org/officeDocument/2006/relationships/image" Target="/ppt/media/image3.png" Id="Rfd8f88efe00a4cea" /><Relationship Type="http://schemas.openxmlformats.org/officeDocument/2006/relationships/notesSlide" Target="/ppt/notesSlides/notesSlide21.xml" Id="R7163ea725eae48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9a08bdf7e4da5" /><Relationship Type="http://schemas.openxmlformats.org/officeDocument/2006/relationships/image" Target="/ppt/media/image3.png" Id="Rb1bed0e6d70c4106" /><Relationship Type="http://schemas.openxmlformats.org/officeDocument/2006/relationships/hyperlink" Target="https://shevchenko9liza.github.io/ai-cu-tenzor/lab05/prototype.html" TargetMode="External" Id="R586bdadcb7d04697" /><Relationship Type="http://schemas.openxmlformats.org/officeDocument/2006/relationships/hyperlink" Target="https://shevchenko9liza.github.io/ai-cu-tenzor/kt3/scenario-map.html" TargetMode="External" Id="R6bc8f2c929384e04" /><Relationship Type="http://schemas.openxmlformats.org/officeDocument/2006/relationships/hyperlink" Target="https://shevchenko9liza.github.io/ai-cu-tenzor/lab05/part2.html" TargetMode="External" Id="R50de5a89e4d8419b" /><Relationship Type="http://schemas.openxmlformats.org/officeDocument/2006/relationships/hyperlink" Target="https://shevchenko9liza.github.io/ai-cu-tenzor/lab05/requirements.html" TargetMode="External" Id="R51344db8e3bb480b" /><Relationship Type="http://schemas.openxmlformats.org/officeDocument/2006/relationships/hyperlink" Target="https://shevchenko9liza.github.io/ai-cu-tenzor/business/problem-and-evidence.html" TargetMode="External" Id="R523fbbb948ff4985" /><Relationship Type="http://schemas.openxmlformats.org/officeDocument/2006/relationships/hyperlink" Target="https://shevchenko9liza.github.io/ai-cu-tenzor/lab05/verification.html" TargetMode="External" Id="Rf7896c532a44402c" /><Relationship Type="http://schemas.openxmlformats.org/officeDocument/2006/relationships/hyperlink" Target="https://github.com/shevchenko9liza/ai-cu-tenzor" TargetMode="External" Id="R842ea36f55244624" /><Relationship Type="http://schemas.openxmlformats.org/officeDocument/2006/relationships/notesSlide" Target="/ppt/notesSlides/notesSlide22.xml" Id="R14bbda0307724e91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cf01d53e0694d9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КТ-3   ИИ-ЦЕНТРИЧНОЕ ПРЕДПРИНИМАТЕЛЬСТВО">
            <a:extLst xmlns:a="http://schemas.openxmlformats.org/drawingml/2006/main">
              <a:ext uri="{FF2B5EF4-FFF2-40B4-BE49-F238E27FC236}">
                <a16:creationId xmlns:a16="http://schemas.microsoft.com/office/drawing/2014/main" id="{9322CB7C-4B4C-4CB4-9648-FA3A710A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КТ-3   ИИ-ЦЕНТРИЧНОЕ ПРЕДПРИНИМАТЕЛЬСТВО</a:t>
            </a:r>
          </a:p>
        </p:txBody>
      </p:sp>
      <p:sp>
        <p:nvSpPr>
          <p:cNvPr id="2" name="Тензор">
            <a:extLst xmlns:a="http://schemas.openxmlformats.org/drawingml/2006/main">
              <a:ext uri="{FF2B5EF4-FFF2-40B4-BE49-F238E27FC236}">
                <a16:creationId xmlns:a16="http://schemas.microsoft.com/office/drawing/2014/main" id="{EDC60F44-FEF0-48E7-9F45-1B6F4CDE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2877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Тензор</a:t>
            </a:r>
          </a:p>
        </p:txBody>
      </p:sp>
      <p:sp>
        <p:nvSpPr>
          <p:cNvPr id="3" name="Что происходит с насосом&#10;и что проверить перв">
            <a:extLst xmlns:a="http://schemas.openxmlformats.org/drawingml/2006/main">
              <a:ext uri="{FF2B5EF4-FFF2-40B4-BE49-F238E27FC236}">
                <a16:creationId xmlns:a16="http://schemas.microsoft.com/office/drawing/2014/main" id="{E2AC4DEA-C553-4740-BFDE-0025566A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Что происходит с насосом</a:t>
            </a:r>
          </a:p>
          <a:p xmlns:a="http://schemas.openxmlformats.org/drawingml/2006/main">
            <a:pPr>
              <a:defRPr sz="30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 что проверить первым</a:t>
            </a:r>
          </a:p>
        </p:txBody>
      </p:sp>
      <p:sp>
        <p:nvSpPr>
          <p:cNvPr id="4" name="Помогаем инженеру разобраться&#10;с предупреждени">
            <a:extLst xmlns:a="http://schemas.openxmlformats.org/drawingml/2006/main">
              <a:ext uri="{FF2B5EF4-FFF2-40B4-BE49-F238E27FC236}">
                <a16:creationId xmlns:a16="http://schemas.microsoft.com/office/drawing/2014/main" id="{7FE6DA43-71C2-4745-B36E-10F545C6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Помогаем инженеру разобраться</a:t>
            </a:r>
          </a:p>
          <a:p xmlns:a="http://schemas.openxmlformats.org/drawingml/2006/main">
            <a:pPr>
              <a:defRPr sz="19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с предупреждением и подготовить работу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79788-B607-4174-8488-5D5B026B3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6790e1344465d"/>
          <a:stretch xmlns:a="http://schemas.openxmlformats.org/drawingml/2006/main"/>
        </p:blipFill>
        <p:spPr>
          <a:xfrm xmlns:a="http://schemas.openxmlformats.org/drawingml/2006/main">
            <a:off x="7296150" y="1485900"/>
            <a:ext cx="3667125" cy="3667125"/>
          </a:xfrm>
          <a:prstGeom xmlns:a="http://schemas.openxmlformats.org/drawingml/2006/main" prst="rect">
            <a:avLst/>
          </a:prstGeom>
        </p:spPr>
      </p:pic>
      <p:sp>
        <p:nvSpPr>
          <p:cNvPr id="6" name="Учебный прототип. Показания и расчёты вымышле">
            <a:extLst xmlns:a="http://schemas.openxmlformats.org/drawingml/2006/main">
              <a:ext uri="{FF2B5EF4-FFF2-40B4-BE49-F238E27FC236}">
                <a16:creationId xmlns:a16="http://schemas.microsoft.com/office/drawing/2014/main" id="{A4464D75-5511-4B3F-8B4E-C91AF1CD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EE6C9"/>
                </a:solidFill>
                <a:latin typeface="Arial"/>
                <a:ea typeface="Arial"/>
                <a:cs typeface="Arial"/>
              </a:rPr>
              <a:t>Учебный прототип. Показания и расчёты вымышлены.</a:t>
            </a:r>
          </a:p>
        </p:txBody>
      </p:sp>
      <p:sp>
        <p:nvSpPr>
          <p:cNvPr id="7" name="Команда «Тензор»  /  25 октября 2026">
            <a:extLst xmlns:a="http://schemas.openxmlformats.org/drawingml/2006/main">
              <a:ext uri="{FF2B5EF4-FFF2-40B4-BE49-F238E27FC236}">
                <a16:creationId xmlns:a16="http://schemas.microsoft.com/office/drawing/2014/main" id="{89FE0756-1178-4F89-940B-F58098B9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7F8E"/>
                </a:solidFill>
                <a:latin typeface="Arial"/>
                <a:ea typeface="Arial"/>
                <a:cs typeface="Arial"/>
              </a:rPr>
              <a:t>Команда «Тензор»  /  25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2000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8e97e1a7e64486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ГИПОТЕЗА ПРОБЛЕМЫ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Есть предупреждение. Что делать дальше?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2</a:t>
            </a:r>
            <a:endParaRPr sz="1100"/>
          </a:p>
        </p:txBody>
      </p:sp>
      <p:sp>
        <p:nvSpPr>
          <p:cNvPr id="17" name="Ситуация">
            <a:extLst xmlns:a="http://schemas.openxmlformats.org/drawingml/2006/main">
              <a:ext uri="{FF2B5EF4-FFF2-40B4-BE49-F238E27FC236}">
                <a16:creationId xmlns:a16="http://schemas.microsoft.com/office/drawing/2014/main" id="{928FA9EF-D6BD-490E-8E00-31BE505B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Ситуация</a:t>
            </a:r>
          </a:p>
        </p:txBody>
      </p:sp>
      <p:sp>
        <p:nvSpPr>
          <p:cNvPr id="18" name="Насос стал сильнее&#10;вибрировать и нагреваться.">
            <a:extLst xmlns:a="http://schemas.openxmlformats.org/drawingml/2006/main">
              <a:ext uri="{FF2B5EF4-FFF2-40B4-BE49-F238E27FC236}">
                <a16:creationId xmlns:a16="http://schemas.microsoft.com/office/drawing/2014/main" id="{8B5927C7-FE39-4A09-83AC-52D73B0F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10144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Насос стал сильнее</a:t>
            </a:r>
          </a:p>
          <a:p xmlns:a="http://schemas.openxmlformats.org/drawingml/2006/main">
            <a:pPr>
              <a:defRPr sz="31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вибрировать и нагреваться.</a:t>
            </a:r>
          </a:p>
        </p:txBody>
      </p:sp>
      <p:sp>
        <p:nvSpPr>
          <p:cNvPr id="19" name="Что затрудняет решение">
            <a:extLst xmlns:a="http://schemas.openxmlformats.org/drawingml/2006/main">
              <a:ext uri="{FF2B5EF4-FFF2-40B4-BE49-F238E27FC236}">
                <a16:creationId xmlns:a16="http://schemas.microsoft.com/office/drawing/2014/main" id="{0247AC8A-D985-4604-9687-5A3BDED0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Что затрудняет решение</a:t>
            </a:r>
          </a:p>
        </p:txBody>
      </p:sp>
      <p:sp>
        <p:nvSpPr>
          <p:cNvPr id="20" name="По двум показателям нельзя понять причину. Ну">
            <a:extLst xmlns:a="http://schemas.openxmlformats.org/drawingml/2006/main">
              <a:ext uri="{FF2B5EF4-FFF2-40B4-BE49-F238E27FC236}">
                <a16:creationId xmlns:a16="http://schemas.microsoft.com/office/drawing/2014/main" id="{44F3CB9F-601F-4D01-8A39-A8242167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По двум показателям нельзя понять причину. Нужно сверить режим работы, историю обслуживания и наблюдения сотрудников.</a:t>
            </a:r>
          </a:p>
        </p:txBody>
      </p:sp>
      <p:sp>
        <p:nvSpPr>
          <p:cNvPr id="21" name="Почему это может быть дорого">
            <a:extLst xmlns:a="http://schemas.openxmlformats.org/drawingml/2006/main">
              <a:ext uri="{FF2B5EF4-FFF2-40B4-BE49-F238E27FC236}">
                <a16:creationId xmlns:a16="http://schemas.microsoft.com/office/drawing/2014/main" id="{8CBF02E2-1E5E-46B4-BD85-BAD729A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6237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Почему это может быть дорого</a:t>
            </a:r>
          </a:p>
        </p:txBody>
      </p:sp>
      <p:sp>
        <p:nvSpPr>
          <p:cNvPr id="22" name="Пока инженер собирает сведения, можно упустит">
            <a:extLst xmlns:a="http://schemas.openxmlformats.org/drawingml/2006/main">
              <a:ext uri="{FF2B5EF4-FFF2-40B4-BE49-F238E27FC236}">
                <a16:creationId xmlns:a16="http://schemas.microsoft.com/office/drawing/2014/main" id="{24FC30CD-FDAD-4C58-926E-E16BFE5A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5048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Пока инженер собирает сведения, можно упустить время для проверки и подготовки работ до внеплановой остановки.</a:t>
            </a:r>
          </a:p>
        </p:txBody>
      </p:sp>
      <p:sp>
        <p:nvSpPr>
          <p:cNvPr id="23" name="Это гипотеза. Частоту таких случаев и последс">
            <a:extLst xmlns:a="http://schemas.openxmlformats.org/drawingml/2006/main">
              <a:ext uri="{FF2B5EF4-FFF2-40B4-BE49-F238E27FC236}">
                <a16:creationId xmlns:a16="http://schemas.microsoft.com/office/drawing/2014/main" id="{1BA3DC75-9666-45DD-99EB-F60E217F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19800"/>
            <a:ext cx="1061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Это гипотеза. Частоту таких случаев и последствия задержек ещё нужно проверить с инженерами.</a:t>
            </a:r>
          </a:p>
        </p:txBody>
      </p:sp>
    </p:spTree>
    <p:extLst>
      <p:ext uri="{BB962C8B-B14F-4D97-AF65-F5344CB8AC3E}">
        <p14:creationId xmlns:p14="http://schemas.microsoft.com/office/powerpoint/2010/main" val="2001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4d608da6abd41f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РЕШЕНИЕ И БИЗНЕС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Помочь инженеру выбрать следующий шаг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3</a:t>
            </a:r>
            <a:endParaRPr sz="1100"/>
          </a:p>
        </p:txBody>
      </p:sp>
      <p:sp>
        <p:nvSpPr>
          <p:cNvPr id="17" name="Что делает «Тензор»">
            <a:extLst xmlns:a="http://schemas.openxmlformats.org/drawingml/2006/main">
              <a:ext uri="{FF2B5EF4-FFF2-40B4-BE49-F238E27FC236}">
                <a16:creationId xmlns:a16="http://schemas.microsoft.com/office/drawing/2014/main" id="{2852ED34-840D-4EED-89D5-04AA5E5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Что делает «Тензор»</a:t>
            </a:r>
          </a:p>
        </p:txBody>
      </p:sp>
      <p:sp>
        <p:nvSpPr>
          <p:cNvPr id="18" name="Показывает, какой насос проверить первым.">
            <a:extLst xmlns:a="http://schemas.openxmlformats.org/drawingml/2006/main">
              <a:ext uri="{FF2B5EF4-FFF2-40B4-BE49-F238E27FC236}">
                <a16:creationId xmlns:a16="http://schemas.microsoft.com/office/drawing/2014/main" id="{873D0A0B-0627-4707-8EAD-44CA8AD9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Показывает, какой насос проверить первым.</a:t>
            </a:r>
          </a:p>
        </p:txBody>
      </p:sp>
      <p:sp>
        <p:nvSpPr>
          <p:cNvPr id="19" name="Объясняет предупреждение и предлагает проверк">
            <a:extLst xmlns:a="http://schemas.openxmlformats.org/drawingml/2006/main">
              <a:ext uri="{FF2B5EF4-FFF2-40B4-BE49-F238E27FC236}">
                <a16:creationId xmlns:a16="http://schemas.microsoft.com/office/drawing/2014/main" id="{5C581C0B-8694-4C56-B18E-69A37A4B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Объясняет предупреждение и предлагает проверки.</a:t>
            </a:r>
          </a:p>
        </p:txBody>
      </p:sp>
      <p:sp>
        <p:nvSpPr>
          <p:cNvPr id="20" name="Собирает сведения в задание с ответственным и">
            <a:extLst xmlns:a="http://schemas.openxmlformats.org/drawingml/2006/main">
              <a:ext uri="{FF2B5EF4-FFF2-40B4-BE49-F238E27FC236}">
                <a16:creationId xmlns:a16="http://schemas.microsoft.com/office/drawing/2014/main" id="{8ADB2DE4-AD32-4FEF-BF80-89FF7344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Собирает сведения в задание с ответственным и сроком.</a:t>
            </a:r>
          </a:p>
        </p:txBody>
      </p:sp>
      <p:sp>
        <p:nvSpPr>
          <p:cNvPr id="21" name="Кому предлагаем">
            <a:extLst xmlns:a="http://schemas.openxmlformats.org/drawingml/2006/main">
              <a:ext uri="{FF2B5EF4-FFF2-40B4-BE49-F238E27FC236}">
                <a16:creationId xmlns:a16="http://schemas.microsoft.com/office/drawing/2014/main" id="{F64B640A-D3BF-436F-A7EA-7A13ED36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Кому предлагаем</a:t>
            </a:r>
          </a:p>
        </p:txBody>
      </p:sp>
      <p:sp>
        <p:nvSpPr>
          <p:cNvPr id="22" name="Инженерам ТЭС. Возможный покупатель: техничес">
            <a:extLst xmlns:a="http://schemas.openxmlformats.org/drawingml/2006/main">
              <a:ext uri="{FF2B5EF4-FFF2-40B4-BE49-F238E27FC236}">
                <a16:creationId xmlns:a16="http://schemas.microsoft.com/office/drawing/2014/main" id="{D46AA9FD-8CEB-4069-B89F-E9AA3CB4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Инженерам ТЭС. Возможный покупатель: технический руководитель станции.</a:t>
            </a:r>
          </a:p>
        </p:txBody>
      </p:sp>
      <p:sp>
        <p:nvSpPr>
          <p:cNvPr id="23" name="Гипотеза оплаты">
            <a:extLst xmlns:a="http://schemas.openxmlformats.org/drawingml/2006/main">
              <a:ext uri="{FF2B5EF4-FFF2-40B4-BE49-F238E27FC236}">
                <a16:creationId xmlns:a16="http://schemas.microsoft.com/office/drawing/2014/main" id="{4EFE1817-2B2A-4571-82BB-42C816A2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Гипотеза оплаты</a:t>
            </a:r>
          </a:p>
        </p:txBody>
      </p:sp>
      <p:sp>
        <p:nvSpPr>
          <p:cNvPr id="24" name="Сначала платный пилот на небольшой группе нас">
            <a:extLst xmlns:a="http://schemas.openxmlformats.org/drawingml/2006/main">
              <a:ext uri="{FF2B5EF4-FFF2-40B4-BE49-F238E27FC236}">
                <a16:creationId xmlns:a16="http://schemas.microsoft.com/office/drawing/2014/main" id="{B05FF21A-75D5-48A0-A5EB-30D39D21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Сначала платный пилот на небольшой группе насосов. Затем лицензия и сопровождение.</a:t>
            </a:r>
          </a:p>
        </p:txBody>
      </p:sp>
      <p:sp>
        <p:nvSpPr>
          <p:cNvPr id="25" name="Хотим сокращать предотвращаемые простои. Спро">
            <a:extLst xmlns:a="http://schemas.openxmlformats.org/drawingml/2006/main">
              <a:ext uri="{FF2B5EF4-FFF2-40B4-BE49-F238E27FC236}">
                <a16:creationId xmlns:a16="http://schemas.microsoft.com/office/drawing/2014/main" id="{A350938F-284E-4416-AC41-EA1B12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19800"/>
            <a:ext cx="1061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Хотим сокращать предотвращаемые простои. Спрос, бюджет и фактический эффект пока не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2002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bb922a015b245c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ОСНОВАНИЯ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Что удалось узнать от людей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4</a:t>
            </a:r>
            <a:endParaRPr sz="1100"/>
          </a:p>
        </p:txBody>
      </p:sp>
      <p:sp>
        <p:nvSpPr>
          <p:cNvPr id="17" name="2 реальных разговора">
            <a:extLst xmlns:a="http://schemas.openxmlformats.org/drawingml/2006/main">
              <a:ext uri="{FF2B5EF4-FFF2-40B4-BE49-F238E27FC236}">
                <a16:creationId xmlns:a16="http://schemas.microsoft.com/office/drawing/2014/main" id="{1BF9DC05-597D-401E-95C5-2FBE35A0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2 реальных разговора</a:t>
            </a:r>
          </a:p>
        </p:txBody>
      </p:sp>
      <p:sp>
        <p:nvSpPr>
          <p:cNvPr id="18" name="Аналитик холдинга">
            <a:extLst xmlns:a="http://schemas.openxmlformats.org/drawingml/2006/main">
              <a:ext uri="{FF2B5EF4-FFF2-40B4-BE49-F238E27FC236}">
                <a16:creationId xmlns:a16="http://schemas.microsoft.com/office/drawing/2014/main" id="{75885241-1591-4832-9D12-DE0A62C6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Аналитик холдинга</a:t>
            </a:r>
          </a:p>
        </p:txBody>
      </p:sp>
      <p:sp>
        <p:nvSpPr>
          <p:cNvPr id="19" name="Обсудили доверие к показаниям датчиков и орга">
            <a:extLst xmlns:a="http://schemas.openxmlformats.org/drawingml/2006/main">
              <a:ext uri="{FF2B5EF4-FFF2-40B4-BE49-F238E27FC236}">
                <a16:creationId xmlns:a16="http://schemas.microsoft.com/office/drawing/2014/main" id="{EEFB06DA-6CA7-41FA-A7DE-CA445B08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Обсудили доверие к показаниям датчиков и организацию ремонта.</a:t>
            </a:r>
          </a:p>
        </p:txBody>
      </p:sp>
      <p:sp>
        <p:nvSpPr>
          <p:cNvPr id="20" name="Руководитель станции">
            <a:extLst xmlns:a="http://schemas.openxmlformats.org/drawingml/2006/main">
              <a:ext uri="{FF2B5EF4-FFF2-40B4-BE49-F238E27FC236}">
                <a16:creationId xmlns:a16="http://schemas.microsoft.com/office/drawing/2014/main" id="{FE7AD1E1-0A06-4081-97B4-023ED182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Руководитель станции</a:t>
            </a:r>
          </a:p>
        </p:txBody>
      </p:sp>
      <p:sp>
        <p:nvSpPr>
          <p:cNvPr id="21" name="Заинтересовался прогнозом ремонтов и аварий. ">
            <a:extLst xmlns:a="http://schemas.openxmlformats.org/drawingml/2006/main">
              <a:ext uri="{FF2B5EF4-FFF2-40B4-BE49-F238E27FC236}">
                <a16:creationId xmlns:a16="http://schemas.microsoft.com/office/drawing/2014/main" id="{7DA386EC-168A-44CC-AF54-BDB93ED4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953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Заинтересовался прогнозом ремонтов и аварий. Упомянул архив и недавний отказ.</a:t>
            </a:r>
          </a:p>
        </p:txBody>
      </p:sp>
      <p:sp>
        <p:nvSpPr>
          <p:cNvPr id="22" name="Что ещё не проверено">
            <a:extLst xmlns:a="http://schemas.openxmlformats.org/drawingml/2006/main">
              <a:ext uri="{FF2B5EF4-FFF2-40B4-BE49-F238E27FC236}">
                <a16:creationId xmlns:a16="http://schemas.microsoft.com/office/drawing/2014/main" id="{63CB9C88-A67A-44F5-8105-38496B1A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288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Что ещё не проверено</a:t>
            </a:r>
          </a:p>
        </p:txBody>
      </p:sp>
      <p:sp>
        <p:nvSpPr>
          <p:cNvPr id="23" name="Мы ещё не изучали архив и не согласовали насо">
            <a:extLst xmlns:a="http://schemas.openxmlformats.org/drawingml/2006/main">
              <a:ext uri="{FF2B5EF4-FFF2-40B4-BE49-F238E27FC236}">
                <a16:creationId xmlns:a16="http://schemas.microsoft.com/office/drawing/2014/main" id="{2EBFF4E0-44F2-4FA2-A206-D334C64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43175"/>
            <a:ext cx="4953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Мы ещё не изучали архив и не согласовали насос для пилота. Новый прототип инженер станции пока не проходил.</a:t>
            </a:r>
          </a:p>
        </p:txBody>
      </p:sp>
      <p:sp>
        <p:nvSpPr>
          <p:cNvPr id="24" name="18 прежних и 4 новые ролевые симуляции помогл">
            <a:extLst xmlns:a="http://schemas.openxmlformats.org/drawingml/2006/main">
              <a:ext uri="{FF2B5EF4-FFF2-40B4-BE49-F238E27FC236}">
                <a16:creationId xmlns:a16="http://schemas.microsoft.com/office/drawing/2014/main" id="{4E45EA0C-887C-47BE-B6C4-D13ED340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95825"/>
            <a:ext cx="4953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18 прежних и 4 новые ролевые симуляции помогли подготовить вопросы для интервью.</a:t>
            </a:r>
          </a:p>
        </p:txBody>
      </p:sp>
      <p:sp>
        <p:nvSpPr>
          <p:cNvPr id="25" name="Симуляции не подтверждают спрос. Два разговор">
            <a:extLst xmlns:a="http://schemas.openxmlformats.org/drawingml/2006/main">
              <a:ext uri="{FF2B5EF4-FFF2-40B4-BE49-F238E27FC236}">
                <a16:creationId xmlns:a16="http://schemas.microsoft.com/office/drawing/2014/main" id="{40287FC6-9A61-4F7F-9822-8C52F6C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19800"/>
            <a:ext cx="1061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Симуляции не подтверждают спрос. Два разговора дают ограниченные сведения о потребности.</a:t>
            </a:r>
          </a:p>
        </p:txBody>
      </p:sp>
    </p:spTree>
    <p:extLst>
      <p:ext uri="{BB962C8B-B14F-4D97-AF65-F5344CB8AC3E}">
        <p14:creationId xmlns:p14="http://schemas.microsoft.com/office/powerpoint/2010/main" val="2003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6aa928527094be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ПОЛЬЗОВАТЕЛЬ И ЗАДАЧА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Разобраться с сигналом и подготовить задание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5</a:t>
            </a:r>
            <a:endParaRPr sz="1100"/>
          </a:p>
        </p:txBody>
      </p:sp>
      <p:sp>
        <p:nvSpPr>
          <p:cNvPr id="17" name="Кто">
            <a:extLst xmlns:a="http://schemas.openxmlformats.org/drawingml/2006/main">
              <a:ext uri="{FF2B5EF4-FFF2-40B4-BE49-F238E27FC236}">
                <a16:creationId xmlns:a16="http://schemas.microsoft.com/office/drawing/2014/main" id="{6609A625-8FB3-4FF4-965D-6221407D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Кто</a:t>
            </a:r>
          </a:p>
        </p:txBody>
      </p:sp>
      <p:sp>
        <p:nvSpPr>
          <p:cNvPr id="18" name="Инженер станции">
            <a:extLst xmlns:a="http://schemas.openxmlformats.org/drawingml/2006/main">
              <a:ext uri="{FF2B5EF4-FFF2-40B4-BE49-F238E27FC236}">
                <a16:creationId xmlns:a16="http://schemas.microsoft.com/office/drawing/2014/main" id="{80179238-3D59-4BD1-B6C9-6C206A02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09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Инженер станции</a:t>
            </a:r>
          </a:p>
        </p:txBody>
      </p:sp>
      <p:sp>
        <p:nvSpPr>
          <p:cNvPr id="19" name="Когда">
            <a:extLst xmlns:a="http://schemas.openxmlformats.org/drawingml/2006/main">
              <a:ext uri="{FF2B5EF4-FFF2-40B4-BE49-F238E27FC236}">
                <a16:creationId xmlns:a16="http://schemas.microsoft.com/office/drawing/2014/main" id="{5DCC7AD5-0695-426A-AB48-66E3AA4C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Когда</a:t>
            </a:r>
          </a:p>
        </p:txBody>
      </p:sp>
      <p:sp>
        <p:nvSpPr>
          <p:cNvPr id="20" name="Появилось предупреждение&#10;или перестали приход">
            <a:extLst xmlns:a="http://schemas.openxmlformats.org/drawingml/2006/main">
              <a:ext uri="{FF2B5EF4-FFF2-40B4-BE49-F238E27FC236}">
                <a16:creationId xmlns:a16="http://schemas.microsoft.com/office/drawing/2014/main" id="{327EF49C-F01A-42D8-9566-A694396B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95575"/>
            <a:ext cx="857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Появилось предупреждение</a:t>
            </a:r>
          </a:p>
          <a:p xmlns:a="http://schemas.openxmlformats.org/drawingml/2006/main">
            <a: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или перестали приходить свежие показания.</a:t>
            </a:r>
          </a:p>
        </p:txBody>
      </p:sp>
      <p:sp>
        <p:nvSpPr>
          <p:cNvPr id="21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9A6058AA-8BFD-4C07-A6EE-0AD1777D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2" name="Понятное задание: что проверить,&#10;почему, кто ">
            <a:extLst xmlns:a="http://schemas.openxmlformats.org/drawingml/2006/main">
              <a:ext uri="{FF2B5EF4-FFF2-40B4-BE49-F238E27FC236}">
                <a16:creationId xmlns:a16="http://schemas.microsoft.com/office/drawing/2014/main" id="{078D8DEC-FC86-4E29-B852-3846E297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67175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Понятное задание: что проверить,</a:t>
            </a:r>
          </a:p>
          <a:p xmlns:a="http://schemas.openxmlformats.org/drawingml/2006/main">
            <a: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почему, кто отвечает и к какому сроку.</a:t>
            </a:r>
          </a:p>
        </p:txBody>
      </p:sp>
      <p:sp>
        <p:nvSpPr>
          <p:cNvPr id="23" name="Почему так">
            <a:extLst xmlns:a="http://schemas.openxmlformats.org/drawingml/2006/main">
              <a:ext uri="{FF2B5EF4-FFF2-40B4-BE49-F238E27FC236}">
                <a16:creationId xmlns:a16="http://schemas.microsoft.com/office/drawing/2014/main" id="{C0086A7E-DC81-4A24-8ADF-C100E656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Почему так</a:t>
            </a:r>
          </a:p>
        </p:txBody>
      </p:sp>
      <p:sp>
        <p:nvSpPr>
          <p:cNvPr id="24" name="Проверяем, помогает ли этот путь принять реше">
            <a:extLst xmlns:a="http://schemas.openxmlformats.org/drawingml/2006/main">
              <a:ext uri="{FF2B5EF4-FFF2-40B4-BE49-F238E27FC236}">
                <a16:creationId xmlns:a16="http://schemas.microsoft.com/office/drawing/2014/main" id="{20FFAE9E-23E3-427E-9AA1-B444A978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362575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Проверяем, помогает ли этот путь принять решение.</a:t>
            </a:r>
          </a:p>
        </p:txBody>
      </p:sp>
      <p:sp>
        <p:nvSpPr>
          <p:cNvPr id="25" name="Модели прогноза пока нет. Датчики и система р">
            <a:extLst xmlns:a="http://schemas.openxmlformats.org/drawingml/2006/main">
              <a:ext uri="{FF2B5EF4-FFF2-40B4-BE49-F238E27FC236}">
                <a16:creationId xmlns:a16="http://schemas.microsoft.com/office/drawing/2014/main" id="{23E8CDAA-A922-44D0-B696-90315196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124575"/>
            <a:ext cx="1061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Модели прогноза пока нет. Датчики и система ремонтов не подключены. Макет не управляет оборудованием.</a:t>
            </a:r>
          </a:p>
        </p:txBody>
      </p:sp>
    </p:spTree>
    <p:extLst>
      <p:ext uri="{BB962C8B-B14F-4D97-AF65-F5344CB8AC3E}">
        <p14:creationId xmlns:p14="http://schemas.microsoft.com/office/powerpoint/2010/main" val="200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9e823558e4e463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B31BB1-8111-4746-9257-22A549C0A78D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9229725" y="1995488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E6C9"/>
            </a:solidFill>
            <a:prstDash val="solid"/>
            <a:tailEnd type="arrow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3545E7-9C6B-41C1-8069-D9072075883E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077075" y="1995488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E6C9"/>
            </a:solidFill>
            <a:prstDash val="solid"/>
            <a:tailEnd type="arrow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A988DC-B806-4371-8A9E-028717D82B3C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924425" y="1995488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E6C9"/>
            </a:solidFill>
            <a:prstDash val="solid"/>
            <a:tailEnd type="arrow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6EB312-7046-4BFA-8175-0E336061660D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771775" y="1995488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E6C9"/>
            </a:solidFill>
            <a:prstDash val="solid"/>
            <a:tailEnd type="arrow" w="med" len="med"/>
          </a:ln>
        </p:spPr>
      </p:cxn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КАРТА СЦЕНАРИЯ / ПН-01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Как инженер готовит задание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6</a:t>
            </a:r>
            <a:endParaRPr sz="1100"/>
          </a:p>
        </p:txBody>
      </p:sp>
      <p:sp>
        <p:nvSpPr>
          <p:cNvPr id="17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D0A8CB1B-0DA2-4ACD-B33E-867067D1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1990725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18" name="1. Найти">
            <a:extLst xmlns:a="http://schemas.openxmlformats.org/drawingml/2006/main">
              <a:ext uri="{FF2B5EF4-FFF2-40B4-BE49-F238E27FC236}">
                <a16:creationId xmlns:a16="http://schemas.microsoft.com/office/drawing/2014/main" id="{433999AA-2A78-470C-904E-C994F6CB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1. Найти</a:t>
            </a:r>
          </a:p>
        </p:txBody>
      </p:sp>
      <p:sp>
        <p:nvSpPr>
          <p:cNvPr id="19" name="ИНЖЕНЕР">
            <a:extLst xmlns:a="http://schemas.openxmlformats.org/drawingml/2006/main">
              <a:ext uri="{FF2B5EF4-FFF2-40B4-BE49-F238E27FC236}">
                <a16:creationId xmlns:a16="http://schemas.microsoft.com/office/drawing/2014/main" id="{BDB5D0F6-8697-483B-BBB7-75EAEC7F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ИНЖЕНЕР</a:t>
            </a:r>
          </a:p>
        </p:txBody>
      </p:sp>
      <p:sp>
        <p:nvSpPr>
          <p:cNvPr id="20" name="Открывает ПН-01&#10;из сводки.">
            <a:extLst xmlns:a="http://schemas.openxmlformats.org/drawingml/2006/main">
              <a:ext uri="{FF2B5EF4-FFF2-40B4-BE49-F238E27FC236}">
                <a16:creationId xmlns:a16="http://schemas.microsoft.com/office/drawing/2014/main" id="{143B0648-01A5-4884-A81B-ED555EE2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990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Открывает ПН-01</a:t>
            </a:r>
          </a:p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из сводки.</a:t>
            </a:r>
          </a:p>
        </p:txBody>
      </p:sp>
      <p:sp>
        <p:nvSpPr>
          <p:cNvPr id="21" name="ТЕНЗОР">
            <a:extLst xmlns:a="http://schemas.openxmlformats.org/drawingml/2006/main">
              <a:ext uri="{FF2B5EF4-FFF2-40B4-BE49-F238E27FC236}">
                <a16:creationId xmlns:a16="http://schemas.microsoft.com/office/drawing/2014/main" id="{E52974DD-D599-45F2-8B3F-F6EE8A9D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ТЕНЗОР</a:t>
            </a:r>
          </a:p>
        </p:txBody>
      </p:sp>
      <p:sp>
        <p:nvSpPr>
          <p:cNvPr id="22" name="Видны состояние,&#10;показания и&#10;следующий шаг.">
            <a:extLst xmlns:a="http://schemas.openxmlformats.org/drawingml/2006/main">
              <a:ext uri="{FF2B5EF4-FFF2-40B4-BE49-F238E27FC236}">
                <a16:creationId xmlns:a16="http://schemas.microsoft.com/office/drawing/2014/main" id="{C8D7527C-8E13-4D8C-84E2-173D45DA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1990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Видны состояние,</a:t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показания и</a:t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следующий шаг.</a:t>
            </a:r>
          </a:p>
        </p:txBody>
      </p:sp>
      <p:sp>
        <p:nvSpPr>
          <p:cNvPr id="23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54669B7D-714A-4AE0-A8E0-773E72A9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24025"/>
            <a:ext cx="1990725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24" name="2. Разобраться">
            <a:extLst xmlns:a="http://schemas.openxmlformats.org/drawingml/2006/main">
              <a:ext uri="{FF2B5EF4-FFF2-40B4-BE49-F238E27FC236}">
                <a16:creationId xmlns:a16="http://schemas.microsoft.com/office/drawing/2014/main" id="{8CA2F6CB-A55B-4F4C-807C-7D047381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57375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2. Разобраться</a:t>
            </a:r>
          </a:p>
        </p:txBody>
      </p:sp>
      <p:sp>
        <p:nvSpPr>
          <p:cNvPr id="25" name="ИНЖЕНЕР">
            <a:extLst xmlns:a="http://schemas.openxmlformats.org/drawingml/2006/main">
              <a:ext uri="{FF2B5EF4-FFF2-40B4-BE49-F238E27FC236}">
                <a16:creationId xmlns:a16="http://schemas.microsoft.com/office/drawing/2014/main" id="{0BBE33B6-2B95-4ED2-BF1C-D955B0C6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24125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ИНЖЕНЕР</a:t>
            </a:r>
          </a:p>
        </p:txBody>
      </p:sp>
      <p:sp>
        <p:nvSpPr>
          <p:cNvPr id="26" name="Смотрит тренд,&#10;узел и причины.">
            <a:extLst xmlns:a="http://schemas.openxmlformats.org/drawingml/2006/main">
              <a:ext uri="{FF2B5EF4-FFF2-40B4-BE49-F238E27FC236}">
                <a16:creationId xmlns:a16="http://schemas.microsoft.com/office/drawing/2014/main" id="{B7AA739B-347E-48BE-AFCF-3CE274DB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14650"/>
            <a:ext cx="1990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Смотрит тренд,</a:t>
            </a:r>
          </a:p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узел и причины.</a:t>
            </a:r>
          </a:p>
        </p:txBody>
      </p:sp>
      <p:sp>
        <p:nvSpPr>
          <p:cNvPr id="27" name="ТЕНЗОР">
            <a:extLst xmlns:a="http://schemas.openxmlformats.org/drawingml/2006/main">
              <a:ext uri="{FF2B5EF4-FFF2-40B4-BE49-F238E27FC236}">
                <a16:creationId xmlns:a16="http://schemas.microsoft.com/office/drawing/2014/main" id="{91748C17-3516-4989-9354-EAEC3EE4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43350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ТЕНЗОР</a:t>
            </a:r>
          </a:p>
        </p:txBody>
      </p:sp>
      <p:sp>
        <p:nvSpPr>
          <p:cNvPr id="28" name="Видны факты,&#10;возможная причина&#10;и другие верси">
            <a:extLst xmlns:a="http://schemas.openxmlformats.org/drawingml/2006/main">
              <a:ext uri="{FF2B5EF4-FFF2-40B4-BE49-F238E27FC236}">
                <a16:creationId xmlns:a16="http://schemas.microsoft.com/office/drawing/2014/main" id="{4D83070C-2A1F-459D-AE74-20513AA5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33875"/>
            <a:ext cx="1990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Видны факты,</a:t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возможная причина</a:t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 другие версии.</a:t>
            </a:r>
          </a:p>
        </p:txBody>
      </p:sp>
      <p:sp>
        <p:nvSpPr>
          <p:cNvPr id="29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46E5CFB8-D28F-419D-A95A-D3A6C56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24025"/>
            <a:ext cx="1990725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30" name="3. Проверить">
            <a:extLst xmlns:a="http://schemas.openxmlformats.org/drawingml/2006/main">
              <a:ext uri="{FF2B5EF4-FFF2-40B4-BE49-F238E27FC236}">
                <a16:creationId xmlns:a16="http://schemas.microsoft.com/office/drawing/2014/main" id="{93C5F6C3-7F1A-4307-A01C-EB690165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57375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3. Проверить</a:t>
            </a:r>
          </a:p>
        </p:txBody>
      </p:sp>
      <p:sp>
        <p:nvSpPr>
          <p:cNvPr id="31" name="ИНЖЕНЕР">
            <a:extLst xmlns:a="http://schemas.openxmlformats.org/drawingml/2006/main">
              <a:ext uri="{FF2B5EF4-FFF2-40B4-BE49-F238E27FC236}">
                <a16:creationId xmlns:a16="http://schemas.microsoft.com/office/drawing/2014/main" id="{DBDD34EF-3F7D-44AE-A29F-BF3D9887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24125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ИНЖЕНЕР</a:t>
            </a:r>
          </a:p>
        </p:txBody>
      </p:sp>
      <p:sp>
        <p:nvSpPr>
          <p:cNvPr id="32" name="Записывает&#10;результаты&#10;и наблюдения.">
            <a:extLst xmlns:a="http://schemas.openxmlformats.org/drawingml/2006/main">
              <a:ext uri="{FF2B5EF4-FFF2-40B4-BE49-F238E27FC236}">
                <a16:creationId xmlns:a16="http://schemas.microsoft.com/office/drawing/2014/main" id="{A4D0EEB8-E3FA-4FF1-84D8-4B81463A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14650"/>
            <a:ext cx="1990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Записывает</a:t>
            </a:r>
          </a:p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результаты</a:t>
            </a:r>
          </a:p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и наблюдения.</a:t>
            </a:r>
          </a:p>
        </p:txBody>
      </p:sp>
      <p:sp>
        <p:nvSpPr>
          <p:cNvPr id="33" name="ТЕНЗОР">
            <a:extLst xmlns:a="http://schemas.openxmlformats.org/drawingml/2006/main">
              <a:ext uri="{FF2B5EF4-FFF2-40B4-BE49-F238E27FC236}">
                <a16:creationId xmlns:a16="http://schemas.microsoft.com/office/drawing/2014/main" id="{7B980622-3AB2-4192-AB1F-538B3643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43350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ТЕНЗОР</a:t>
            </a:r>
          </a:p>
        </p:txBody>
      </p:sp>
      <p:sp>
        <p:nvSpPr>
          <p:cNvPr id="34" name="Вывод меняется.&#10;При расхождении&#10;расчёт остано">
            <a:extLst xmlns:a="http://schemas.openxmlformats.org/drawingml/2006/main">
              <a:ext uri="{FF2B5EF4-FFF2-40B4-BE49-F238E27FC236}">
                <a16:creationId xmlns:a16="http://schemas.microsoft.com/office/drawing/2014/main" id="{5617942A-F355-448D-A09F-A388DFF5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33875"/>
            <a:ext cx="1990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Вывод меняется.</a:t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При расхождении</a:t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расчёт остановлен.</a:t>
            </a:r>
          </a:p>
        </p:txBody>
      </p:sp>
      <p:sp>
        <p:nvSpPr>
          <p:cNvPr id="35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002B9E3B-82E3-4645-B47A-07AC9A1C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24025"/>
            <a:ext cx="1990725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36" name="4. Подготовить">
            <a:extLst xmlns:a="http://schemas.openxmlformats.org/drawingml/2006/main">
              <a:ext uri="{FF2B5EF4-FFF2-40B4-BE49-F238E27FC236}">
                <a16:creationId xmlns:a16="http://schemas.microsoft.com/office/drawing/2014/main" id="{0529EBF1-3B5F-488B-970C-9068885D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57375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4. Подготовить</a:t>
            </a:r>
          </a:p>
        </p:txBody>
      </p:sp>
      <p:sp>
        <p:nvSpPr>
          <p:cNvPr id="37" name="ИНЖЕНЕР">
            <a:extLst xmlns:a="http://schemas.openxmlformats.org/drawingml/2006/main">
              <a:ext uri="{FF2B5EF4-FFF2-40B4-BE49-F238E27FC236}">
                <a16:creationId xmlns:a16="http://schemas.microsoft.com/office/drawing/2014/main" id="{8732D8BF-FBFB-4473-B388-1B90EA7A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ИНЖЕНЕР</a:t>
            </a:r>
          </a:p>
        </p:txBody>
      </p:sp>
      <p:sp>
        <p:nvSpPr>
          <p:cNvPr id="38" name="Выбирает работу,&#10;обоснование,&#10;срок и человека">
            <a:extLst xmlns:a="http://schemas.openxmlformats.org/drawingml/2006/main">
              <a:ext uri="{FF2B5EF4-FFF2-40B4-BE49-F238E27FC236}">
                <a16:creationId xmlns:a16="http://schemas.microsoft.com/office/drawing/2014/main" id="{AEE4784A-EAD8-4581-8E9A-C0A50894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1990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Выбирает работу,</a:t>
            </a:r>
          </a:p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обоснование,</a:t>
            </a:r>
          </a:p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срок и человека.</a:t>
            </a:r>
          </a:p>
        </p:txBody>
      </p:sp>
      <p:sp>
        <p:nvSpPr>
          <p:cNvPr id="39" name="ТЕНЗОР">
            <a:extLst xmlns:a="http://schemas.openxmlformats.org/drawingml/2006/main">
              <a:ext uri="{FF2B5EF4-FFF2-40B4-BE49-F238E27FC236}">
                <a16:creationId xmlns:a16="http://schemas.microsoft.com/office/drawing/2014/main" id="{159A61A5-F4C8-40B1-AFD0-6724026F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ТЕНЗОР</a:t>
            </a:r>
          </a:p>
        </p:txBody>
      </p:sp>
      <p:sp>
        <p:nvSpPr>
          <p:cNvPr id="40" name="Проверяет поля.&#10;Создаёт задание&#10;с номером.">
            <a:extLst xmlns:a="http://schemas.openxmlformats.org/drawingml/2006/main">
              <a:ext uri="{FF2B5EF4-FFF2-40B4-BE49-F238E27FC236}">
                <a16:creationId xmlns:a16="http://schemas.microsoft.com/office/drawing/2014/main" id="{CBA59ABD-1985-477D-AFCC-5A7C6E5B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1990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Проверяет поля.</a:t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Создаёт задание</a:t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 номером.</a:t>
            </a:r>
          </a:p>
        </p:txBody>
      </p:sp>
      <p:sp>
        <p:nvSpPr>
          <p:cNvPr id="41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06A880B1-840C-41F3-832C-F2021D31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24025"/>
            <a:ext cx="1990725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42" name="5. Продолжить">
            <a:extLst xmlns:a="http://schemas.openxmlformats.org/drawingml/2006/main">
              <a:ext uri="{FF2B5EF4-FFF2-40B4-BE49-F238E27FC236}">
                <a16:creationId xmlns:a16="http://schemas.microsoft.com/office/drawing/2014/main" id="{6C775A1B-A1F6-4D9F-8944-DAA9D31E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57375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5. Продолжить</a:t>
            </a:r>
          </a:p>
        </p:txBody>
      </p:sp>
      <p:sp>
        <p:nvSpPr>
          <p:cNvPr id="43" name="ИНЖЕНЕР">
            <a:extLst xmlns:a="http://schemas.openxmlformats.org/drawingml/2006/main">
              <a:ext uri="{FF2B5EF4-FFF2-40B4-BE49-F238E27FC236}">
                <a16:creationId xmlns:a16="http://schemas.microsoft.com/office/drawing/2014/main" id="{CEFEEF4F-C820-49D8-A71D-B2D6B9C1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24125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ИНЖЕНЕР</a:t>
            </a:r>
          </a:p>
        </p:txBody>
      </p:sp>
      <p:sp>
        <p:nvSpPr>
          <p:cNvPr id="44" name="Скачивает файл.&#10;После проверки&#10;записывает исх">
            <a:extLst xmlns:a="http://schemas.openxmlformats.org/drawingml/2006/main">
              <a:ext uri="{FF2B5EF4-FFF2-40B4-BE49-F238E27FC236}">
                <a16:creationId xmlns:a16="http://schemas.microsoft.com/office/drawing/2014/main" id="{D08C29A8-D0E8-4CA2-A7C8-EA68D5D8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14650"/>
            <a:ext cx="1990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Скачивает файл.</a:t>
            </a:r>
          </a:p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После проверки</a:t>
            </a:r>
          </a:p>
          <a:p xmlns:a="http://schemas.openxmlformats.org/drawingml/2006/main">
            <a:pPr>
              <a:defRPr sz="15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записывает исход.</a:t>
            </a:r>
          </a:p>
        </p:txBody>
      </p:sp>
      <p:sp>
        <p:nvSpPr>
          <p:cNvPr id="45" name="ТЕНЗОР">
            <a:extLst xmlns:a="http://schemas.openxmlformats.org/drawingml/2006/main">
              <a:ext uri="{FF2B5EF4-FFF2-40B4-BE49-F238E27FC236}">
                <a16:creationId xmlns:a16="http://schemas.microsoft.com/office/drawing/2014/main" id="{2F095BD6-4FDE-4756-9B3B-2361AD8C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43350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ТЕНЗОР</a:t>
            </a:r>
          </a:p>
        </p:txBody>
      </p:sp>
      <p:sp>
        <p:nvSpPr>
          <p:cNvPr id="46" name="Сохраняет запись&#10;в журнале. Сигнал&#10;остаётся в">
            <a:extLst xmlns:a="http://schemas.openxmlformats.org/drawingml/2006/main">
              <a:ext uri="{FF2B5EF4-FFF2-40B4-BE49-F238E27FC236}">
                <a16:creationId xmlns:a16="http://schemas.microsoft.com/office/drawing/2014/main" id="{48B674CD-7FE8-42AB-A95A-D41ED7E5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33875"/>
            <a:ext cx="1990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Сохраняет запись</a:t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в журнале. Сигнал</a:t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остаётся виден.</a:t>
            </a:r>
          </a:p>
        </p:txBody>
      </p:sp>
      <p:sp>
        <p:nvSpPr>
          <p:cNvPr id="51" name="На объекте">
            <a:extLst xmlns:a="http://schemas.openxmlformats.org/drawingml/2006/main">
              <a:ext uri="{FF2B5EF4-FFF2-40B4-BE49-F238E27FC236}">
                <a16:creationId xmlns:a16="http://schemas.microsoft.com/office/drawing/2014/main" id="{B990294F-BE52-4124-A2B4-F75212D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На объекте</a:t>
            </a:r>
          </a:p>
        </p:txBody>
      </p:sp>
      <p:sp>
        <p:nvSpPr>
          <p:cNvPr id="52" name="Измерения и осмотр&#10;проводят специалисты.">
            <a:extLst xmlns:a="http://schemas.openxmlformats.org/drawingml/2006/main">
              <a:ext uri="{FF2B5EF4-FFF2-40B4-BE49-F238E27FC236}">
                <a16:creationId xmlns:a16="http://schemas.microsoft.com/office/drawing/2014/main" id="{C2611528-6021-4374-B3C1-A707B2B8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977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Измерения и осмотр</a:t>
            </a:r>
          </a:p>
          <a:p xmlns:a="http://schemas.openxmlformats.org/drawingml/2006/main">
            <a: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проводят специалисты.</a:t>
            </a:r>
          </a:p>
        </p:txBody>
      </p:sp>
      <p:sp>
        <p:nvSpPr>
          <p:cNvPr id="53" name="Возврат к карточке">
            <a:extLst xmlns:a="http://schemas.openxmlformats.org/drawingml/2006/main">
              <a:ext uri="{FF2B5EF4-FFF2-40B4-BE49-F238E27FC236}">
                <a16:creationId xmlns:a16="http://schemas.microsoft.com/office/drawing/2014/main" id="{31DB6F0B-D01F-411E-BF70-5E109264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864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Возврат к карточке</a:t>
            </a:r>
          </a:p>
        </p:txBody>
      </p:sp>
      <p:sp>
        <p:nvSpPr>
          <p:cNvPr id="54" name="Черновик остаётся в открытой вкладке до перез">
            <a:extLst xmlns:a="http://schemas.openxmlformats.org/drawingml/2006/main">
              <a:ext uri="{FF2B5EF4-FFF2-40B4-BE49-F238E27FC236}">
                <a16:creationId xmlns:a16="http://schemas.microsoft.com/office/drawing/2014/main" id="{820F45FA-2899-45B3-A156-946ABB52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819775"/>
            <a:ext cx="4143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Черновик остаётся в открытой вкладке до перезагрузки.</a:t>
            </a:r>
          </a:p>
        </p:txBody>
      </p:sp>
      <p:sp>
        <p:nvSpPr>
          <p:cNvPr id="55" name="Ошибка в полях">
            <a:extLst xmlns:a="http://schemas.openxmlformats.org/drawingml/2006/main">
              <a:ext uri="{FF2B5EF4-FFF2-40B4-BE49-F238E27FC236}">
                <a16:creationId xmlns:a16="http://schemas.microsoft.com/office/drawing/2014/main" id="{4B36EE8E-768C-43D8-9405-07F244B2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486400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Ошибка в полях</a:t>
            </a:r>
          </a:p>
        </p:txBody>
      </p:sp>
      <p:sp>
        <p:nvSpPr>
          <p:cNvPr id="56" name="Исправить и снова&#10;создать задание.">
            <a:extLst xmlns:a="http://schemas.openxmlformats.org/drawingml/2006/main">
              <a:ext uri="{FF2B5EF4-FFF2-40B4-BE49-F238E27FC236}">
                <a16:creationId xmlns:a16="http://schemas.microsoft.com/office/drawing/2014/main" id="{C1D18387-0B8D-4185-811F-5947D78D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819775"/>
            <a:ext cx="1990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Исправить и снова</a:t>
            </a:r>
          </a:p>
          <a:p xmlns:a="http://schemas.openxmlformats.org/drawingml/2006/main">
            <a: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создать задание.</a:t>
            </a:r>
          </a:p>
        </p:txBody>
      </p:sp>
    </p:spTree>
    <p:extLst>
      <p:ext uri="{BB962C8B-B14F-4D97-AF65-F5344CB8AC3E}">
        <p14:creationId xmlns:p14="http://schemas.microsoft.com/office/powerpoint/2010/main" val="200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696c135e229419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1D0BE7-5B8A-47CF-92D0-8B4605F66675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429625" y="5048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E6C9"/>
            </a:solidFill>
            <a:prstDash val="solid"/>
            <a:tailEnd type="arrow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4C7390-4B7D-4A6A-88E4-E11616DF50D0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905500" y="5048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E6C9"/>
            </a:solidFill>
            <a:prstDash val="solid"/>
            <a:tailEnd type="arrow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34F61C-5162-4E02-AF9E-84347977ED8B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190875" y="5048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E6C9"/>
            </a:solidFill>
            <a:prstDash val="solid"/>
            <a:tailEnd type="arrow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4FC8CC-8D56-4D37-A13C-159F0A5B3926}"/>
              </a:ext>
            </a:extLst>
          </p:cNvPr>
          <p:cNvCxnSpPr>
            <a:stCxn xmlns:a="http://schemas.openxmlformats.org/drawingml/2006/main" id="40" idx="2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500063" y="2790825"/>
            <a:ext cx="280988" cy="2257425"/>
          </a:xfrm>
          <a:prstGeom xmlns:a="http://schemas.openxmlformats.org/drawingml/2006/main" prst="bentConnector5">
            <a:avLst>
              <a:gd name="adj1" fmla="val 0"/>
              <a:gd name="adj2" fmla="val 10127"/>
              <a:gd name="adj3" fmla="val 18644"/>
            </a:avLst>
          </a:prstGeom>
          <a:ln xmlns:a="http://schemas.openxmlformats.org/drawingml/2006/main" w="19050">
            <a:solidFill>
              <a:srgbClr val="2EE6C9"/>
            </a:solidFill>
            <a:tailEnd type="arrow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4CA160-8F97-4949-A330-EC89D0D90F66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0" idx="0"/>
          </p:cNvCxnSpPr>
          <p:nvPr/>
        </p:nvCxnSpPr>
        <p:spPr>
          <a:xfrm xmlns:a="http://schemas.openxmlformats.org/drawingml/2006/main" flipH="1">
            <a:off x="500062" y="2147888"/>
            <a:ext cx="3557588" cy="6334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EE6C9"/>
            </a:solidFill>
            <a:tailEnd type="non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8750AB-9D4F-4710-B03C-8A8D213824B8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353300" y="35052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C857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C177F1-747F-4D1E-BBDD-9DA47842BD9A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733800" y="3381375"/>
            <a:ext cx="47625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C857"/>
            </a:solidFill>
            <a:prstDash val="solid"/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5F3D0E-404D-455F-90FC-D4074E762F71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2257425" y="2533650"/>
            <a:ext cx="3348038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C857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C84E9-ED4E-4A67-8855-9D0F3F5A5474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314700" y="2147888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E6C9"/>
            </a:solidFill>
            <a:prstDash val="solid"/>
            <a:tailEnd type="arrow" w="med" len="med"/>
          </a:ln>
        </p:spPr>
      </p:cxn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РАЗВИЛКА / ПН-03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Нет свежих данных: что делать инженеру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7</a:t>
            </a:r>
            <a:endParaRPr sz="1100"/>
          </a:p>
        </p:txBody>
      </p:sp>
      <p:sp>
        <p:nvSpPr>
          <p:cNvPr id="17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D11D7965-6BD8-45D5-8940-5E2D0C56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2533650" cy="77152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18" name="Нет показаний&#10;последние 7 часов">
            <a:extLst xmlns:a="http://schemas.openxmlformats.org/drawingml/2006/main">
              <a:ext uri="{FF2B5EF4-FFF2-40B4-BE49-F238E27FC236}">
                <a16:creationId xmlns:a16="http://schemas.microsoft.com/office/drawing/2014/main" id="{C8703C46-AFD0-40AC-A953-048A4F6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95475"/>
            <a:ext cx="22288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Нет показаний</a:t>
            </a:r>
          </a:p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последние 7 часов</a:t>
            </a:r>
          </a:p>
        </p:txBody>
      </p:sp>
      <p:sp>
        <p:nvSpPr>
          <p:cNvPr id="19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BF4D87DF-8FF7-497B-A0A0-7B26F057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62125"/>
            <a:ext cx="3095625" cy="77152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B8A1FF"/>
            </a:solidFill>
          </a:ln>
        </p:spPr>
      </p:sp>
      <p:sp>
        <p:nvSpPr>
          <p:cNvPr id="20" name="Инженер открывает&#10;уточнение данных">
            <a:extLst xmlns:a="http://schemas.openxmlformats.org/drawingml/2006/main">
              <a:ext uri="{FF2B5EF4-FFF2-40B4-BE49-F238E27FC236}">
                <a16:creationId xmlns:a16="http://schemas.microsoft.com/office/drawing/2014/main" id="{1D904AC2-F63C-434C-BDCA-6B7565C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95475"/>
            <a:ext cx="27908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Инженер открывает</a:t>
            </a:r>
          </a:p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уточнение данных</a:t>
            </a:r>
          </a:p>
        </p:txBody>
      </p:sp>
      <p:sp>
        <p:nvSpPr>
          <p:cNvPr id="22" name="Оценка насоса приостановлена">
            <a:extLst xmlns:a="http://schemas.openxmlformats.org/drawingml/2006/main">
              <a:ext uri="{FF2B5EF4-FFF2-40B4-BE49-F238E27FC236}">
                <a16:creationId xmlns:a16="http://schemas.microsoft.com/office/drawing/2014/main" id="{D7A8B05E-91B9-4560-BCA7-13623B45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85950"/>
            <a:ext cx="37433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C857"/>
                </a:solidFill>
                <a:latin typeface="Arial"/>
                <a:ea typeface="Arial"/>
                <a:cs typeface="Arial"/>
              </a:rPr>
              <a:t>Оценка насоса приостановлена</a:t>
            </a:r>
          </a:p>
        </p:txBody>
      </p:sp>
      <p:sp>
        <p:nvSpPr>
          <p:cNvPr id="23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AE865D46-0934-4A1D-932D-2F0613A1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295275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24" name="Причина неизвестна">
            <a:extLst xmlns:a="http://schemas.openxmlformats.org/drawingml/2006/main">
              <a:ext uri="{FF2B5EF4-FFF2-40B4-BE49-F238E27FC236}">
                <a16:creationId xmlns:a16="http://schemas.microsoft.com/office/drawing/2014/main" id="{76FD4145-74A1-4384-8097-2BFF0F2A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Причина неизвестна</a:t>
            </a:r>
          </a:p>
        </p:txBody>
      </p:sp>
      <p:sp>
        <p:nvSpPr>
          <p:cNvPr id="25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9BB42C8E-0CEA-473F-91B8-4AF5C03E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86100"/>
            <a:ext cx="3143250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26" name="Ошибка подтверждения:&#10;нет проверенных данных">
            <a:extLst xmlns:a="http://schemas.openxmlformats.org/drawingml/2006/main">
              <a:ext uri="{FF2B5EF4-FFF2-40B4-BE49-F238E27FC236}">
                <a16:creationId xmlns:a16="http://schemas.microsoft.com/office/drawing/2014/main" id="{AFFF7BE0-A235-4E10-B790-B6898D99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Ошибка подтверждения:</a:t>
            </a:r>
          </a:p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нет проверенных данных</a:t>
            </a:r>
          </a:p>
        </p:txBody>
      </p:sp>
      <p:sp>
        <p:nvSpPr>
          <p:cNvPr id="27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06A5F601-861C-4B2F-B5CC-118EE560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3552825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28" name="Подготовить задание&#10;на передачу данных">
            <a:extLst xmlns:a="http://schemas.openxmlformats.org/drawingml/2006/main">
              <a:ext uri="{FF2B5EF4-FFF2-40B4-BE49-F238E27FC236}">
                <a16:creationId xmlns:a16="http://schemas.microsoft.com/office/drawing/2014/main" id="{D4E88DC2-2F44-4BBE-8B68-7DCB120E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19450"/>
            <a:ext cx="3248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Подготовить задание</a:t>
            </a:r>
          </a:p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на передачу данных</a:t>
            </a:r>
          </a:p>
        </p:txBody>
      </p:sp>
      <p:sp>
        <p:nvSpPr>
          <p:cNvPr id="32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6142ED39-188C-48D8-B154-A81239B4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2409825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33" name="Пакет восстановлен&#10;и проверен¹">
            <a:extLst xmlns:a="http://schemas.openxmlformats.org/drawingml/2006/main">
              <a:ext uri="{FF2B5EF4-FFF2-40B4-BE49-F238E27FC236}">
                <a16:creationId xmlns:a16="http://schemas.microsoft.com/office/drawing/2014/main" id="{318C2F3C-3BF6-4F17-BE13-87A3EBD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2105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Пакет восстановлен</a:t>
            </a:r>
          </a:p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и проверен¹</a:t>
            </a:r>
          </a:p>
        </p:txBody>
      </p:sp>
      <p:sp>
        <p:nvSpPr>
          <p:cNvPr id="34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BB44E394-B7E7-44C7-85DF-38E5917D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38675"/>
            <a:ext cx="2333625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35" name="Сохранить&#10;подтверждение">
            <a:extLst xmlns:a="http://schemas.openxmlformats.org/drawingml/2006/main">
              <a:ext uri="{FF2B5EF4-FFF2-40B4-BE49-F238E27FC236}">
                <a16:creationId xmlns:a16="http://schemas.microsoft.com/office/drawing/2014/main" id="{D6438A1B-D677-4494-AB4B-F138F6CD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772025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Сохранить</a:t>
            </a:r>
          </a:p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36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47465244-936C-4010-8EFB-B98DD9AD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38675"/>
            <a:ext cx="2143125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37" name="Повторить&#10;проверку">
            <a:extLst xmlns:a="http://schemas.openxmlformats.org/drawingml/2006/main">
              <a:ext uri="{FF2B5EF4-FFF2-40B4-BE49-F238E27FC236}">
                <a16:creationId xmlns:a16="http://schemas.microsoft.com/office/drawing/2014/main" id="{D3F2667C-3FDA-42B3-BA7C-9755F7D1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72025"/>
            <a:ext cx="1838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Повторить</a:t>
            </a:r>
          </a:p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проверку</a:t>
            </a:r>
          </a:p>
        </p:txBody>
      </p:sp>
      <p:sp>
        <p:nvSpPr>
          <p:cNvPr id="38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6C3DFC4F-BA36-45ED-BB33-21CB3286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38675"/>
            <a:ext cx="257175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39" name="Свежая учебная&#10;оценка">
            <a:extLst xmlns:a="http://schemas.openxmlformats.org/drawingml/2006/main">
              <a:ext uri="{FF2B5EF4-FFF2-40B4-BE49-F238E27FC236}">
                <a16:creationId xmlns:a16="http://schemas.microsoft.com/office/drawing/2014/main" id="{EAF30DB0-585D-4344-B656-3CC9521E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772025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Свежая учебная</a:t>
            </a:r>
          </a:p>
          <a:p xmlns:a="http://schemas.openxmlformats.org/drawingml/2006/main">
            <a:pPr>
              <a:defRPr sz="16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9F3EF7-BBFB-411C-970B-0139EB88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¹ Заранее подготовленный ответ для демонстрац">
            <a:extLst xmlns:a="http://schemas.openxmlformats.org/drawingml/2006/main">
              <a:ext uri="{FF2B5EF4-FFF2-40B4-BE49-F238E27FC236}">
                <a16:creationId xmlns:a16="http://schemas.microsoft.com/office/drawing/2014/main" id="{DA8CDD44-1076-4388-B0A1-C24480F0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¹ Заранее подготовленный ответ для демонстрации. Реальный канал восстанавливают вне макета.</a:t>
            </a:r>
          </a:p>
        </p:txBody>
      </p:sp>
      <p:sp>
        <p:nvSpPr>
          <p:cNvPr id="47" name="Возврат до повторной проверки сохраняет прежн">
            <a:extLst xmlns:a="http://schemas.openxmlformats.org/drawingml/2006/main">
              <a:ext uri="{FF2B5EF4-FFF2-40B4-BE49-F238E27FC236}">
                <a16:creationId xmlns:a16="http://schemas.microsoft.com/office/drawing/2014/main" id="{49D38F60-5E57-415A-8E91-1795B9B5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A1FF"/>
                </a:solidFill>
                <a:latin typeface="Arial"/>
                <a:ea typeface="Arial"/>
                <a:cs typeface="Arial"/>
              </a:rPr>
              <a:t>Возврат до повторной проверки сохраняет прежнее ограничение. Задание остаётся в журнале.</a:t>
            </a:r>
          </a:p>
        </p:txBody>
      </p:sp>
    </p:spTree>
    <p:extLst>
      <p:ext uri="{BB962C8B-B14F-4D97-AF65-F5344CB8AC3E}">
        <p14:creationId xmlns:p14="http://schemas.microsoft.com/office/powerpoint/2010/main" val="2006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8f95b5a041545e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ЭКРАН 1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Какой насос проверить первым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8</a:t>
            </a:r>
            <a:endParaRPr sz="1100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D1445-923D-4284-93AF-C5AA87BE57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58b0dfe9a46f0"/>
          <a:stretch xmlns:a="http://schemas.openxmlformats.org/drawingml/2006/main"/>
        </p:blipFill>
        <p:spPr>
          <a:xfrm xmlns:a="http://schemas.openxmlformats.org/drawingml/2006/main">
            <a:off x="783907" y="1657350"/>
            <a:ext cx="7376160" cy="4610100"/>
          </a:xfrm>
          <a:prstGeom xmlns:a="http://schemas.openxmlformats.org/drawingml/2006/main" prst="rect">
            <a:avLst/>
          </a:prstGeom>
        </p:spPr>
      </p:pic>
      <p:sp>
        <p:nvSpPr>
          <p:cNvPr id="18" name="ПН-01 требует внимания">
            <a:extLst xmlns:a="http://schemas.openxmlformats.org/drawingml/2006/main">
              <a:ext uri="{FF2B5EF4-FFF2-40B4-BE49-F238E27FC236}">
                <a16:creationId xmlns:a16="http://schemas.microsoft.com/office/drawing/2014/main" id="{8DD289D5-AD12-420B-9F0C-F8B0CF8C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097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ПН-01 требует внимания</a:t>
            </a:r>
          </a:p>
        </p:txBody>
      </p:sp>
      <p:sp>
        <p:nvSpPr>
          <p:cNvPr id="19" name="Выросли вибрация и температура опоры.">
            <a:extLst xmlns:a="http://schemas.openxmlformats.org/drawingml/2006/main">
              <a:ext uri="{FF2B5EF4-FFF2-40B4-BE49-F238E27FC236}">
                <a16:creationId xmlns:a16="http://schemas.microsoft.com/office/drawing/2014/main" id="{3F60D1C3-EE6F-413C-97BA-3D2122FA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955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Выросли вибрация и температура опоры.</a:t>
            </a:r>
          </a:p>
        </p:txBody>
      </p:sp>
      <p:sp>
        <p:nvSpPr>
          <p:cNvPr id="20" name="Что делать сейчас">
            <a:extLst xmlns:a="http://schemas.openxmlformats.org/drawingml/2006/main">
              <a:ext uri="{FF2B5EF4-FFF2-40B4-BE49-F238E27FC236}">
                <a16:creationId xmlns:a16="http://schemas.microsoft.com/office/drawing/2014/main" id="{7F5203B3-F015-4624-8B8F-4CCC4A7A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814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Что делать сейчас</a:t>
            </a:r>
          </a:p>
        </p:txBody>
      </p:sp>
      <p:sp>
        <p:nvSpPr>
          <p:cNvPr id="21" name="Провести обход и повторить измерения. Рядом п">
            <a:extLst xmlns:a="http://schemas.openxmlformats.org/drawingml/2006/main">
              <a:ext uri="{FF2B5EF4-FFF2-40B4-BE49-F238E27FC236}">
                <a16:creationId xmlns:a16="http://schemas.microsoft.com/office/drawing/2014/main" id="{FF966DAB-194A-4319-91FD-77A1FC4D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720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Провести обход и повторить измерения. Рядом показано, почему нужна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20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e59e81ee8f4410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ЭКРАН 2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На модели видно, какой узел проверить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9</a:t>
            </a:r>
            <a:endParaRPr sz="1100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05553-26B4-4CE7-B267-74829775B4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49c86a1474fe5"/>
          <a:stretch xmlns:a="http://schemas.openxmlformats.org/drawingml/2006/main"/>
        </p:blipFill>
        <p:spPr>
          <a:xfrm xmlns:a="http://schemas.openxmlformats.org/drawingml/2006/main">
            <a:off x="1562176" y="1771650"/>
            <a:ext cx="6248249" cy="4086225"/>
          </a:xfrm>
          <a:prstGeom xmlns:a="http://schemas.openxmlformats.org/drawingml/2006/main" prst="rect">
            <a:avLst/>
          </a:prstGeom>
        </p:spPr>
      </p:pic>
      <p:sp>
        <p:nvSpPr>
          <p:cNvPr id="18" name="Опора насоса">
            <a:extLst xmlns:a="http://schemas.openxmlformats.org/drawingml/2006/main">
              <a:ext uri="{FF2B5EF4-FFF2-40B4-BE49-F238E27FC236}">
                <a16:creationId xmlns:a16="http://schemas.microsoft.com/office/drawing/2014/main" id="{83015D6F-80A1-4B97-9743-7E0B3BBC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52625"/>
            <a:ext cx="2419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Опора насоса</a:t>
            </a:r>
          </a:p>
        </p:txBody>
      </p:sp>
      <p:sp>
        <p:nvSpPr>
          <p:cNvPr id="19" name="Здесь изменились показания вибрации и темпера">
            <a:extLst xmlns:a="http://schemas.openxmlformats.org/drawingml/2006/main">
              <a:ext uri="{FF2B5EF4-FFF2-40B4-BE49-F238E27FC236}">
                <a16:creationId xmlns:a16="http://schemas.microsoft.com/office/drawing/2014/main" id="{CCB81D84-DA18-4AA8-9753-BDC59495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47975"/>
            <a:ext cx="2419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Здесь изменились показания вибрации и температуры.</a:t>
            </a:r>
          </a:p>
        </p:txBody>
      </p:sp>
      <p:sp>
        <p:nvSpPr>
          <p:cNvPr id="20" name="Нажатие открывает показания и пояснение. Внут">
            <a:extLst xmlns:a="http://schemas.openxmlformats.org/drawingml/2006/main">
              <a:ext uri="{FF2B5EF4-FFF2-40B4-BE49-F238E27FC236}">
                <a16:creationId xmlns:a16="http://schemas.microsoft.com/office/drawing/2014/main" id="{583E860C-43E4-4495-A8DE-962BBE1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162425"/>
            <a:ext cx="24193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Нажатие открывает показания и пояснение. Внутренние узлы можно раскрыть.</a:t>
            </a:r>
          </a:p>
        </p:txBody>
      </p:sp>
      <p:sp>
        <p:nvSpPr>
          <p:cNvPr id="21" name="Модель помогает найти узел. Точную конструкци">
            <a:extLst xmlns:a="http://schemas.openxmlformats.org/drawingml/2006/main">
              <a:ext uri="{FF2B5EF4-FFF2-40B4-BE49-F238E27FC236}">
                <a16:creationId xmlns:a16="http://schemas.microsoft.com/office/drawing/2014/main" id="{9FA049DE-747C-42EF-8347-FEA9AEF4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19800"/>
            <a:ext cx="1061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Модель помогает найти узел. Точную конструкцию и физическое состояние насоса она не воспроизводит.</a:t>
            </a:r>
          </a:p>
        </p:txBody>
      </p:sp>
    </p:spTree>
    <p:extLst>
      <p:ext uri="{BB962C8B-B14F-4D97-AF65-F5344CB8AC3E}">
        <p14:creationId xmlns:p14="http://schemas.microsoft.com/office/powerpoint/2010/main" val="2008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0aa3663ca33446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ЭКРАН 3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Почему проверяем смазку и охлаждение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10</a:t>
            </a:r>
            <a:endParaRPr sz="1100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F42F1-B2D5-4BCD-AE67-2074AB3525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8a4190cea47de"/>
          <a:stretch xmlns:a="http://schemas.openxmlformats.org/drawingml/2006/main"/>
        </p:blipFill>
        <p:spPr>
          <a:xfrm xmlns:a="http://schemas.openxmlformats.org/drawingml/2006/main">
            <a:off x="785581" y="1724025"/>
            <a:ext cx="7229938" cy="4248150"/>
          </a:xfrm>
          <a:prstGeom xmlns:a="http://schemas.openxmlformats.org/drawingml/2006/main" prst="rect">
            <a:avLst/>
          </a:prstGeom>
        </p:spPr>
      </p:pic>
      <p:sp>
        <p:nvSpPr>
          <p:cNvPr id="18" name="Возможная причина">
            <a:extLst xmlns:a="http://schemas.openxmlformats.org/drawingml/2006/main">
              <a:ext uri="{FF2B5EF4-FFF2-40B4-BE49-F238E27FC236}">
                <a16:creationId xmlns:a16="http://schemas.microsoft.com/office/drawing/2014/main" id="{B3F3DC11-9C8F-42B0-8D40-99D38252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66900"/>
            <a:ext cx="2895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Возможная причина</a:t>
            </a:r>
          </a:p>
        </p:txBody>
      </p:sp>
      <p:sp>
        <p:nvSpPr>
          <p:cNvPr id="19" name="Смазка или охлаждение опоры">
            <a:extLst xmlns:a="http://schemas.openxmlformats.org/drawingml/2006/main">
              <a:ext uri="{FF2B5EF4-FFF2-40B4-BE49-F238E27FC236}">
                <a16:creationId xmlns:a16="http://schemas.microsoft.com/office/drawing/2014/main" id="{18DD6789-AFD3-4CA2-B3C3-C1E32263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19400"/>
            <a:ext cx="289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Смазка или охлаждение опоры</a:t>
            </a:r>
          </a:p>
        </p:txBody>
      </p:sp>
      <p:sp>
        <p:nvSpPr>
          <p:cNvPr id="20" name="Вибрация и температура выросли вместе. Провер">
            <a:extLst xmlns:a="http://schemas.openxmlformats.org/drawingml/2006/main">
              <a:ext uri="{FF2B5EF4-FFF2-40B4-BE49-F238E27FC236}">
                <a16:creationId xmlns:a16="http://schemas.microsoft.com/office/drawing/2014/main" id="{8A6AC637-29EB-470E-B4CB-6C55BEDA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0075"/>
            <a:ext cx="28956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Вибрация и температура выросли вместе. Проверка на объекте должна подтвердить или опровергнуть эту версию.</a:t>
            </a:r>
          </a:p>
        </p:txBody>
      </p:sp>
      <p:sp>
        <p:nvSpPr>
          <p:cNvPr id="21" name="Другие возможные причины: центровка, ротор, г">
            <a:extLst xmlns:a="http://schemas.openxmlformats.org/drawingml/2006/main">
              <a:ext uri="{FF2B5EF4-FFF2-40B4-BE49-F238E27FC236}">
                <a16:creationId xmlns:a16="http://schemas.microsoft.com/office/drawing/2014/main" id="{ADAD8661-E6C7-479C-8A77-AB022066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19800"/>
            <a:ext cx="1061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Другие возможные причины: центровка, ротор, гидравлика, ошибка измерений или смена режима.</a:t>
            </a:r>
          </a:p>
        </p:txBody>
      </p:sp>
    </p:spTree>
    <p:extLst>
      <p:ext uri="{BB962C8B-B14F-4D97-AF65-F5344CB8AC3E}">
        <p14:creationId xmlns:p14="http://schemas.microsoft.com/office/powerpoint/2010/main" val="2009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c11d845fddf40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ЭКРАН 4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Что проверить на самом насосе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11</a:t>
            </a:r>
            <a:endParaRPr sz="1100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1FB07-F59E-402C-8080-9B2F4F00D9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63d4d0e5847d0"/>
          <a:stretch xmlns:a="http://schemas.openxmlformats.org/drawingml/2006/main"/>
        </p:blipFill>
        <p:spPr>
          <a:xfrm xmlns:a="http://schemas.openxmlformats.org/drawingml/2006/main">
            <a:off x="1382000" y="1762125"/>
            <a:ext cx="5560850" cy="209550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D3721-B392-4072-A774-02E94013C2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ca6f0d0d14293"/>
          <a:stretch xmlns:a="http://schemas.openxmlformats.org/drawingml/2006/main"/>
        </p:blipFill>
        <p:spPr>
          <a:xfrm xmlns:a="http://schemas.openxmlformats.org/drawingml/2006/main">
            <a:off x="1467353" y="4010025"/>
            <a:ext cx="5390144" cy="2038350"/>
          </a:xfrm>
          <a:prstGeom xmlns:a="http://schemas.openxmlformats.org/drawingml/2006/main" prst="rect">
            <a:avLst/>
          </a:prstGeom>
        </p:spPr>
      </p:pic>
      <p:sp>
        <p:nvSpPr>
          <p:cNvPr id="19" name="Четыре проверки">
            <a:extLst xmlns:a="http://schemas.openxmlformats.org/drawingml/2006/main">
              <a:ext uri="{FF2B5EF4-FFF2-40B4-BE49-F238E27FC236}">
                <a16:creationId xmlns:a16="http://schemas.microsoft.com/office/drawing/2014/main" id="{AA0442F6-8423-49C3-A88F-3E7C1877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09750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Четыре проверки</a:t>
            </a:r>
          </a:p>
        </p:txBody>
      </p:sp>
      <p:sp>
        <p:nvSpPr>
          <p:cNvPr id="20" name="Повторные измерения&#10;Сравнение режима работы&#10;С">
            <a:extLst xmlns:a="http://schemas.openxmlformats.org/drawingml/2006/main">
              <a:ext uri="{FF2B5EF4-FFF2-40B4-BE49-F238E27FC236}">
                <a16:creationId xmlns:a16="http://schemas.microsoft.com/office/drawing/2014/main" id="{AC659204-1641-4A33-AACC-295A5FA0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09825"/>
            <a:ext cx="3352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Повторные измерения</a:t>
            </a:r>
          </a:p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Сравнение режима работы</a:t>
            </a:r>
          </a:p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Смазка и охлаждение</a:t>
            </a:r>
          </a:p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Заключение диагноста</a:t>
            </a:r>
          </a:p>
        </p:txBody>
      </p:sp>
      <p:sp>
        <p:nvSpPr>
          <p:cNvPr id="21" name="Если показания расходятся или режим изменился">
            <a:extLst xmlns:a="http://schemas.openxmlformats.org/drawingml/2006/main">
              <a:ext uri="{FF2B5EF4-FFF2-40B4-BE49-F238E27FC236}">
                <a16:creationId xmlns:a16="http://schemas.microsoft.com/office/drawing/2014/main" id="{2F13581C-B995-495B-A74F-063F87F5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533900"/>
            <a:ext cx="335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Если показания расходятся или режим изменился, расчёт времени до границы останавливается.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201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6830d1dec2b44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ЭКРАН 5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Что означают 48–72 часа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12</a:t>
            </a:r>
            <a:endParaRPr sz="1100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7FAE7-02CA-41BB-AFC6-AAD49B763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0d67a820d423e"/>
          <a:stretch xmlns:a="http://schemas.openxmlformats.org/drawingml/2006/main"/>
        </p:blipFill>
        <p:spPr>
          <a:xfrm xmlns:a="http://schemas.openxmlformats.org/drawingml/2006/main">
            <a:off x="943814" y="1724025"/>
            <a:ext cx="3027272" cy="4371975"/>
          </a:xfrm>
          <a:prstGeom xmlns:a="http://schemas.openxmlformats.org/drawingml/2006/main" prst="rect">
            <a:avLst/>
          </a:prstGeom>
        </p:spPr>
      </p:pic>
      <p:sp>
        <p:nvSpPr>
          <p:cNvPr id="18" name="48–72 часа">
            <a:extLst xmlns:a="http://schemas.openxmlformats.org/drawingml/2006/main">
              <a:ext uri="{FF2B5EF4-FFF2-40B4-BE49-F238E27FC236}">
                <a16:creationId xmlns:a16="http://schemas.microsoft.com/office/drawing/2014/main" id="{B443ADF9-3FAD-47A1-A51B-90A69937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57375"/>
            <a:ext cx="672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48–72 часа</a:t>
            </a:r>
          </a:p>
        </p:txBody>
      </p:sp>
      <p:sp>
        <p:nvSpPr>
          <p:cNvPr id="19" name="До учебного уровня 5,5 мм/с,&#10;если рост вибрац">
            <a:extLst xmlns:a="http://schemas.openxmlformats.org/drawingml/2006/main">
              <a:ext uri="{FF2B5EF4-FFF2-40B4-BE49-F238E27FC236}">
                <a16:creationId xmlns:a16="http://schemas.microsoft.com/office/drawing/2014/main" id="{0A067DCD-08C4-4962-B0C8-2C45088F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52725"/>
            <a:ext cx="670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До учебного уровня 5,5 мм/с,</a:t>
            </a:r>
          </a:p>
          <a:p xmlns:a="http://schemas.openxmlformats.org/drawingml/2006/main">
            <a: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если рост вибрации продолжится</a:t>
            </a:r>
          </a:p>
        </p:txBody>
      </p:sp>
      <p:sp>
        <p:nvSpPr>
          <p:cNvPr id="20" name="Расчёт по 25 вымышленным измерениям. Сравнили">
            <a:extLst xmlns:a="http://schemas.openxmlformats.org/drawingml/2006/main">
              <a:ext uri="{FF2B5EF4-FFF2-40B4-BE49-F238E27FC236}">
                <a16:creationId xmlns:a16="http://schemas.microsoft.com/office/drawing/2014/main" id="{53AFD50F-5C6F-466E-A269-CD0557E6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10025"/>
            <a:ext cx="6705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Расчёт по 25 вымышленным измерениям. Сравнили скорость роста за сутки и за шесть суток.</a:t>
            </a:r>
          </a:p>
        </p:txBody>
      </p:sp>
      <p:sp>
        <p:nvSpPr>
          <p:cNvPr id="21" name="Точный момент поломки из этого числа узнать н">
            <a:extLst xmlns:a="http://schemas.openxmlformats.org/drawingml/2006/main">
              <a:ext uri="{FF2B5EF4-FFF2-40B4-BE49-F238E27FC236}">
                <a16:creationId xmlns:a16="http://schemas.microsoft.com/office/drawing/2014/main" id="{01F2AF8D-FFAD-4346-BFB3-58A1A44A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91125"/>
            <a:ext cx="6705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Точный момент поломки из этого числа узнать нельзя. Первую проверку предлагаем в текущую смену.</a:t>
            </a:r>
          </a:p>
        </p:txBody>
      </p:sp>
    </p:spTree>
    <p:extLst>
      <p:ext uri="{BB962C8B-B14F-4D97-AF65-F5344CB8AC3E}">
        <p14:creationId xmlns:p14="http://schemas.microsoft.com/office/powerpoint/2010/main" val="2011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5e402f521a24b3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ЭКРАН 6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Сколько стоят два варианта действий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13</a:t>
            </a:r>
            <a:endParaRPr sz="1100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A2ECA-D329-4FB8-AC7F-C8B9D99D6B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54d250d064869"/>
          <a:stretch xmlns:a="http://schemas.openxmlformats.org/drawingml/2006/main"/>
        </p:blipFill>
        <p:spPr>
          <a:xfrm xmlns:a="http://schemas.openxmlformats.org/drawingml/2006/main">
            <a:off x="781367" y="1790700"/>
            <a:ext cx="10610215" cy="3248025"/>
          </a:xfrm>
          <a:prstGeom xmlns:a="http://schemas.openxmlformats.org/drawingml/2006/main" prst="rect">
            <a:avLst/>
          </a:prstGeom>
        </p:spPr>
      </p:pic>
      <p:sp>
        <p:nvSpPr>
          <p:cNvPr id="18" name="Все суммы можно изменить">
            <a:extLst xmlns:a="http://schemas.openxmlformats.org/drawingml/2006/main">
              <a:ext uri="{FF2B5EF4-FFF2-40B4-BE49-F238E27FC236}">
                <a16:creationId xmlns:a16="http://schemas.microsoft.com/office/drawing/2014/main" id="{7BA449FD-02E7-47B0-8650-13DE10F1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Все суммы можно изменить</a:t>
            </a:r>
          </a:p>
        </p:txBody>
      </p:sp>
      <p:sp>
        <p:nvSpPr>
          <p:cNvPr id="19" name="Учесть резервный насос, потери и стоимость ра">
            <a:extLst xmlns:a="http://schemas.openxmlformats.org/drawingml/2006/main">
              <a:ext uri="{FF2B5EF4-FFF2-40B4-BE49-F238E27FC236}">
                <a16:creationId xmlns:a16="http://schemas.microsoft.com/office/drawing/2014/main" id="{DEB8DC86-0807-41E9-96D3-3B357842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Учесть резервный насос, потери и стоимость работ.</a:t>
            </a:r>
          </a:p>
        </p:txBody>
      </p:sp>
      <p:sp>
        <p:nvSpPr>
          <p:cNvPr id="20" name="Разница в примере: 1,27 млн ₽">
            <a:extLst xmlns:a="http://schemas.openxmlformats.org/drawingml/2006/main">
              <a:ext uri="{FF2B5EF4-FFF2-40B4-BE49-F238E27FC236}">
                <a16:creationId xmlns:a16="http://schemas.microsoft.com/office/drawing/2014/main" id="{9318F190-4CE5-444C-8E59-27AF353E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721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Разница в примере: 1,27 млн ₽</a:t>
            </a:r>
          </a:p>
        </p:txBody>
      </p:sp>
      <p:sp>
        <p:nvSpPr>
          <p:cNvPr id="21" name="Если удалось предотвратить выбранное событие.">
            <a:extLst xmlns:a="http://schemas.openxmlformats.org/drawingml/2006/main">
              <a:ext uri="{FF2B5EF4-FFF2-40B4-BE49-F238E27FC236}">
                <a16:creationId xmlns:a16="http://schemas.microsoft.com/office/drawing/2014/main" id="{C7DD4C06-D3D2-47F4-9B17-C7F546A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0007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Если удалось предотвратить выбранное событие.</a:t>
            </a:r>
          </a:p>
        </p:txBody>
      </p:sp>
    </p:spTree>
    <p:extLst>
      <p:ext uri="{BB962C8B-B14F-4D97-AF65-F5344CB8AC3E}">
        <p14:creationId xmlns:p14="http://schemas.microsoft.com/office/powerpoint/2010/main" val="2012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ff9ed06fe3746c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ЭКРАН 7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Инженер выбирает работу и ответственного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14</a:t>
            </a:r>
            <a:endParaRPr sz="1100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04FB6-A2DE-425B-AA17-5EBEC97E13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92a2998ae4b6a"/>
          <a:stretch xmlns:a="http://schemas.openxmlformats.org/drawingml/2006/main"/>
        </p:blipFill>
        <p:spPr>
          <a:xfrm xmlns:a="http://schemas.openxmlformats.org/drawingml/2006/main">
            <a:off x="786432" y="1724025"/>
            <a:ext cx="5323236" cy="4505325"/>
          </a:xfrm>
          <a:prstGeom xmlns:a="http://schemas.openxmlformats.org/drawingml/2006/main" prst="rect">
            <a:avLst/>
          </a:prstGeom>
        </p:spPr>
      </p:pic>
      <p:sp>
        <p:nvSpPr>
          <p:cNvPr id="18" name="Действие выбирает инженер">
            <a:extLst xmlns:a="http://schemas.openxmlformats.org/drawingml/2006/main">
              <a:ext uri="{FF2B5EF4-FFF2-40B4-BE49-F238E27FC236}">
                <a16:creationId xmlns:a16="http://schemas.microsoft.com/office/drawing/2014/main" id="{ACDF98B7-D7DE-412D-85C9-49411850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Действие выбирает инженер</a:t>
            </a:r>
          </a:p>
        </p:txBody>
      </p:sp>
      <p:sp>
        <p:nvSpPr>
          <p:cNvPr id="19" name="Провести диагностику, согласовать обслуживани">
            <a:extLst xmlns:a="http://schemas.openxmlformats.org/drawingml/2006/main">
              <a:ext uri="{FF2B5EF4-FFF2-40B4-BE49-F238E27FC236}">
                <a16:creationId xmlns:a16="http://schemas.microsoft.com/office/drawing/2014/main" id="{AE9F0196-1D9E-4E12-B14A-BAB43304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Провести диагностику, согласовать обслуживание или повторить оценку.</a:t>
            </a:r>
          </a:p>
        </p:txBody>
      </p:sp>
      <p:sp>
        <p:nvSpPr>
          <p:cNvPr id="20" name="Нужно указать причину, ответственного и срок.">
            <a:extLst xmlns:a="http://schemas.openxmlformats.org/drawingml/2006/main">
              <a:ext uri="{FF2B5EF4-FFF2-40B4-BE49-F238E27FC236}">
                <a16:creationId xmlns:a16="http://schemas.microsoft.com/office/drawing/2014/main" id="{1882AE13-AEE1-4279-8988-3EADD67F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4667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Нужно указать причину, ответственного и срок. Можно вернуться к показаниям: черновик сохранится в открытой вкладке.</a:t>
            </a:r>
          </a:p>
        </p:txBody>
      </p:sp>
      <p:sp>
        <p:nvSpPr>
          <p:cNvPr id="21" name="Реальная заявка в ТОиР не отправляется.">
            <a:extLst xmlns:a="http://schemas.openxmlformats.org/drawingml/2006/main">
              <a:ext uri="{FF2B5EF4-FFF2-40B4-BE49-F238E27FC236}">
                <a16:creationId xmlns:a16="http://schemas.microsoft.com/office/drawing/2014/main" id="{F55D5F0F-B827-4B7D-8D95-AF61B62C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9340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Реальная заявка в ТОиР не отправляется.</a:t>
            </a:r>
          </a:p>
        </p:txBody>
      </p:sp>
    </p:spTree>
    <p:extLst>
      <p:ext uri="{BB962C8B-B14F-4D97-AF65-F5344CB8AC3E}">
        <p14:creationId xmlns:p14="http://schemas.microsoft.com/office/powerpoint/2010/main" val="2013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d65fa761275497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ЭКРАН 8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Задание сохраняет показания и результаты проверок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15</a:t>
            </a:r>
            <a:endParaRPr sz="1100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335A6-4318-4F2B-81B5-CBEE08AD59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b61487d1445de"/>
          <a:stretch xmlns:a="http://schemas.openxmlformats.org/drawingml/2006/main"/>
        </p:blipFill>
        <p:spPr>
          <a:xfrm xmlns:a="http://schemas.openxmlformats.org/drawingml/2006/main">
            <a:off x="1837422" y="1657350"/>
            <a:ext cx="8498106" cy="4362450"/>
          </a:xfrm>
          <a:prstGeom xmlns:a="http://schemas.openxmlformats.org/drawingml/2006/main" prst="rect">
            <a:avLst/>
          </a:prstGeom>
        </p:spPr>
      </p:pic>
      <p:sp>
        <p:nvSpPr>
          <p:cNvPr id="18" name="Файл содержит показания, проверки и комментар">
            <a:extLst xmlns:a="http://schemas.openxmlformats.org/drawingml/2006/main">
              <a:ext uri="{FF2B5EF4-FFF2-40B4-BE49-F238E27FC236}">
                <a16:creationId xmlns:a16="http://schemas.microsoft.com/office/drawing/2014/main" id="{85890A73-6133-4975-8D68-BE967DB6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19800"/>
            <a:ext cx="1061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Файл содержит показания, проверки и комментарий. Результат работы инженер записывает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2014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569d2100c540d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ЭКРАНЫ 9 И 10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ПН-03: как выглядят ошибка и повтор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16</a:t>
            </a:r>
            <a:endParaRPr sz="1100"/>
          </a:p>
        </p:txBody>
      </p:sp>
      <p:sp>
        <p:nvSpPr>
          <p:cNvPr id="17" name="1. Причина неизвестна">
            <a:extLst xmlns:a="http://schemas.openxmlformats.org/drawingml/2006/main">
              <a:ext uri="{FF2B5EF4-FFF2-40B4-BE49-F238E27FC236}">
                <a16:creationId xmlns:a16="http://schemas.microsoft.com/office/drawing/2014/main" id="{E30B9695-05F8-4919-94ED-B823F9EA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1. Причина неизвестна</a:t>
            </a:r>
          </a:p>
        </p:txBody>
      </p:sp>
      <p:sp>
        <p:nvSpPr>
          <p:cNvPr id="18" name="2. Новые показания подтверждены">
            <a:extLst xmlns:a="http://schemas.openxmlformats.org/drawingml/2006/main">
              <a:ext uri="{FF2B5EF4-FFF2-40B4-BE49-F238E27FC236}">
                <a16:creationId xmlns:a16="http://schemas.microsoft.com/office/drawing/2014/main" id="{C39750AB-C8CF-4276-BB16-E642068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33550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2. Новые показания подтверждены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81D42-BEC5-461E-AF31-E72663691F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061458b514971"/>
          <a:stretch xmlns:a="http://schemas.openxmlformats.org/drawingml/2006/main"/>
        </p:blipFill>
        <p:spPr>
          <a:xfrm xmlns:a="http://schemas.openxmlformats.org/drawingml/2006/main">
            <a:off x="781050" y="2369987"/>
            <a:ext cx="5086350" cy="2784777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94D26-4D18-4552-A2FA-0E287A6A7A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de5d177314d83"/>
          <a:stretch xmlns:a="http://schemas.openxmlformats.org/drawingml/2006/main"/>
        </p:blipFill>
        <p:spPr>
          <a:xfrm xmlns:a="http://schemas.openxmlformats.org/drawingml/2006/main">
            <a:off x="6305550" y="2900874"/>
            <a:ext cx="5086350" cy="1723001"/>
          </a:xfrm>
          <a:prstGeom xmlns:a="http://schemas.openxmlformats.org/drawingml/2006/main" prst="rect">
            <a:avLst/>
          </a:prstGeom>
        </p:spPr>
      </p:pic>
      <p:sp>
        <p:nvSpPr>
          <p:cNvPr id="21" name="Данных не хватает. Можно подготовить задание ">
            <a:extLst xmlns:a="http://schemas.openxmlformats.org/drawingml/2006/main">
              <a:ext uri="{FF2B5EF4-FFF2-40B4-BE49-F238E27FC236}">
                <a16:creationId xmlns:a16="http://schemas.microsoft.com/office/drawing/2014/main" id="{E87CFEAD-B887-4086-8447-7F1EB310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50863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Данных не хватает. Можно подготовить задание на проверку их передачи.</a:t>
            </a:r>
          </a:p>
        </p:txBody>
      </p:sp>
      <p:sp>
        <p:nvSpPr>
          <p:cNvPr id="22" name="После сохранения нужно отдельно повторить оце">
            <a:extLst xmlns:a="http://schemas.openxmlformats.org/drawingml/2006/main">
              <a:ext uri="{FF2B5EF4-FFF2-40B4-BE49-F238E27FC236}">
                <a16:creationId xmlns:a16="http://schemas.microsoft.com/office/drawing/2014/main" id="{1C4DFE7B-4279-43AC-9BB3-525C13D2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76875"/>
            <a:ext cx="50863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После сохранения нужно отдельно повторить оценку в макете.</a:t>
            </a:r>
          </a:p>
        </p:txBody>
      </p:sp>
    </p:spTree>
    <p:extLst>
      <p:ext uri="{BB962C8B-B14F-4D97-AF65-F5344CB8AC3E}">
        <p14:creationId xmlns:p14="http://schemas.microsoft.com/office/powerpoint/2010/main" val="2015"/>
      </p:ext>
    </p:extLst>
  </p:cSld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90805bb89a34c5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ЭКРАН 11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Где насос находится на схеме предприятия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17</a:t>
            </a:r>
            <a:endParaRPr sz="1100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9A4E2-D6EC-43FB-89AC-1107C2085A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b36d8c0cf4d44"/>
          <a:stretch xmlns:a="http://schemas.openxmlformats.org/drawingml/2006/main"/>
        </p:blipFill>
        <p:spPr>
          <a:xfrm xmlns:a="http://schemas.openxmlformats.org/drawingml/2006/main">
            <a:off x="1194435" y="16954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18" name="Насос ПЭН-1А">
            <a:extLst xmlns:a="http://schemas.openxmlformats.org/drawingml/2006/main">
              <a:ext uri="{FF2B5EF4-FFF2-40B4-BE49-F238E27FC236}">
                <a16:creationId xmlns:a16="http://schemas.microsoft.com/office/drawing/2014/main" id="{069DA4AC-41DC-4210-A698-6746F550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866900"/>
            <a:ext cx="2790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Насос ПЭН-1А</a:t>
            </a:r>
          </a:p>
        </p:txBody>
      </p:sp>
      <p:sp>
        <p:nvSpPr>
          <p:cNvPr id="19" name="На схеме видно обозначение насоса и его парам">
            <a:extLst xmlns:a="http://schemas.openxmlformats.org/drawingml/2006/main">
              <a:ext uri="{FF2B5EF4-FFF2-40B4-BE49-F238E27FC236}">
                <a16:creationId xmlns:a16="http://schemas.microsoft.com/office/drawing/2014/main" id="{A4A5A02E-8651-4DFD-A3C8-41C67AD3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71750"/>
            <a:ext cx="279082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На схеме видно обозначение насоса и его параметры. Отсюда можно перейти к узлу на модели.</a:t>
            </a:r>
          </a:p>
        </p:txBody>
      </p:sp>
      <p:sp>
        <p:nvSpPr>
          <p:cNvPr id="20" name="Схемы предоставила участница команды. Названи">
            <a:extLst xmlns:a="http://schemas.openxmlformats.org/drawingml/2006/main">
              <a:ext uri="{FF2B5EF4-FFF2-40B4-BE49-F238E27FC236}">
                <a16:creationId xmlns:a16="http://schemas.microsoft.com/office/drawing/2014/main" id="{F113FF12-DC9B-447B-B3D2-F1BC69A3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86275"/>
            <a:ext cx="279082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Схемы предоставила участница команды. Название предприятия и служебные поля обрезаны.</a:t>
            </a:r>
          </a:p>
        </p:txBody>
      </p:sp>
      <p:sp>
        <p:nvSpPr>
          <p:cNvPr id="21" name="Исторический снимок 01.03.2022.">
            <a:extLst xmlns:a="http://schemas.openxmlformats.org/drawingml/2006/main">
              <a:ext uri="{FF2B5EF4-FFF2-40B4-BE49-F238E27FC236}">
                <a16:creationId xmlns:a16="http://schemas.microsoft.com/office/drawing/2014/main" id="{373C3393-8D7E-4626-9D04-38E8EFE8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848350"/>
            <a:ext cx="2790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Исторический снимок 01.03.2022.</a:t>
            </a:r>
          </a:p>
        </p:txBody>
      </p:sp>
    </p:spTree>
    <p:extLst>
      <p:ext uri="{BB962C8B-B14F-4D97-AF65-F5344CB8AC3E}">
        <p14:creationId xmlns:p14="http://schemas.microsoft.com/office/powerpoint/2010/main" val="2016"/>
      </p:ext>
    </p:extLst>
  </p:cSld>
</p:sld>
</file>

<file path=ppt/slides/slide1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9d289aff6804cf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ПРОВЕРКА С ЭКСПЕРТОМ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Что попросим сделать эксперта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18</a:t>
            </a:r>
            <a:endParaRPr sz="1100"/>
          </a:p>
        </p:txBody>
      </p:sp>
      <p:sp>
        <p:nvSpPr>
          <p:cNvPr id="17" name="Дадим задачу и посмотрим, как человек её реша">
            <a:extLst xmlns:a="http://schemas.openxmlformats.org/drawingml/2006/main">
              <a:ext uri="{FF2B5EF4-FFF2-40B4-BE49-F238E27FC236}">
                <a16:creationId xmlns:a16="http://schemas.microsoft.com/office/drawing/2014/main" id="{BC14EEE2-9BDE-47A8-AA11-E4668CDB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61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Дадим задачу и посмотрим, как человек её решает</a:t>
            </a:r>
          </a:p>
        </p:txBody>
      </p:sp>
      <p:sp>
        <p:nvSpPr>
          <p:cNvPr id="18" name="«Найдите насос, который нужно проверить. Объя">
            <a:extLst xmlns:a="http://schemas.openxmlformats.org/drawingml/2006/main">
              <a:ext uri="{FF2B5EF4-FFF2-40B4-BE49-F238E27FC236}">
                <a16:creationId xmlns:a16="http://schemas.microsoft.com/office/drawing/2014/main" id="{67E479A0-8694-4514-B256-42127FF3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106108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«Найдите насос, который нужно проверить. Объясните почему и подготовьте задание. Затем разберитесь с ПН-03».</a:t>
            </a:r>
          </a:p>
        </p:txBody>
      </p:sp>
      <p:sp>
        <p:nvSpPr>
          <p:cNvPr id="19" name="Что наблюдаем">
            <a:extLst xmlns:a="http://schemas.openxmlformats.org/drawingml/2006/main">
              <a:ext uri="{FF2B5EF4-FFF2-40B4-BE49-F238E27FC236}">
                <a16:creationId xmlns:a16="http://schemas.microsoft.com/office/drawing/2014/main" id="{019290AE-4309-4A56-B3EE-C674CAAB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Что наблюдаем</a:t>
            </a:r>
          </a:p>
        </p:txBody>
      </p:sp>
      <p:sp>
        <p:nvSpPr>
          <p:cNvPr id="20" name="Понятно ли, почему появилось предупреждение?&#10;">
            <a:extLst xmlns:a="http://schemas.openxmlformats.org/drawingml/2006/main">
              <a:ext uri="{FF2B5EF4-FFF2-40B4-BE49-F238E27FC236}">
                <a16:creationId xmlns:a16="http://schemas.microsoft.com/office/drawing/2014/main" id="{E030030D-B4B3-482A-B285-9DEF9431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248150"/>
            <a:ext cx="74390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Понятно ли, почему появилось предупреждение?</a:t>
            </a:r>
          </a:p>
          <a:p xmlns:a="http://schemas.openxmlformats.org/drawingml/2006/main">
            <a: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Где человек ошибается и просит помощь?</a:t>
            </a:r>
          </a:p>
          <a:p xmlns:a="http://schemas.openxmlformats.org/drawingml/2006/main">
            <a:pPr>
              <a:defRPr sz="20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Удаётся ли создать задание и повторить проверку?</a:t>
            </a:r>
          </a:p>
        </p:txBody>
      </p:sp>
      <p:sp>
        <p:nvSpPr>
          <p:cNvPr id="21" name="Новый прототип инженер станции ещё не проходи">
            <a:extLst xmlns:a="http://schemas.openxmlformats.org/drawingml/2006/main">
              <a:ext uri="{FF2B5EF4-FFF2-40B4-BE49-F238E27FC236}">
                <a16:creationId xmlns:a16="http://schemas.microsoft.com/office/drawing/2014/main" id="{34AE96B3-DEF7-422E-8D74-C1064B13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19800"/>
            <a:ext cx="1061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Новый прототип инженер станции ещё не проходил. Результаты этой проверки пока не получены.</a:t>
            </a:r>
          </a:p>
        </p:txBody>
      </p:sp>
    </p:spTree>
    <p:extLst>
      <p:ext uri="{BB962C8B-B14F-4D97-AF65-F5344CB8AC3E}">
        <p14:creationId xmlns:p14="http://schemas.microsoft.com/office/powerpoint/2010/main" val="2017"/>
      </p:ext>
    </p:extLst>
  </p:cSld>
</p:sld>
</file>

<file path=ppt/slides/slide1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44260740f30414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КАСТДЕВ И ВОПРОСЫ ЭКСПЕРТАМ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Какие случаи разберём с заказчиком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19</a:t>
            </a:r>
            <a:endParaRPr sz="1100"/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6ED3D-D39E-429C-943E-F2B8542AB69E}"/>
              </a:ext>
            </a:extLst>
          </p:cNvPr>
          <p:cNvGraphicFramePr/>
          <p:nvPr/>
        </p:nvGraphicFramePr>
        <p:xfrm>
          <a:off xmlns:a="http://schemas.openxmlformats.org/drawingml/2006/main" x="777240" y="1762125"/>
          <a:ext xmlns:a="http://schemas.openxmlformats.org/drawingml/2006/main" cx="1060704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191000"/>
                <a:gridCol w="4130040"/>
              </a:tblGrid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Собеседник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О чём спросим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Что нужно понять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Инженер / диагност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Как разобрались с последним предупреждением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Чего не хватало, сколько времени ушло, чем пользовались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Ремонтник / оператор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Что знали до отказа и как реагировали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Могли ли предотвратить остановку и когда нужно было действовать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Как покупали или отклоняли похожее решение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Кто решает, какой есть бюджет и за что готовы платить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18" name="Вопрос экспертам">
            <a:extLst xmlns:a="http://schemas.openxmlformats.org/drawingml/2006/main">
              <a:ext uri="{FF2B5EF4-FFF2-40B4-BE49-F238E27FC236}">
                <a16:creationId xmlns:a16="http://schemas.microsoft.com/office/drawing/2014/main" id="{5BF3013A-D6A4-4422-873C-A39BB1DB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2600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Вопрос экспертам</a:t>
            </a:r>
          </a:p>
        </p:txBody>
      </p:sp>
      <p:sp>
        <p:nvSpPr>
          <p:cNvPr id="19" name="Чего в этом сценарии не хватает для реальной ">
            <a:extLst xmlns:a="http://schemas.openxmlformats.org/drawingml/2006/main">
              <a:ext uri="{FF2B5EF4-FFF2-40B4-BE49-F238E27FC236}">
                <a16:creationId xmlns:a16="http://schemas.microsoft.com/office/drawing/2014/main" id="{BA42D18C-1148-41DE-B9FA-218B36E1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505450"/>
            <a:ext cx="7696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Чего в этом сценарии не хватает для реальной работы?</a:t>
            </a:r>
          </a:p>
        </p:txBody>
      </p:sp>
    </p:spTree>
    <p:extLst>
      <p:ext uri="{BB962C8B-B14F-4D97-AF65-F5344CB8AC3E}">
        <p14:creationId xmlns:p14="http://schemas.microsoft.com/office/powerpoint/2010/main" val="2018"/>
      </p:ext>
    </p:extLst>
  </p:cSld>
</p:sld>
</file>

<file path=ppt/slides/slide2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6a2d4f1c83d45d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ТРЕБОВАНИЯ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Что должен уметь прототип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20</a:t>
            </a:r>
            <a:endParaRPr sz="1100"/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83EE7-4BB0-4678-81D7-3FA8F54D0F07}"/>
              </a:ext>
            </a:extLst>
          </p:cNvPr>
          <p:cNvGraphicFramePr/>
          <p:nvPr/>
        </p:nvGraphicFramePr>
        <p:xfrm>
          <a:off xmlns:a="http://schemas.openxmlformats.org/drawingml/2006/main" x="777240" y="1733550"/>
          <a:ext xmlns:a="http://schemas.openxmlformats.org/drawingml/2006/main" cx="10607040" cy="4314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429125"/>
                <a:gridCol w="4653915"/>
              </a:tblGrid>
              <a:tr h="476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Что нужно человеку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Как проверяем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PF1–3, 10–12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Найти насос и понять предупреждение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ПН-01: видны изменившиеся значения и нужный узел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PF4–6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Подготовить задание и записать результат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Исправить поле, скачать задание и записать исход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PF7–9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Разобраться с отсутствующими данными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ПН-03: подтвердить показания и повторить проверку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PF13–15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причину, срок и затраты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Новые результаты меняют вывод или останавливают расчёт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PN1–7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Открыть без сети, с клавиатуры, на телефоне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Один HTML. Черновики живут до перезагрузки вкладки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18" name="PF: действия и ответы продукта. PN: условия р">
            <a:extLst xmlns:a="http://schemas.openxmlformats.org/drawingml/2006/main">
              <a:ext uri="{FF2B5EF4-FFF2-40B4-BE49-F238E27FC236}">
                <a16:creationId xmlns:a16="http://schemas.microsoft.com/office/drawing/2014/main" id="{FF0CF0B6-8044-4960-8E08-46A6B6B9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96000"/>
            <a:ext cx="1061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PF: действия и ответы продукта. PN: условия работы. Производственные требования ещё предстоит согласовать.</a:t>
            </a:r>
          </a:p>
        </p:txBody>
      </p:sp>
    </p:spTree>
    <p:extLst>
      <p:ext uri="{BB962C8B-B14F-4D97-AF65-F5344CB8AC3E}">
        <p14:creationId xmlns:p14="http://schemas.microsoft.com/office/powerpoint/2010/main" val="2019"/>
      </p:ext>
    </p:extLst>
  </p:cSld>
</p:sld>
</file>

<file path=ppt/slides/slide2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d8f88efe00a4ce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РАБОТА С ИИ И ГРАНИЦЫ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Где использовали ИИ и что ещё проверим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21</a:t>
            </a:r>
            <a:endParaRPr sz="1100"/>
          </a:p>
        </p:txBody>
      </p:sp>
      <p:sp>
        <p:nvSpPr>
          <p:cNvPr id="17" name="С помощью ИИ подготовили">
            <a:extLst xmlns:a="http://schemas.openxmlformats.org/drawingml/2006/main">
              <a:ext uri="{FF2B5EF4-FFF2-40B4-BE49-F238E27FC236}">
                <a16:creationId xmlns:a16="http://schemas.microsoft.com/office/drawing/2014/main" id="{DDCD8D4D-827F-4322-9CA3-213834EE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504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С помощью ИИ подготовили</a:t>
            </a:r>
          </a:p>
        </p:txBody>
      </p:sp>
      <p:sp>
        <p:nvSpPr>
          <p:cNvPr id="18" name="Сценарии и требования&#10;Код макета и 3D-модель&#10;">
            <a:extLst xmlns:a="http://schemas.openxmlformats.org/drawingml/2006/main">
              <a:ext uri="{FF2B5EF4-FFF2-40B4-BE49-F238E27FC236}">
                <a16:creationId xmlns:a16="http://schemas.microsoft.com/office/drawing/2014/main" id="{4D4AE2AD-2A58-4519-AF87-B27BD522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504825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Сценарии и требования</a:t>
            </a:r>
          </a:p>
          <a:p xmlns:a="http://schemas.openxmlformats.org/drawingml/2006/main">
            <a: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Код макета и 3D-модель</a:t>
            </a:r>
          </a:p>
          <a:p xmlns:a="http://schemas.openxmlformats.org/drawingml/2006/main">
            <a: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Ролевые интервью для подготовки вопросов</a:t>
            </a:r>
          </a:p>
          <a:p xmlns:a="http://schemas.openxmlformats.org/drawingml/2006/main">
            <a: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Слайды и логотип</a:t>
            </a:r>
          </a:p>
        </p:txBody>
      </p:sp>
      <p:sp>
        <p:nvSpPr>
          <p:cNvPr id="19" name="Что проверили технически">
            <a:extLst xmlns:a="http://schemas.openxmlformats.org/drawingml/2006/main">
              <a:ext uri="{FF2B5EF4-FFF2-40B4-BE49-F238E27FC236}">
                <a16:creationId xmlns:a16="http://schemas.microsoft.com/office/drawing/2014/main" id="{F2555CC3-FB5B-4179-89CE-12DBB1CD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19275"/>
            <a:ext cx="504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Что проверили технически</a:t>
            </a:r>
          </a:p>
        </p:txBody>
      </p:sp>
      <p:sp>
        <p:nvSpPr>
          <p:cNvPr id="20" name="Переходы и ошибки в интерфейсе&#10;Расчёты на уче">
            <a:extLst xmlns:a="http://schemas.openxmlformats.org/drawingml/2006/main">
              <a:ext uri="{FF2B5EF4-FFF2-40B4-BE49-F238E27FC236}">
                <a16:creationId xmlns:a16="http://schemas.microsoft.com/office/drawing/2014/main" id="{E373DE3B-2E81-4C84-9C0E-3BF70715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5048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Переходы и ошибки в интерфейсе</a:t>
            </a:r>
          </a:p>
          <a:p xmlns:a="http://schemas.openxmlformats.org/drawingml/2006/main">
            <a: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Расчёты на учебных данных</a:t>
            </a:r>
          </a:p>
          <a:p xmlns:a="http://schemas.openxmlformats.org/drawingml/2006/main">
            <a: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Соответствие экранов требованиям</a:t>
            </a:r>
          </a:p>
        </p:txBody>
      </p:sp>
      <p:sp>
        <p:nvSpPr>
          <p:cNvPr id="21" name="Дальше: пройти сценарий с инженером, согласов">
            <a:extLst xmlns:a="http://schemas.openxmlformats.org/drawingml/2006/main">
              <a:ext uri="{FF2B5EF4-FFF2-40B4-BE49-F238E27FC236}">
                <a16:creationId xmlns:a16="http://schemas.microsoft.com/office/drawing/2014/main" id="{0DD82C63-26A0-4E81-BCF0-046AB0E8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5048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Дальше: пройти сценарий с инженером, согласовать с командой, провести репетицию и собрать замечания экспертов.</a:t>
            </a:r>
          </a:p>
        </p:txBody>
      </p:sp>
      <p:sp>
        <p:nvSpPr>
          <p:cNvPr id="22" name="После встречи каждый участник отдельно пишет ">
            <a:extLst xmlns:a="http://schemas.openxmlformats.org/drawingml/2006/main">
              <a:ext uri="{FF2B5EF4-FFF2-40B4-BE49-F238E27FC236}">
                <a16:creationId xmlns:a16="http://schemas.microsoft.com/office/drawing/2014/main" id="{94C755EA-1719-477D-884C-B85000BB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19800"/>
            <a:ext cx="1061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После встречи каждый участник отдельно пишет обязательную рефлексию до командного обсуждения.</a:t>
            </a:r>
          </a:p>
        </p:txBody>
      </p:sp>
    </p:spTree>
    <p:extLst>
      <p:ext uri="{BB962C8B-B14F-4D97-AF65-F5344CB8AC3E}">
        <p14:creationId xmlns:p14="http://schemas.microsoft.com/office/powerpoint/2010/main" val="2020"/>
      </p:ext>
    </p:extLst>
  </p:cSld>
</p:sld>
</file>

<file path=ppt/slides/slide2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1bed0e6d70c410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43E2A-BE18-4EBD-92FA-CB9716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МАТЕРИАЛЫ КТ-3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9631C8-535B-4F31-8094-28ED562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Прототип и материалы проекта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05A3A9-9D67-4861-AAD4-7AD9134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22</a:t>
            </a:r>
            <a:endParaRPr sz="1100"/>
          </a:p>
        </p:txBody>
      </p:sp>
      <p:sp>
        <p:nvSpPr>
          <p:cNvPr id="17" name="01  Открыть прототип">
            <a:extLst xmlns:a="http://schemas.openxmlformats.org/drawingml/2006/main">
              <a:ext uri="{FF2B5EF4-FFF2-40B4-BE49-F238E27FC236}">
                <a16:creationId xmlns:a16="http://schemas.microsoft.com/office/drawing/2014/main" id="{6375C84D-32CF-41BE-9771-9AB81E1D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586bdadcb7d04697"/>
              </a:rPr>
              <a:t>01  Открыть прототип</a:t>
            </a:r>
          </a:p>
        </p:txBody>
      </p:sp>
      <p:sp>
        <p:nvSpPr>
          <p:cNvPr id="18" name="Работающая версия в браузере">
            <a:extLst xmlns:a="http://schemas.openxmlformats.org/drawingml/2006/main">
              <a:ext uri="{FF2B5EF4-FFF2-40B4-BE49-F238E27FC236}">
                <a16:creationId xmlns:a16="http://schemas.microsoft.com/office/drawing/2014/main" id="{E0534C33-816D-4800-BD5F-D85E41F7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192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Работающая версия в браузере</a:t>
            </a:r>
          </a:p>
        </p:txBody>
      </p:sp>
      <p:sp>
        <p:nvSpPr>
          <p:cNvPr id="19" name="02  Наглядная карта сценария">
            <a:extLst xmlns:a="http://schemas.openxmlformats.org/drawingml/2006/main">
              <a:ext uri="{FF2B5EF4-FFF2-40B4-BE49-F238E27FC236}">
                <a16:creationId xmlns:a16="http://schemas.microsoft.com/office/drawing/2014/main" id="{D1B3E76E-1DD4-4FEF-9F6B-4AF09409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6bc8f2c929384e04"/>
              </a:rPr>
              <a:t>02  Наглядная карта сценария</a:t>
            </a:r>
          </a:p>
        </p:txBody>
      </p:sp>
      <p:sp>
        <p:nvSpPr>
          <p:cNvPr id="20" name="Схемы переходов, развилки и экраны">
            <a:extLst xmlns:a="http://schemas.openxmlformats.org/drawingml/2006/main">
              <a:ext uri="{FF2B5EF4-FFF2-40B4-BE49-F238E27FC236}">
                <a16:creationId xmlns:a16="http://schemas.microsoft.com/office/drawing/2014/main" id="{35D96100-BD08-4857-9055-A8BF53E3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Схемы переходов, развилки и экраны</a:t>
            </a:r>
          </a:p>
        </p:txBody>
      </p:sp>
      <p:sp>
        <p:nvSpPr>
          <p:cNvPr id="21" name="03  Задачи и сценарии">
            <a:extLst xmlns:a="http://schemas.openxmlformats.org/drawingml/2006/main">
              <a:ext uri="{FF2B5EF4-FFF2-40B4-BE49-F238E27FC236}">
                <a16:creationId xmlns:a16="http://schemas.microsoft.com/office/drawing/2014/main" id="{7421AC70-9FE8-4095-930D-69C3B728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50de5a89e4d8419b"/>
              </a:rPr>
              <a:t>03  Задачи и сценарии</a:t>
            </a:r>
          </a:p>
        </p:txBody>
      </p:sp>
      <p:sp>
        <p:nvSpPr>
          <p:cNvPr id="22" name="Основной путь и ветки с ошибками">
            <a:extLst xmlns:a="http://schemas.openxmlformats.org/drawingml/2006/main">
              <a:ext uri="{FF2B5EF4-FFF2-40B4-BE49-F238E27FC236}">
                <a16:creationId xmlns:a16="http://schemas.microsoft.com/office/drawing/2014/main" id="{E277C7B2-6807-4A97-BE20-6CF59C1C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432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Основной путь и ветки с ошибками</a:t>
            </a:r>
          </a:p>
        </p:txBody>
      </p:sp>
      <p:sp>
        <p:nvSpPr>
          <p:cNvPr id="23" name="04  Функциональные требования">
            <a:extLst xmlns:a="http://schemas.openxmlformats.org/drawingml/2006/main">
              <a:ext uri="{FF2B5EF4-FFF2-40B4-BE49-F238E27FC236}">
                <a16:creationId xmlns:a16="http://schemas.microsoft.com/office/drawing/2014/main" id="{67007A75-3F24-4B4C-88C1-EA356071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51344db8e3bb480b"/>
              </a:rPr>
              <a:t>04  Функциональные требования</a:t>
            </a:r>
          </a:p>
        </p:txBody>
      </p:sp>
      <p:sp>
        <p:nvSpPr>
          <p:cNvPr id="24" name="PF1–15 и нефункциональные PN1–7">
            <a:extLst xmlns:a="http://schemas.openxmlformats.org/drawingml/2006/main">
              <a:ext uri="{FF2B5EF4-FFF2-40B4-BE49-F238E27FC236}">
                <a16:creationId xmlns:a16="http://schemas.microsoft.com/office/drawing/2014/main" id="{0DC16A11-3C4D-4F93-B89E-F7911846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PF1–15 и нефункциональные PN1–7</a:t>
            </a:r>
          </a:p>
        </p:txBody>
      </p:sp>
      <p:sp>
        <p:nvSpPr>
          <p:cNvPr id="25" name="05  Проблема и исследования">
            <a:extLst xmlns:a="http://schemas.openxmlformats.org/drawingml/2006/main">
              <a:ext uri="{FF2B5EF4-FFF2-40B4-BE49-F238E27FC236}">
                <a16:creationId xmlns:a16="http://schemas.microsoft.com/office/drawing/2014/main" id="{E1801E15-A0A4-4564-B3F4-CAECC27A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523fbbb948ff4985"/>
              </a:rPr>
              <a:t>05  Проблема и исследования</a:t>
            </a:r>
          </a:p>
        </p:txBody>
      </p:sp>
      <p:sp>
        <p:nvSpPr>
          <p:cNvPr id="26" name="Основания, ограничения и план кастдева">
            <a:extLst xmlns:a="http://schemas.openxmlformats.org/drawingml/2006/main">
              <a:ext uri="{FF2B5EF4-FFF2-40B4-BE49-F238E27FC236}">
                <a16:creationId xmlns:a16="http://schemas.microsoft.com/office/drawing/2014/main" id="{646E3515-50E7-48AE-BBF3-AF5EFA13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671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Основания, ограничения и план кастдева</a:t>
            </a:r>
          </a:p>
        </p:txBody>
      </p:sp>
      <p:sp>
        <p:nvSpPr>
          <p:cNvPr id="27" name="06  Проверка прототипа">
            <a:extLst xmlns:a="http://schemas.openxmlformats.org/drawingml/2006/main">
              <a:ext uri="{FF2B5EF4-FFF2-40B4-BE49-F238E27FC236}">
                <a16:creationId xmlns:a16="http://schemas.microsoft.com/office/drawing/2014/main" id="{F7C70BBF-C446-4307-B22F-A93B99B1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f7896c532a44402c"/>
              </a:rPr>
              <a:t>06  Проверка прототипа</a:t>
            </a:r>
          </a:p>
        </p:txBody>
      </p:sp>
      <p:sp>
        <p:nvSpPr>
          <p:cNvPr id="28" name="Технические результаты и границы проверки">
            <a:extLst xmlns:a="http://schemas.openxmlformats.org/drawingml/2006/main">
              <a:ext uri="{FF2B5EF4-FFF2-40B4-BE49-F238E27FC236}">
                <a16:creationId xmlns:a16="http://schemas.microsoft.com/office/drawing/2014/main" id="{45C6FE97-1BE6-46CE-B023-F5B82D54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29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Технические результаты и границы проверки</a:t>
            </a:r>
          </a:p>
        </p:txBody>
      </p:sp>
      <p:sp>
        <p:nvSpPr>
          <p:cNvPr id="29" name="07  Лабораторные и исходники">
            <a:extLst xmlns:a="http://schemas.openxmlformats.org/drawingml/2006/main">
              <a:ext uri="{FF2B5EF4-FFF2-40B4-BE49-F238E27FC236}">
                <a16:creationId xmlns:a16="http://schemas.microsoft.com/office/drawing/2014/main" id="{E9A6DA79-5316-4652-A020-E2999177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842ea36f55244624"/>
              </a:rPr>
              <a:t>07  Лабораторные и исходники</a:t>
            </a:r>
          </a:p>
        </p:txBody>
      </p:sp>
      <p:sp>
        <p:nvSpPr>
          <p:cNvPr id="30" name="Лабораторные 4 и 5, документы и код">
            <a:extLst xmlns:a="http://schemas.openxmlformats.org/drawingml/2006/main">
              <a:ext uri="{FF2B5EF4-FFF2-40B4-BE49-F238E27FC236}">
                <a16:creationId xmlns:a16="http://schemas.microsoft.com/office/drawing/2014/main" id="{021A02C5-9041-4751-9842-A9056D3F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911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Лабораторные 4 и 5, документы и код</a:t>
            </a:r>
          </a:p>
        </p:txBody>
      </p:sp>
      <p:sp>
        <p:nvSpPr>
          <p:cNvPr id="31" name="Ссылки открываются по нажатию. В прототипе ис">
            <a:extLst xmlns:a="http://schemas.openxmlformats.org/drawingml/2006/main">
              <a:ext uri="{FF2B5EF4-FFF2-40B4-BE49-F238E27FC236}">
                <a16:creationId xmlns:a16="http://schemas.microsoft.com/office/drawing/2014/main" id="{4B389012-1233-46A8-8965-83CD10A8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721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Ссылки открываются по нажатию. В прототипе используются учебные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20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2026-10-25T15:23:33.8700000Z</dcterms:created>
  <dcterms:modified xsi:type="dcterms:W3CDTF">2026-10-25T15:23:33.8700000Z</dcterms:modified>
</coreProperties>
</file>